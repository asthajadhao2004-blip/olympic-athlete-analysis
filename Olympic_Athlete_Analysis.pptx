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9" r:id="rId4"/>
    <p:sldId id="258" r:id="rId5"/>
    <p:sldId id="260" r:id="rId6"/>
    <p:sldId id="261" r:id="rId7"/>
    <p:sldId id="262" r:id="rId8"/>
    <p:sldId id="263" r:id="rId9"/>
    <p:sldId id="277" r:id="rId10"/>
    <p:sldId id="264" r:id="rId11"/>
    <p:sldId id="292" r:id="rId12"/>
    <p:sldId id="279" r:id="rId13"/>
    <p:sldId id="266" r:id="rId14"/>
    <p:sldId id="281" r:id="rId15"/>
    <p:sldId id="267" r:id="rId16"/>
    <p:sldId id="283" r:id="rId17"/>
    <p:sldId id="268" r:id="rId18"/>
    <p:sldId id="285" r:id="rId19"/>
    <p:sldId id="269" r:id="rId20"/>
    <p:sldId id="287" r:id="rId21"/>
    <p:sldId id="270" r:id="rId22"/>
    <p:sldId id="289" r:id="rId23"/>
    <p:sldId id="271" r:id="rId24"/>
    <p:sldId id="291" r:id="rId25"/>
    <p:sldId id="272" r:id="rId26"/>
    <p:sldId id="273" r:id="rId27"/>
    <p:sldId id="275" r:id="rId28"/>
    <p:sldId id="276" r:id="rId2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309" autoAdjust="0"/>
    <p:restoredTop sz="94610"/>
  </p:normalViewPr>
  <p:slideViewPr>
    <p:cSldViewPr snapToGrid="0" snapToObjects="1">
      <p:cViewPr varScale="1">
        <p:scale>
          <a:sx n="109" d="100"/>
          <a:sy n="109" d="100"/>
        </p:scale>
        <p:origin x="398"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18881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and the team. An EDA of the 120 Years of Olympic History dataset, where each row is one athlete in one event.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purpose: EDA comes before modelling and is what makes any later conclusion trustworthy.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objectives map directly onto the four sections of the notebook.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grain of the data: athlete-event, not athlete. This matters for every count later.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not every blank is missing data. Treating Medal as missing would have destroyed 85% of the dataset.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Median within Sport+Sex preserves realistic body types; a single global average would flatten a gymnast into a shot putter.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Medalist = Medal != 'No Medal'. This boolean flag is what powers the medalist-vs-non-medalist age comparison later.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strongest methodological point in the project: outlier does not mean error.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Largest structural change in the dataset. Point out the 1994 split before anyone asks about the sawtooth.</a:t>
            </a:r>
          </a:p>
          <a:p>
            <a:endParaRPr/>
          </a:p>
          <a:p>
            <a:r>
              <a:t>CODE:</a:t>
            </a:r>
          </a:p>
          <a:p>
            <a:r>
              <a:t># 2. Male vs Female Participation</a:t>
            </a:r>
          </a:p>
          <a:p>
            <a:endParaRPr/>
          </a:p>
          <a:p>
            <a:r>
              <a:t>gender_count = df['Sex'].value_counts()</a:t>
            </a:r>
          </a:p>
          <a:p>
            <a:endParaRPr/>
          </a:p>
          <a:p>
            <a:r>
              <a:t>plt.figure(figsize=(7, 7))</a:t>
            </a:r>
          </a:p>
          <a:p>
            <a:endParaRPr/>
          </a:p>
          <a:p>
            <a:r>
              <a:t>plt.pie(</a:t>
            </a:r>
          </a:p>
          <a:p>
            <a:r>
              <a:t>    gender_count.values,</a:t>
            </a:r>
          </a:p>
          <a:p>
            <a:r>
              <a:t>    labels=gender_count.index,</a:t>
            </a:r>
          </a:p>
          <a:p>
            <a:r>
              <a:t>    autopct='%1.1f%%',</a:t>
            </a:r>
          </a:p>
          <a:p>
            <a:r>
              <a:t>    startangle=90</a:t>
            </a:r>
          </a:p>
          <a:p>
            <a:r>
              <a:t>)</a:t>
            </a:r>
          </a:p>
          <a:p>
            <a:endParaRPr/>
          </a:p>
          <a:p>
            <a:r>
              <a:t>plt.title('Male vs Female Athlete Participation')</a:t>
            </a:r>
          </a:p>
          <a:p>
            <a:endParaRPr/>
          </a:p>
          <a:p>
            <a:r>
              <a:t>plt.show()</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0758B-573A-86A8-382E-6854E3686C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C1CD36-2246-34E8-D863-E9F28DD7E6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2D3012-D09E-DF4A-2BD7-9A4E1CA1FF88}"/>
              </a:ext>
            </a:extLst>
          </p:cNvPr>
          <p:cNvSpPr>
            <a:spLocks noGrp="1"/>
          </p:cNvSpPr>
          <p:nvPr>
            <p:ph type="body" idx="1"/>
          </p:nvPr>
        </p:nvSpPr>
        <p:spPr/>
        <p:txBody>
          <a:bodyPr/>
          <a:lstStyle/>
          <a:p>
            <a:r>
              <a:t>Largest structural change in the dataset. Point out the 1994 split before anyone asks about the sawtooth.</a:t>
            </a:r>
          </a:p>
          <a:p>
            <a:endParaRPr/>
          </a:p>
          <a:p>
            <a:r>
              <a:t>CODE:</a:t>
            </a:r>
          </a:p>
          <a:p>
            <a:r>
              <a:t># 2. Male vs Female Participation</a:t>
            </a:r>
          </a:p>
          <a:p>
            <a:endParaRPr/>
          </a:p>
          <a:p>
            <a:r>
              <a:t>gender_count = df['Sex'].value_counts()</a:t>
            </a:r>
          </a:p>
          <a:p>
            <a:endParaRPr/>
          </a:p>
          <a:p>
            <a:r>
              <a:t>plt.figure(figsize=(7, 7))</a:t>
            </a:r>
          </a:p>
          <a:p>
            <a:endParaRPr/>
          </a:p>
          <a:p>
            <a:r>
              <a:t>plt.pie(</a:t>
            </a:r>
          </a:p>
          <a:p>
            <a:r>
              <a:t>    gender_count.values,</a:t>
            </a:r>
          </a:p>
          <a:p>
            <a:r>
              <a:t>    labels=gender_count.index,</a:t>
            </a:r>
          </a:p>
          <a:p>
            <a:r>
              <a:t>    autopct='%1.1f%%',</a:t>
            </a:r>
          </a:p>
          <a:p>
            <a:r>
              <a:t>    startangle=90</a:t>
            </a:r>
          </a:p>
          <a:p>
            <a:r>
              <a:t>)</a:t>
            </a:r>
          </a:p>
          <a:p>
            <a:endParaRPr/>
          </a:p>
          <a:p>
            <a:r>
              <a:t>plt.title('Male vs Female Athlete Participation')</a:t>
            </a:r>
          </a:p>
          <a:p>
            <a:endParaRPr/>
          </a:p>
          <a:p>
            <a:r>
              <a:t>plt.show()</a:t>
            </a:r>
          </a:p>
        </p:txBody>
      </p:sp>
      <p:sp>
        <p:nvSpPr>
          <p:cNvPr id="4" name="Slide Number Placeholder 3">
            <a:extLst>
              <a:ext uri="{FF2B5EF4-FFF2-40B4-BE49-F238E27FC236}">
                <a16:creationId xmlns:a16="http://schemas.microsoft.com/office/drawing/2014/main" id="{07D5748B-19D8-76AD-A78D-1C7829364285}"/>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2967012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Caveat the count: it is medals awarded per athlete-event, not medal events won.</a:t>
            </a:r>
          </a:p>
          <a:p>
            <a:endParaRPr/>
          </a:p>
          <a:p>
            <a:r>
              <a:t>CODE:</a:t>
            </a:r>
          </a:p>
          <a:p>
            <a:r>
              <a:t>medals_only = df[df['Medal'] != 'No Medal']</a:t>
            </a:r>
          </a:p>
          <a:p>
            <a:r>
              <a:t>top10_nocs = medals_only.groupby('NOC').size().sort_values(ascending=False).head(10).index.tolist()</a:t>
            </a:r>
          </a:p>
          <a:p>
            <a:endParaRPr/>
          </a:p>
          <a:p>
            <a:r>
              <a:t>breakdown = medals_only[medals_only['NOC'].isin(top10_nocs)].groupby(['NOC','Medal']).size().unstack(fill_value=0)</a:t>
            </a:r>
          </a:p>
          <a:p>
            <a:r>
              <a:t>breakdown = breakdown.reindex(top10_nocs)[['Gold','Silver','Bronze']]</a:t>
            </a:r>
          </a:p>
          <a:p>
            <a:endParaRPr/>
          </a:p>
          <a:p>
            <a:r>
              <a:t>breakdown.plot(kind='bar', figsize=(12,6), color=['gold','silver','#cd7f32'])</a:t>
            </a:r>
          </a:p>
          <a:p>
            <a:r>
              <a:t>plt.title('Top 10 Countries by Medal Count (1896-2016)')</a:t>
            </a:r>
          </a:p>
          <a:p>
            <a:r>
              <a:t>plt.xlabel('Country (NOC)')</a:t>
            </a:r>
          </a:p>
          <a:p>
            <a:r>
              <a:t>plt.ylabel('Medal Count')</a:t>
            </a:r>
          </a:p>
          <a:p>
            <a:r>
              <a:t>plt.xticks(rotation=45)</a:t>
            </a:r>
          </a:p>
          <a:p>
            <a:r>
              <a:t>plt.legend(title='Medal Type')</a:t>
            </a:r>
          </a:p>
          <a:p>
            <a:r>
              <a:t>plt.tight_layout()</a:t>
            </a:r>
          </a:p>
          <a:p>
            <a:r>
              <a:t>plt.show()</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Olympics is overwhelmingly a young adult competition, with narrow but real exceptions.</a:t>
            </a:r>
          </a:p>
          <a:p>
            <a:endParaRPr/>
          </a:p>
          <a:p>
            <a:r>
              <a:t>CODE:</a:t>
            </a:r>
          </a:p>
          <a:p>
            <a:r>
              <a:t>plt.figure(figsize=(10,6))</a:t>
            </a:r>
          </a:p>
          <a:p>
            <a:endParaRPr/>
          </a:p>
          <a:p>
            <a:r>
              <a:t>plt.hist(</a:t>
            </a:r>
          </a:p>
          <a:p>
            <a:r>
              <a:t>    df['Age'],</a:t>
            </a:r>
          </a:p>
          <a:p>
            <a:r>
              <a:t>    bins=40,</a:t>
            </a:r>
          </a:p>
          <a:p>
            <a:r>
              <a:t>    color='steelblue',</a:t>
            </a:r>
          </a:p>
          <a:p>
            <a:r>
              <a:t>    edgecolor='black'</a:t>
            </a:r>
          </a:p>
          <a:p>
            <a:r>
              <a:t>)</a:t>
            </a:r>
          </a:p>
          <a:p>
            <a:endParaRPr/>
          </a:p>
          <a:p>
            <a:r>
              <a:t>plt.axvline(</a:t>
            </a:r>
          </a:p>
          <a:p>
            <a:r>
              <a:t>    df['Age'].median(),</a:t>
            </a:r>
          </a:p>
          <a:p>
            <a:r>
              <a:t>    color='red',</a:t>
            </a:r>
          </a:p>
          <a:p>
            <a:r>
              <a:t>    linestyle='--',</a:t>
            </a:r>
          </a:p>
          <a:p>
            <a:r>
              <a:t>    label=f'Median: {df["Age"].median():.0f}'</a:t>
            </a:r>
          </a:p>
          <a:p>
            <a:r>
              <a:t>)</a:t>
            </a:r>
          </a:p>
          <a:p>
            <a:endParaRPr/>
          </a:p>
          <a:p>
            <a:r>
              <a:t>plt.title('Distribution of Olympic Athlete Ages (1896-2016)')</a:t>
            </a:r>
          </a:p>
          <a:p>
            <a:r>
              <a:t>plt.xlabel('Age')</a:t>
            </a:r>
          </a:p>
          <a:p>
            <a:r>
              <a:t>plt.ylabel('Number of Athlete-Events')</a:t>
            </a:r>
          </a:p>
          <a:p>
            <a:r>
              <a:t>plt.legend()</a:t>
            </a:r>
          </a:p>
          <a:p>
            <a:endParaRPr/>
          </a:p>
          <a:p>
            <a:r>
              <a:t>plt.show()</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Only sports with more than 1,000 records are included, so the averages are stable.</a:t>
            </a:r>
          </a:p>
          <a:p>
            <a:endParaRPr/>
          </a:p>
          <a:p>
            <a:r>
              <a:t>CODE:</a:t>
            </a:r>
          </a:p>
          <a:p>
            <a:r>
              <a:t>sport_counts = df['Sport'].value_counts()</a:t>
            </a:r>
          </a:p>
          <a:p>
            <a:r>
              <a:t>big_sports = sport_counts[sport_counts &gt; 1000].index</a:t>
            </a:r>
          </a:p>
          <a:p>
            <a:endParaRPr/>
          </a:p>
          <a:p>
            <a:r>
              <a:t>avg_height = (</a:t>
            </a:r>
          </a:p>
          <a:p>
            <a:r>
              <a:t>    df[df['Sport'].isin(big_sports)]</a:t>
            </a:r>
          </a:p>
          <a:p>
            <a:r>
              <a:t>    .groupby('Sport')['Height']</a:t>
            </a:r>
          </a:p>
          <a:p>
            <a:r>
              <a:t>    .mean()</a:t>
            </a:r>
          </a:p>
          <a:p>
            <a:r>
              <a:t>    .sort_values()</a:t>
            </a:r>
          </a:p>
          <a:p>
            <a:r>
              <a:t>)</a:t>
            </a:r>
          </a:p>
          <a:p>
            <a:endParaRPr/>
          </a:p>
          <a:p>
            <a:r>
              <a:t>top_bottom = pd.concat([avg_height.head(5), avg_height.tail(5)])</a:t>
            </a:r>
          </a:p>
          <a:p>
            <a:endParaRPr/>
          </a:p>
          <a:p>
            <a:r>
              <a:t>plt.figure(figsize=(10, 7))</a:t>
            </a:r>
          </a:p>
          <a:p>
            <a:r>
              <a:t>plt.barh(top_bottom.index, top_bottom.values)</a:t>
            </a:r>
          </a:p>
          <a:p>
            <a:r>
              <a:t>plt.axvline(</a:t>
            </a:r>
          </a:p>
          <a:p>
            <a:r>
              <a:t>    df['Height'].mean(),</a:t>
            </a:r>
          </a:p>
          <a:p>
            <a:r>
              <a:t>    linestyle='--',</a:t>
            </a:r>
          </a:p>
          <a:p>
            <a:r>
              <a:t>    label=f'Overall Average: {df["Height"].mean():.0f} cm'</a:t>
            </a:r>
          </a:p>
          <a:p>
            <a:r>
              <a:t>)</a:t>
            </a:r>
          </a:p>
          <a:p>
            <a:r>
              <a:t>plt.xlabel('Average Height (cm)')</a:t>
            </a:r>
          </a:p>
          <a:p>
            <a:r>
              <a:t>plt.title('Shortest vs Tallest Average Height by Sport')</a:t>
            </a:r>
          </a:p>
          <a:p>
            <a:r>
              <a:t>plt.legend()</a:t>
            </a:r>
          </a:p>
          <a:p>
            <a:r>
              <a:t>plt.tight_layout()</a:t>
            </a:r>
          </a:p>
          <a:p>
            <a:r>
              <a:t>plt.show()</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1952 gymnastics spike is a one-off expansion of the event programme.</a:t>
            </a:r>
          </a:p>
          <a:p>
            <a:endParaRPr/>
          </a:p>
          <a:p>
            <a:r>
              <a:t>CODE:</a:t>
            </a:r>
          </a:p>
          <a:p>
            <a:r>
              <a:t>top5_sports = df['Sport'].value_counts().head(5).index.tolist()</a:t>
            </a:r>
          </a:p>
          <a:p>
            <a:endParaRPr/>
          </a:p>
          <a:p>
            <a:r>
              <a:t>trend = df[df['Sport'].isin(top5_sports)].groupby(['Year','Sport']).size().unstack(fill_value=0)</a:t>
            </a:r>
          </a:p>
          <a:p>
            <a:r>
              <a:t>trend = trend[top5_sports]</a:t>
            </a:r>
          </a:p>
          <a:p>
            <a:endParaRPr/>
          </a:p>
          <a:p>
            <a:r>
              <a:t>plt.figure(figsize=(12,6))</a:t>
            </a:r>
          </a:p>
          <a:p>
            <a:r>
              <a:t>for sport in top5_sports:</a:t>
            </a:r>
          </a:p>
          <a:p>
            <a:r>
              <a:t>    plt.plot(trend.index, trend[sport], marker='o', markersize=3, label=sport)</a:t>
            </a:r>
          </a:p>
          <a:p>
            <a:r>
              <a:t>plt.title('Participation Trend: Top 5 Sports Over Time')</a:t>
            </a:r>
          </a:p>
          <a:p>
            <a:r>
              <a:t>plt.xlabel('Year')</a:t>
            </a:r>
          </a:p>
          <a:p>
            <a:r>
              <a:t>plt.ylabel('Number of Athlete-Events')</a:t>
            </a:r>
          </a:p>
          <a:p>
            <a:r>
              <a:t>plt.legend()</a:t>
            </a:r>
          </a:p>
          <a:p>
            <a:r>
              <a:t>plt.grid(alpha=0.3)</a:t>
            </a:r>
          </a:p>
          <a:p>
            <a:r>
              <a:t>plt.show()</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Globalisation is the clearest long-run trend in the dataset.</a:t>
            </a:r>
          </a:p>
          <a:p>
            <a:endParaRPr/>
          </a:p>
          <a:p>
            <a:r>
              <a:t>CODE:</a:t>
            </a:r>
          </a:p>
          <a:p>
            <a:r>
              <a:t>yearly_nocs = df.groupby('Year')['NOC'].nunique()</a:t>
            </a:r>
          </a:p>
          <a:p>
            <a:endParaRPr/>
          </a:p>
          <a:p>
            <a:r>
              <a:t>plt.figure(figsize=(12, 6))</a:t>
            </a:r>
          </a:p>
          <a:p>
            <a:r>
              <a:t>sns.lineplot(x=yearly_nocs.index, y=yearly_nocs.values, marker='o')</a:t>
            </a:r>
          </a:p>
          <a:p>
            <a:r>
              <a:t>plt.title('Growth of Olympic Globalization')</a:t>
            </a:r>
          </a:p>
          <a:p>
            <a:r>
              <a:t>plt.xlabel('Year')</a:t>
            </a:r>
          </a:p>
          <a:p>
            <a:r>
              <a:t>plt.ylabel('Number of Participating NOCs')</a:t>
            </a:r>
          </a:p>
          <a:p>
            <a:r>
              <a:t>plt.xticks(rotation=45)</a:t>
            </a:r>
          </a:p>
          <a:p>
            <a:r>
              <a:t>plt.grid(axis='y', linestyle='--', alpha=0.4)</a:t>
            </a:r>
          </a:p>
          <a:p>
            <a:r>
              <a:t>plt.tight_layout()</a:t>
            </a:r>
          </a:p>
          <a:p>
            <a:r>
              <a:t>plt.show()</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deliberate negative result. Showing what does not predict success is as valuable as showing what does.</a:t>
            </a:r>
          </a:p>
          <a:p>
            <a:endParaRPr/>
          </a:p>
          <a:p>
            <a:r>
              <a:t>CODE:</a:t>
            </a:r>
          </a:p>
          <a:p>
            <a:r>
              <a:t>df['Medalist'] = df['Medal'] != 'No Medal'</a:t>
            </a:r>
          </a:p>
          <a:p>
            <a:r>
              <a:t>medalist_age = df[df['Medalist']]['Age']</a:t>
            </a:r>
          </a:p>
          <a:p>
            <a:r>
              <a:t>non_medalist_age = df[~df['Medalist']]['Age']</a:t>
            </a:r>
          </a:p>
          <a:p>
            <a:endParaRPr/>
          </a:p>
          <a:p>
            <a:r>
              <a:t>plt.figure(figsize=(10,6))</a:t>
            </a:r>
          </a:p>
          <a:p>
            <a:r>
              <a:t>plt.hist(non_medalist_age, bins=40, alpha=0.5, label='No Medal', color='gray', density=True)</a:t>
            </a:r>
          </a:p>
          <a:p>
            <a:r>
              <a:t>plt.hist(medalist_age, bins=40, alpha=0.6, label='Medalist', color='gold', density=True)</a:t>
            </a:r>
          </a:p>
          <a:p>
            <a:r>
              <a:t>plt.title('Age Distribution: Medalists vs Non-Medalists')</a:t>
            </a:r>
          </a:p>
          <a:p>
            <a:r>
              <a:t>plt.xlabel('Age')</a:t>
            </a:r>
          </a:p>
          <a:p>
            <a:r>
              <a:t>plt.ylabel('Density (normalized)')</a:t>
            </a:r>
          </a:p>
          <a:p>
            <a:r>
              <a:t>plt.legend()</a:t>
            </a:r>
          </a:p>
          <a:p>
            <a:r>
              <a:t>plt.show()</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Correlation of 0.797 on the cleaned data. Mention that imputation tightens this slightly.</a:t>
            </a:r>
          </a:p>
          <a:p>
            <a:endParaRPr/>
          </a:p>
          <a:p>
            <a:r>
              <a:t>CODE:</a:t>
            </a:r>
          </a:p>
          <a:p>
            <a:r>
              <a:t>correlation = df['Height'].corr(df['Weight'])</a:t>
            </a:r>
          </a:p>
          <a:p>
            <a:r>
              <a:t>print("Correlation:", correlation)</a:t>
            </a:r>
          </a:p>
          <a:p>
            <a:endParaRPr/>
          </a:p>
          <a:p>
            <a:r>
              <a:t>sample = df.sample(2000)</a:t>
            </a:r>
          </a:p>
          <a:p>
            <a:endParaRPr/>
          </a:p>
          <a:p>
            <a:r>
              <a:t>plt.scatter(sample['Height'], sample['Weight'])</a:t>
            </a:r>
          </a:p>
          <a:p>
            <a:r>
              <a:t>plt.title('Height vs Weight')</a:t>
            </a:r>
          </a:p>
          <a:p>
            <a:r>
              <a:t>plt.xlabel('Height (cm)')</a:t>
            </a:r>
          </a:p>
          <a:p>
            <a:r>
              <a:t>plt.ylabel('Weight (kg)')</a:t>
            </a:r>
          </a:p>
          <a:p>
            <a:r>
              <a:t>plt.show()</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analysis section with all eight headline results before the conclusion, matching the notebook's expanded Key Insights section.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method: the care taken with the data is what makes the insights trustworthy.</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and open the floor for questions.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F5F5F6"/>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microsoft.com/office/2007/relationships/hdphoto" Target="../media/hdphoto1.wdp"/></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02920" y="237744"/>
            <a:ext cx="2926080" cy="274320"/>
          </a:xfrm>
          <a:prstGeom prst="rect">
            <a:avLst/>
          </a:prstGeom>
          <a:noFill/>
          <a:ln/>
        </p:spPr>
        <p:txBody>
          <a:bodyPr wrap="square" lIns="0" tIns="0" rIns="0" bIns="0" rtlCol="0" anchor="ctr"/>
          <a:lstStyle/>
          <a:p>
            <a:pPr marL="0" indent="0">
              <a:buNone/>
            </a:pPr>
            <a:r>
              <a:rPr lang="en-US" sz="1050" b="1" dirty="0">
                <a:solidFill>
                  <a:srgbClr val="0A0A0A"/>
                </a:solidFill>
                <a:latin typeface="Arial" pitchFamily="34" charset="0"/>
                <a:ea typeface="Arial" pitchFamily="34" charset="-122"/>
                <a:cs typeface="Arial" pitchFamily="34" charset="-120"/>
              </a:rPr>
              <a:t>Olympic Athlete Analysis</a:t>
            </a:r>
            <a:endParaRPr lang="en-US" sz="1050" dirty="0"/>
          </a:p>
        </p:txBody>
      </p:sp>
      <p:sp>
        <p:nvSpPr>
          <p:cNvPr id="3" name="Text 1"/>
          <p:cNvSpPr txBox="1"/>
          <p:nvPr/>
        </p:nvSpPr>
        <p:spPr>
          <a:xfrm>
            <a:off x="650631" y="1485900"/>
            <a:ext cx="4572000" cy="2194560"/>
          </a:xfrm>
          <a:prstGeom prst="rect">
            <a:avLst/>
          </a:prstGeom>
          <a:noFill/>
          <a:ln/>
        </p:spPr>
        <p:txBody>
          <a:bodyPr wrap="square" lIns="0" tIns="0" rIns="0" bIns="0" rtlCol="0" anchor="ctr"/>
          <a:lstStyle/>
          <a:p>
            <a:pPr marL="0" indent="0">
              <a:lnSpc>
                <a:spcPts val="4400"/>
              </a:lnSpc>
              <a:buNone/>
            </a:pPr>
            <a:r>
              <a:rPr lang="en-US" sz="4400" kern="0" spc="-100" dirty="0">
                <a:solidFill>
                  <a:srgbClr val="0A0A0A"/>
                </a:solidFill>
                <a:latin typeface="Arial Black" pitchFamily="34" charset="0"/>
                <a:ea typeface="Arial Black" pitchFamily="34" charset="-122"/>
                <a:cs typeface="Arial Black" pitchFamily="34" charset="-120"/>
              </a:rPr>
              <a:t>OLYMPIC</a:t>
            </a:r>
            <a:endParaRPr lang="en-US" sz="4400" dirty="0"/>
          </a:p>
          <a:p>
            <a:pPr marL="0" indent="0">
              <a:lnSpc>
                <a:spcPts val="4400"/>
              </a:lnSpc>
              <a:buNone/>
            </a:pPr>
            <a:r>
              <a:rPr lang="en-US" sz="4400" kern="0" spc="-100" dirty="0">
                <a:solidFill>
                  <a:srgbClr val="0A0A0A"/>
                </a:solidFill>
                <a:latin typeface="Arial Black" pitchFamily="34" charset="0"/>
                <a:ea typeface="Arial Black" pitchFamily="34" charset="-122"/>
                <a:cs typeface="Arial Black" pitchFamily="34" charset="-120"/>
              </a:rPr>
              <a:t>ATHLETE</a:t>
            </a:r>
            <a:endParaRPr lang="en-US" sz="4400" dirty="0"/>
          </a:p>
          <a:p>
            <a:pPr marL="0" indent="0">
              <a:lnSpc>
                <a:spcPts val="4400"/>
              </a:lnSpc>
              <a:buNone/>
            </a:pPr>
            <a:r>
              <a:rPr lang="en-US" sz="4400" kern="0" spc="-100" dirty="0">
                <a:solidFill>
                  <a:srgbClr val="0A0A0A"/>
                </a:solidFill>
                <a:latin typeface="Arial Black" pitchFamily="34" charset="0"/>
                <a:ea typeface="Arial Black" pitchFamily="34" charset="-122"/>
                <a:cs typeface="Arial Black" pitchFamily="34" charset="-120"/>
              </a:rPr>
              <a:t>ANALYSIS</a:t>
            </a:r>
            <a:endParaRPr lang="en-US" sz="4400" dirty="0"/>
          </a:p>
        </p:txBody>
      </p:sp>
      <p:pic>
        <p:nvPicPr>
          <p:cNvPr id="6" name="Image 0" descr="photos/t1a.png"/>
          <p:cNvPicPr>
            <a:picLocks noChangeAspect="1"/>
          </p:cNvPicPr>
          <p:nvPr/>
        </p:nvPicPr>
        <p:blipFill>
          <a:blip r:embed="rId3"/>
          <a:stretch>
            <a:fillRect/>
          </a:stretch>
        </p:blipFill>
        <p:spPr>
          <a:xfrm>
            <a:off x="4983480" y="868680"/>
            <a:ext cx="3657600" cy="1783080"/>
          </a:xfrm>
          <a:prstGeom prst="rect">
            <a:avLst/>
          </a:prstGeom>
        </p:spPr>
      </p:pic>
      <p:pic>
        <p:nvPicPr>
          <p:cNvPr id="7" name="Image 1" descr="photos/t1b.png"/>
          <p:cNvPicPr>
            <a:picLocks noChangeAspect="1"/>
          </p:cNvPicPr>
          <p:nvPr/>
        </p:nvPicPr>
        <p:blipFill>
          <a:blip r:embed="rId4"/>
          <a:stretch>
            <a:fillRect/>
          </a:stretch>
        </p:blipFill>
        <p:spPr>
          <a:xfrm>
            <a:off x="4983480" y="2788920"/>
            <a:ext cx="3657600" cy="17830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02920" y="237744"/>
            <a:ext cx="2926080" cy="274320"/>
          </a:xfrm>
          <a:prstGeom prst="rect">
            <a:avLst/>
          </a:prstGeom>
          <a:noFill/>
          <a:ln/>
        </p:spPr>
        <p:txBody>
          <a:bodyPr wrap="square" lIns="0" tIns="0" rIns="0" bIns="0" rtlCol="0" anchor="ctr"/>
          <a:lstStyle/>
          <a:p>
            <a:pPr marL="0" indent="0">
              <a:buNone/>
            </a:pPr>
            <a:r>
              <a:rPr lang="en-US" sz="1050" b="1" dirty="0">
                <a:solidFill>
                  <a:srgbClr val="0A0A0A"/>
                </a:solidFill>
                <a:latin typeface="Arial" pitchFamily="34" charset="0"/>
                <a:ea typeface="Arial" pitchFamily="34" charset="-122"/>
                <a:cs typeface="Arial" pitchFamily="34" charset="-120"/>
              </a:rPr>
              <a:t>Olympic Athlete Analysis</a:t>
            </a:r>
            <a:endParaRPr lang="en-US" sz="1050" dirty="0"/>
          </a:p>
        </p:txBody>
      </p:sp>
      <p:pic>
        <p:nvPicPr>
          <p:cNvPr id="3" name="Image 0" descr="photos/in_big.png"/>
          <p:cNvPicPr>
            <a:picLocks noChangeAspect="1"/>
          </p:cNvPicPr>
          <p:nvPr/>
        </p:nvPicPr>
        <p:blipFill>
          <a:blip r:embed="rId3"/>
          <a:stretch>
            <a:fillRect/>
          </a:stretch>
        </p:blipFill>
        <p:spPr>
          <a:xfrm>
            <a:off x="509954" y="868680"/>
            <a:ext cx="3520440" cy="1874520"/>
          </a:xfrm>
          <a:prstGeom prst="rect">
            <a:avLst/>
          </a:prstGeom>
        </p:spPr>
      </p:pic>
      <p:pic>
        <p:nvPicPr>
          <p:cNvPr id="4" name="Image 1" descr="photos/in_a.png"/>
          <p:cNvPicPr>
            <a:picLocks noChangeAspect="1"/>
          </p:cNvPicPr>
          <p:nvPr/>
        </p:nvPicPr>
        <p:blipFill>
          <a:blip r:embed="rId4"/>
          <a:stretch>
            <a:fillRect/>
          </a:stretch>
        </p:blipFill>
        <p:spPr>
          <a:xfrm>
            <a:off x="502920" y="2880360"/>
            <a:ext cx="1691640" cy="1371600"/>
          </a:xfrm>
          <a:prstGeom prst="rect">
            <a:avLst/>
          </a:prstGeom>
        </p:spPr>
      </p:pic>
      <p:pic>
        <p:nvPicPr>
          <p:cNvPr id="5" name="Image 2" descr="photos/in_b.png"/>
          <p:cNvPicPr>
            <a:picLocks noChangeAspect="1"/>
          </p:cNvPicPr>
          <p:nvPr/>
        </p:nvPicPr>
        <p:blipFill>
          <a:blip r:embed="rId5"/>
          <a:stretch>
            <a:fillRect/>
          </a:stretch>
        </p:blipFill>
        <p:spPr>
          <a:xfrm>
            <a:off x="2331720" y="2880360"/>
            <a:ext cx="1691640" cy="1371600"/>
          </a:xfrm>
          <a:prstGeom prst="rect">
            <a:avLst/>
          </a:prstGeom>
        </p:spPr>
      </p:pic>
      <p:sp>
        <p:nvSpPr>
          <p:cNvPr id="6" name="Text 1"/>
          <p:cNvSpPr txBox="1"/>
          <p:nvPr/>
        </p:nvSpPr>
        <p:spPr>
          <a:xfrm>
            <a:off x="4343400" y="868680"/>
            <a:ext cx="4297680" cy="1188720"/>
          </a:xfrm>
          <a:prstGeom prst="rect">
            <a:avLst/>
          </a:prstGeom>
          <a:noFill/>
          <a:ln/>
        </p:spPr>
        <p:txBody>
          <a:bodyPr wrap="square" lIns="0" tIns="0" rIns="0" bIns="0" rtlCol="0" anchor="t"/>
          <a:lstStyle/>
          <a:p>
            <a:pPr marL="0" indent="0">
              <a:lnSpc>
                <a:spcPts val="3200"/>
              </a:lnSpc>
              <a:buNone/>
            </a:pPr>
            <a:r>
              <a:rPr lang="en-US" sz="3200" kern="0" spc="-50" dirty="0">
                <a:solidFill>
                  <a:srgbClr val="0A0A0A"/>
                </a:solidFill>
                <a:latin typeface="Arial Black" pitchFamily="34" charset="0"/>
                <a:ea typeface="Arial Black" pitchFamily="34" charset="-122"/>
                <a:cs typeface="Arial Black" pitchFamily="34" charset="-120"/>
              </a:rPr>
              <a:t>ABOUT THIS</a:t>
            </a:r>
            <a:endParaRPr lang="en-US" sz="3200" dirty="0"/>
          </a:p>
          <a:p>
            <a:pPr marL="0" indent="0">
              <a:lnSpc>
                <a:spcPts val="3200"/>
              </a:lnSpc>
              <a:buNone/>
            </a:pPr>
            <a:r>
              <a:rPr lang="en-US" sz="3200" kern="0" spc="-50" dirty="0">
                <a:solidFill>
                  <a:srgbClr val="0A0A0A"/>
                </a:solidFill>
                <a:latin typeface="Arial Black" pitchFamily="34" charset="0"/>
                <a:ea typeface="Arial Black" pitchFamily="34" charset="-122"/>
                <a:cs typeface="Arial Black" pitchFamily="34" charset="-120"/>
              </a:rPr>
              <a:t>PROJECT</a:t>
            </a:r>
            <a:endParaRPr lang="en-US" sz="3200" dirty="0"/>
          </a:p>
        </p:txBody>
      </p:sp>
      <p:sp>
        <p:nvSpPr>
          <p:cNvPr id="7" name="Text 2"/>
          <p:cNvSpPr txBox="1"/>
          <p:nvPr/>
        </p:nvSpPr>
        <p:spPr>
          <a:xfrm>
            <a:off x="4343400" y="1965960"/>
            <a:ext cx="4297680" cy="1600200"/>
          </a:xfrm>
          <a:prstGeom prst="rect">
            <a:avLst/>
          </a:prstGeom>
          <a:noFill/>
          <a:ln/>
        </p:spPr>
        <p:txBody>
          <a:bodyPr wrap="square" lIns="0" tIns="0" rIns="0" bIns="0" rtlCol="0" anchor="ctr"/>
          <a:lstStyle/>
          <a:p>
            <a:pPr marL="0" indent="0">
              <a:lnSpc>
                <a:spcPts val="1500"/>
              </a:lnSpc>
              <a:buNone/>
            </a:pPr>
            <a:r>
              <a:rPr lang="en-US" sz="1050" dirty="0">
                <a:solidFill>
                  <a:srgbClr val="5A5A60"/>
                </a:solidFill>
                <a:latin typeface="Arial" pitchFamily="34" charset="0"/>
                <a:ea typeface="Arial" pitchFamily="34" charset="-122"/>
                <a:cs typeface="Arial" pitchFamily="34" charset="-120"/>
              </a:rPr>
              <a:t>An exploratory data analysis of 271,116 athlete records spanning 120 years of Olympic history, from Athens 1896 to Rio 2016.</a:t>
            </a:r>
            <a:endParaRPr lang="en-US" sz="1050" dirty="0"/>
          </a:p>
          <a:p>
            <a:pPr marL="0" indent="0">
              <a:lnSpc>
                <a:spcPts val="1500"/>
              </a:lnSpc>
              <a:buNone/>
            </a:pPr>
            <a:endParaRPr lang="en-US" sz="1050" dirty="0"/>
          </a:p>
          <a:p>
            <a:pPr marL="0" indent="0">
              <a:lnSpc>
                <a:spcPts val="1500"/>
              </a:lnSpc>
              <a:buNone/>
            </a:pPr>
            <a:r>
              <a:rPr lang="en-US" sz="1050" dirty="0">
                <a:solidFill>
                  <a:srgbClr val="5A5A60"/>
                </a:solidFill>
                <a:latin typeface="Arial" pitchFamily="34" charset="0"/>
                <a:ea typeface="Arial" pitchFamily="34" charset="-122"/>
                <a:cs typeface="Arial" pitchFamily="34" charset="-120"/>
              </a:rPr>
              <a:t>Exploratory Data Analysis is the step where a raw dataset is summarised, questioned and visualised before any modelling begins. It is how patterns are uncovered, anomalies are spotted and assumptions are tested.</a:t>
            </a:r>
            <a:endParaRPr lang="en-US" sz="1050" dirty="0"/>
          </a:p>
        </p:txBody>
      </p:sp>
      <p:sp>
        <p:nvSpPr>
          <p:cNvPr id="8" name="Text 3"/>
          <p:cNvSpPr txBox="1"/>
          <p:nvPr/>
        </p:nvSpPr>
        <p:spPr>
          <a:xfrm>
            <a:off x="4343400" y="3611880"/>
            <a:ext cx="4297680" cy="1097280"/>
          </a:xfrm>
          <a:prstGeom prst="rect">
            <a:avLst/>
          </a:prstGeom>
          <a:noFill/>
          <a:ln/>
        </p:spPr>
        <p:txBody>
          <a:bodyPr wrap="square" lIns="0" tIns="0" rIns="0" bIns="0" rtlCol="0" anchor="ctr"/>
          <a:lstStyle/>
          <a:p>
            <a:pPr marL="0" indent="0">
              <a:lnSpc>
                <a:spcPts val="1500"/>
              </a:lnSpc>
              <a:buNone/>
            </a:pPr>
            <a:r>
              <a:rPr lang="en-US" sz="1050" dirty="0">
                <a:solidFill>
                  <a:srgbClr val="5A5A60"/>
                </a:solidFill>
                <a:latin typeface="Arial" pitchFamily="34" charset="0"/>
                <a:ea typeface="Arial" pitchFamily="34" charset="-122"/>
                <a:cs typeface="Arial" pitchFamily="34" charset="-120"/>
              </a:rPr>
              <a:t>This project applies that process to 120 years of Olympic competition: understanding the data, cleaning it with justified decisions, exploring it for patterns, and interpreting what those patterns say about how the Games have changed.</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02920" y="237744"/>
            <a:ext cx="2926080" cy="274320"/>
          </a:xfrm>
          <a:prstGeom prst="rect">
            <a:avLst/>
          </a:prstGeom>
          <a:noFill/>
          <a:ln/>
        </p:spPr>
        <p:txBody>
          <a:bodyPr wrap="square" lIns="0" tIns="0" rIns="0" bIns="0" rtlCol="0" anchor="ctr"/>
          <a:lstStyle/>
          <a:p>
            <a:pPr marL="0" indent="0">
              <a:buNone/>
            </a:pPr>
            <a:r>
              <a:rPr lang="en-US" sz="1050" b="1" dirty="0">
                <a:solidFill>
                  <a:srgbClr val="0A0A0A"/>
                </a:solidFill>
                <a:latin typeface="Arial" pitchFamily="34" charset="0"/>
                <a:ea typeface="Arial" pitchFamily="34" charset="-122"/>
                <a:cs typeface="Arial" pitchFamily="34" charset="-120"/>
              </a:rPr>
              <a:t>Olympic Athlete Analysis</a:t>
            </a:r>
            <a:endParaRPr lang="en-US" sz="1050" dirty="0"/>
          </a:p>
        </p:txBody>
      </p:sp>
      <p:sp>
        <p:nvSpPr>
          <p:cNvPr id="3" name="Text 1"/>
          <p:cNvSpPr txBox="1"/>
          <p:nvPr/>
        </p:nvSpPr>
        <p:spPr>
          <a:xfrm>
            <a:off x="502920" y="822960"/>
            <a:ext cx="3108960" cy="1188720"/>
          </a:xfrm>
          <a:prstGeom prst="rect">
            <a:avLst/>
          </a:prstGeom>
          <a:noFill/>
          <a:ln/>
        </p:spPr>
        <p:txBody>
          <a:bodyPr wrap="square" lIns="0" tIns="0" rIns="0" bIns="0" rtlCol="0" anchor="t"/>
          <a:lstStyle/>
          <a:p>
            <a:pPr marL="0" indent="0">
              <a:lnSpc>
                <a:spcPts val="3200"/>
              </a:lnSpc>
              <a:buNone/>
            </a:pPr>
            <a:r>
              <a:rPr lang="en-US" sz="3200" kern="0" spc="-50" dirty="0">
                <a:solidFill>
                  <a:srgbClr val="0A0A0A"/>
                </a:solidFill>
                <a:latin typeface="Arial Black" pitchFamily="34" charset="0"/>
                <a:ea typeface="Arial Black" pitchFamily="34" charset="-122"/>
                <a:cs typeface="Arial Black" pitchFamily="34" charset="-120"/>
              </a:rPr>
              <a:t>PROJECT</a:t>
            </a:r>
            <a:endParaRPr lang="en-US" sz="3200" dirty="0"/>
          </a:p>
          <a:p>
            <a:pPr marL="0" indent="0">
              <a:lnSpc>
                <a:spcPts val="3200"/>
              </a:lnSpc>
              <a:buNone/>
            </a:pPr>
            <a:r>
              <a:rPr lang="en-US" sz="3200" kern="0" spc="-50" dirty="0">
                <a:solidFill>
                  <a:srgbClr val="0A0A0A"/>
                </a:solidFill>
                <a:latin typeface="Arial Black" pitchFamily="34" charset="0"/>
                <a:ea typeface="Arial Black" pitchFamily="34" charset="-122"/>
                <a:cs typeface="Arial Black" pitchFamily="34" charset="-120"/>
              </a:rPr>
              <a:t>OBJECTIVES</a:t>
            </a:r>
            <a:endParaRPr lang="en-US" sz="3200" dirty="0"/>
          </a:p>
        </p:txBody>
      </p:sp>
      <p:sp>
        <p:nvSpPr>
          <p:cNvPr id="4" name="Text 2"/>
          <p:cNvSpPr txBox="1"/>
          <p:nvPr/>
        </p:nvSpPr>
        <p:spPr>
          <a:xfrm>
            <a:off x="502920" y="2286000"/>
            <a:ext cx="2926080" cy="1188720"/>
          </a:xfrm>
          <a:prstGeom prst="rect">
            <a:avLst/>
          </a:prstGeom>
          <a:noFill/>
          <a:ln/>
        </p:spPr>
        <p:txBody>
          <a:bodyPr wrap="square" lIns="0" tIns="0" rIns="0" bIns="0" rtlCol="0" anchor="ctr"/>
          <a:lstStyle/>
          <a:p>
            <a:pPr marL="0" indent="0">
              <a:lnSpc>
                <a:spcPts val="1500"/>
              </a:lnSpc>
              <a:buNone/>
            </a:pPr>
            <a:r>
              <a:rPr lang="en-US" sz="1050" dirty="0">
                <a:solidFill>
                  <a:srgbClr val="5A5A60"/>
                </a:solidFill>
                <a:latin typeface="Arial" pitchFamily="34" charset="0"/>
                <a:ea typeface="Arial" pitchFamily="34" charset="-122"/>
                <a:cs typeface="Arial" pitchFamily="34" charset="-120"/>
              </a:rPr>
              <a:t>The analysis follows a standard EDA workflow: understand the data, clean it carefully, then explore it for patterns worth reporting.</a:t>
            </a:r>
            <a:endParaRPr lang="en-US" sz="1050" dirty="0"/>
          </a:p>
        </p:txBody>
      </p:sp>
      <p:sp>
        <p:nvSpPr>
          <p:cNvPr id="5" name="Shape 3"/>
          <p:cNvSpPr/>
          <p:nvPr/>
        </p:nvSpPr>
        <p:spPr>
          <a:xfrm>
            <a:off x="3977640" y="960120"/>
            <a:ext cx="475488" cy="475488"/>
          </a:xfrm>
          <a:prstGeom prst="ellipse">
            <a:avLst/>
          </a:prstGeom>
          <a:solidFill>
            <a:srgbClr val="0A0A0A"/>
          </a:solidFill>
          <a:ln w="12700">
            <a:solidFill>
              <a:srgbClr val="0A0A0A"/>
            </a:solidFill>
            <a:prstDash val="solid"/>
          </a:ln>
        </p:spPr>
      </p:sp>
      <p:sp>
        <p:nvSpPr>
          <p:cNvPr id="6" name="Text 4"/>
          <p:cNvSpPr txBox="1"/>
          <p:nvPr/>
        </p:nvSpPr>
        <p:spPr>
          <a:xfrm>
            <a:off x="3977640" y="1078992"/>
            <a:ext cx="475488"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01</a:t>
            </a:r>
            <a:endParaRPr lang="en-US" sz="1100" dirty="0"/>
          </a:p>
        </p:txBody>
      </p:sp>
      <p:sp>
        <p:nvSpPr>
          <p:cNvPr id="7" name="Text 5"/>
          <p:cNvSpPr txBox="1"/>
          <p:nvPr/>
        </p:nvSpPr>
        <p:spPr>
          <a:xfrm>
            <a:off x="4663440" y="932688"/>
            <a:ext cx="3977640" cy="256032"/>
          </a:xfrm>
          <a:prstGeom prst="rect">
            <a:avLst/>
          </a:prstGeom>
          <a:noFill/>
          <a:ln/>
        </p:spPr>
        <p:txBody>
          <a:bodyPr wrap="square" lIns="0" tIns="0" rIns="0" bIns="0" rtlCol="0" anchor="ctr"/>
          <a:lstStyle/>
          <a:p>
            <a:pPr marL="0" indent="0">
              <a:buNone/>
            </a:pPr>
            <a:r>
              <a:rPr lang="en-US" sz="1300" b="1" dirty="0">
                <a:solidFill>
                  <a:srgbClr val="0A0A0A"/>
                </a:solidFill>
                <a:latin typeface="Arial" pitchFamily="34" charset="0"/>
                <a:ea typeface="Arial" pitchFamily="34" charset="-122"/>
                <a:cs typeface="Arial" pitchFamily="34" charset="-120"/>
              </a:rPr>
              <a:t>Understand the data</a:t>
            </a:r>
            <a:endParaRPr lang="en-US" sz="1300" dirty="0"/>
          </a:p>
        </p:txBody>
      </p:sp>
      <p:sp>
        <p:nvSpPr>
          <p:cNvPr id="8" name="Text 6"/>
          <p:cNvSpPr txBox="1"/>
          <p:nvPr/>
        </p:nvSpPr>
        <p:spPr>
          <a:xfrm>
            <a:off x="4663440" y="1207008"/>
            <a:ext cx="3977640" cy="685800"/>
          </a:xfrm>
          <a:prstGeom prst="rect">
            <a:avLst/>
          </a:prstGeom>
          <a:noFill/>
          <a:ln/>
        </p:spPr>
        <p:txBody>
          <a:bodyPr wrap="square" lIns="0" tIns="0" rIns="0" bIns="0" rtlCol="0" anchor="ctr"/>
          <a:lstStyle/>
          <a:p>
            <a:pPr marL="0" indent="0">
              <a:lnSpc>
                <a:spcPts val="1350"/>
              </a:lnSpc>
              <a:buNone/>
            </a:pPr>
            <a:r>
              <a:rPr lang="en-US" sz="1000" dirty="0">
                <a:solidFill>
                  <a:srgbClr val="5A5A60"/>
                </a:solidFill>
                <a:latin typeface="Arial" pitchFamily="34" charset="0"/>
                <a:ea typeface="Arial" pitchFamily="34" charset="-122"/>
                <a:cs typeface="Arial" pitchFamily="34" charset="-120"/>
              </a:rPr>
              <a:t>Establish the structure, grain and scope of all 15 variables before touching anything.</a:t>
            </a:r>
            <a:endParaRPr lang="en-US" sz="1000" dirty="0"/>
          </a:p>
        </p:txBody>
      </p:sp>
      <p:sp>
        <p:nvSpPr>
          <p:cNvPr id="9" name="Shape 7"/>
          <p:cNvSpPr/>
          <p:nvPr/>
        </p:nvSpPr>
        <p:spPr>
          <a:xfrm>
            <a:off x="3977640" y="1947672"/>
            <a:ext cx="475488" cy="475488"/>
          </a:xfrm>
          <a:prstGeom prst="ellipse">
            <a:avLst/>
          </a:prstGeom>
          <a:solidFill>
            <a:srgbClr val="0A0A0A"/>
          </a:solidFill>
          <a:ln w="12700">
            <a:solidFill>
              <a:srgbClr val="0A0A0A"/>
            </a:solidFill>
            <a:prstDash val="solid"/>
          </a:ln>
        </p:spPr>
      </p:sp>
      <p:sp>
        <p:nvSpPr>
          <p:cNvPr id="10" name="Text 8"/>
          <p:cNvSpPr txBox="1"/>
          <p:nvPr/>
        </p:nvSpPr>
        <p:spPr>
          <a:xfrm>
            <a:off x="3977640" y="2066544"/>
            <a:ext cx="475488"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02</a:t>
            </a:r>
            <a:endParaRPr lang="en-US" sz="1100" dirty="0"/>
          </a:p>
        </p:txBody>
      </p:sp>
      <p:sp>
        <p:nvSpPr>
          <p:cNvPr id="11" name="Text 9"/>
          <p:cNvSpPr txBox="1"/>
          <p:nvPr/>
        </p:nvSpPr>
        <p:spPr>
          <a:xfrm>
            <a:off x="4663440" y="1920240"/>
            <a:ext cx="3977640" cy="256032"/>
          </a:xfrm>
          <a:prstGeom prst="rect">
            <a:avLst/>
          </a:prstGeom>
          <a:noFill/>
          <a:ln/>
        </p:spPr>
        <p:txBody>
          <a:bodyPr wrap="square" lIns="0" tIns="0" rIns="0" bIns="0" rtlCol="0" anchor="ctr"/>
          <a:lstStyle/>
          <a:p>
            <a:pPr marL="0" indent="0">
              <a:buNone/>
            </a:pPr>
            <a:r>
              <a:rPr lang="en-US" sz="1300" b="1" dirty="0">
                <a:solidFill>
                  <a:srgbClr val="0A0A0A"/>
                </a:solidFill>
                <a:latin typeface="Arial" pitchFamily="34" charset="0"/>
                <a:ea typeface="Arial" pitchFamily="34" charset="-122"/>
                <a:cs typeface="Arial" pitchFamily="34" charset="-120"/>
              </a:rPr>
              <a:t>Clean and prepare</a:t>
            </a:r>
            <a:endParaRPr lang="en-US" sz="1300" dirty="0"/>
          </a:p>
        </p:txBody>
      </p:sp>
      <p:sp>
        <p:nvSpPr>
          <p:cNvPr id="12" name="Text 10"/>
          <p:cNvSpPr txBox="1"/>
          <p:nvPr/>
        </p:nvSpPr>
        <p:spPr>
          <a:xfrm>
            <a:off x="4663440" y="2194560"/>
            <a:ext cx="3977640" cy="685800"/>
          </a:xfrm>
          <a:prstGeom prst="rect">
            <a:avLst/>
          </a:prstGeom>
          <a:noFill/>
          <a:ln/>
        </p:spPr>
        <p:txBody>
          <a:bodyPr wrap="square" lIns="0" tIns="0" rIns="0" bIns="0" rtlCol="0" anchor="ctr"/>
          <a:lstStyle/>
          <a:p>
            <a:pPr marL="0" indent="0">
              <a:lnSpc>
                <a:spcPts val="1350"/>
              </a:lnSpc>
              <a:buNone/>
            </a:pPr>
            <a:r>
              <a:rPr lang="en-US" sz="1000" dirty="0">
                <a:solidFill>
                  <a:srgbClr val="5A5A60"/>
                </a:solidFill>
                <a:latin typeface="Arial" pitchFamily="34" charset="0"/>
                <a:ea typeface="Arial" pitchFamily="34" charset="-122"/>
                <a:cs typeface="Arial" pitchFamily="34" charset="-120"/>
              </a:rPr>
              <a:t>Resolve duplicates, missing values and outliers with decisions that are justified, not automatic.</a:t>
            </a:r>
            <a:endParaRPr lang="en-US" sz="1000" dirty="0"/>
          </a:p>
        </p:txBody>
      </p:sp>
      <p:sp>
        <p:nvSpPr>
          <p:cNvPr id="13" name="Shape 11"/>
          <p:cNvSpPr/>
          <p:nvPr/>
        </p:nvSpPr>
        <p:spPr>
          <a:xfrm>
            <a:off x="3977640" y="2935224"/>
            <a:ext cx="475488" cy="475488"/>
          </a:xfrm>
          <a:prstGeom prst="ellipse">
            <a:avLst/>
          </a:prstGeom>
          <a:solidFill>
            <a:srgbClr val="0A0A0A"/>
          </a:solidFill>
          <a:ln w="12700">
            <a:solidFill>
              <a:srgbClr val="0A0A0A"/>
            </a:solidFill>
            <a:prstDash val="solid"/>
          </a:ln>
        </p:spPr>
      </p:sp>
      <p:sp>
        <p:nvSpPr>
          <p:cNvPr id="14" name="Text 12"/>
          <p:cNvSpPr txBox="1"/>
          <p:nvPr/>
        </p:nvSpPr>
        <p:spPr>
          <a:xfrm>
            <a:off x="3977640" y="3054096"/>
            <a:ext cx="475488"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03</a:t>
            </a:r>
            <a:endParaRPr lang="en-US" sz="1100" dirty="0"/>
          </a:p>
        </p:txBody>
      </p:sp>
      <p:sp>
        <p:nvSpPr>
          <p:cNvPr id="15" name="Text 13"/>
          <p:cNvSpPr txBox="1"/>
          <p:nvPr/>
        </p:nvSpPr>
        <p:spPr>
          <a:xfrm>
            <a:off x="4663440" y="2907792"/>
            <a:ext cx="3977640" cy="256032"/>
          </a:xfrm>
          <a:prstGeom prst="rect">
            <a:avLst/>
          </a:prstGeom>
          <a:noFill/>
          <a:ln/>
        </p:spPr>
        <p:txBody>
          <a:bodyPr wrap="square" lIns="0" tIns="0" rIns="0" bIns="0" rtlCol="0" anchor="ctr"/>
          <a:lstStyle/>
          <a:p>
            <a:pPr marL="0" indent="0">
              <a:buNone/>
            </a:pPr>
            <a:r>
              <a:rPr lang="en-US" sz="1300" b="1" dirty="0">
                <a:solidFill>
                  <a:srgbClr val="0A0A0A"/>
                </a:solidFill>
                <a:latin typeface="Arial" pitchFamily="34" charset="0"/>
                <a:ea typeface="Arial" pitchFamily="34" charset="-122"/>
                <a:cs typeface="Arial" pitchFamily="34" charset="-120"/>
              </a:rPr>
              <a:t>Explore and visualise</a:t>
            </a:r>
            <a:endParaRPr lang="en-US" sz="1300" dirty="0"/>
          </a:p>
        </p:txBody>
      </p:sp>
      <p:sp>
        <p:nvSpPr>
          <p:cNvPr id="16" name="Text 14"/>
          <p:cNvSpPr txBox="1"/>
          <p:nvPr/>
        </p:nvSpPr>
        <p:spPr>
          <a:xfrm>
            <a:off x="4663440" y="3182112"/>
            <a:ext cx="3977640" cy="685800"/>
          </a:xfrm>
          <a:prstGeom prst="rect">
            <a:avLst/>
          </a:prstGeom>
          <a:noFill/>
          <a:ln/>
        </p:spPr>
        <p:txBody>
          <a:bodyPr wrap="square" lIns="0" tIns="0" rIns="0" bIns="0" rtlCol="0" anchor="ctr"/>
          <a:lstStyle/>
          <a:p>
            <a:pPr marL="0" indent="0">
              <a:lnSpc>
                <a:spcPts val="1350"/>
              </a:lnSpc>
              <a:buNone/>
            </a:pPr>
            <a:r>
              <a:rPr lang="en-US" sz="1000" dirty="0">
                <a:solidFill>
                  <a:srgbClr val="5A5A60"/>
                </a:solidFill>
                <a:latin typeface="Arial" pitchFamily="34" charset="0"/>
                <a:ea typeface="Arial" pitchFamily="34" charset="-122"/>
                <a:cs typeface="Arial" pitchFamily="34" charset="-120"/>
              </a:rPr>
              <a:t>Surface patterns in participation, geography, physique and performance.</a:t>
            </a:r>
            <a:endParaRPr lang="en-US" sz="1000" dirty="0"/>
          </a:p>
        </p:txBody>
      </p:sp>
      <p:sp>
        <p:nvSpPr>
          <p:cNvPr id="17" name="Shape 15"/>
          <p:cNvSpPr/>
          <p:nvPr/>
        </p:nvSpPr>
        <p:spPr>
          <a:xfrm>
            <a:off x="3977640" y="3922776"/>
            <a:ext cx="475488" cy="475488"/>
          </a:xfrm>
          <a:prstGeom prst="ellipse">
            <a:avLst/>
          </a:prstGeom>
          <a:solidFill>
            <a:srgbClr val="0A0A0A"/>
          </a:solidFill>
          <a:ln w="12700">
            <a:solidFill>
              <a:srgbClr val="0A0A0A"/>
            </a:solidFill>
            <a:prstDash val="solid"/>
          </a:ln>
        </p:spPr>
      </p:sp>
      <p:sp>
        <p:nvSpPr>
          <p:cNvPr id="18" name="Text 16"/>
          <p:cNvSpPr txBox="1"/>
          <p:nvPr/>
        </p:nvSpPr>
        <p:spPr>
          <a:xfrm>
            <a:off x="3977640" y="4041648"/>
            <a:ext cx="475488"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04</a:t>
            </a:r>
            <a:endParaRPr lang="en-US" sz="1100" dirty="0"/>
          </a:p>
        </p:txBody>
      </p:sp>
      <p:sp>
        <p:nvSpPr>
          <p:cNvPr id="19" name="Text 17"/>
          <p:cNvSpPr txBox="1"/>
          <p:nvPr/>
        </p:nvSpPr>
        <p:spPr>
          <a:xfrm>
            <a:off x="4663440" y="3895344"/>
            <a:ext cx="3977640" cy="256032"/>
          </a:xfrm>
          <a:prstGeom prst="rect">
            <a:avLst/>
          </a:prstGeom>
          <a:noFill/>
          <a:ln/>
        </p:spPr>
        <p:txBody>
          <a:bodyPr wrap="square" lIns="0" tIns="0" rIns="0" bIns="0" rtlCol="0" anchor="ctr"/>
          <a:lstStyle/>
          <a:p>
            <a:pPr marL="0" indent="0">
              <a:buNone/>
            </a:pPr>
            <a:r>
              <a:rPr lang="en-US" sz="1300" b="1" dirty="0">
                <a:solidFill>
                  <a:srgbClr val="0A0A0A"/>
                </a:solidFill>
                <a:latin typeface="Arial" pitchFamily="34" charset="0"/>
                <a:ea typeface="Arial" pitchFamily="34" charset="-122"/>
                <a:cs typeface="Arial" pitchFamily="34" charset="-120"/>
              </a:rPr>
              <a:t>Interpret the findings</a:t>
            </a:r>
            <a:endParaRPr lang="en-US" sz="1300" dirty="0"/>
          </a:p>
        </p:txBody>
      </p:sp>
      <p:sp>
        <p:nvSpPr>
          <p:cNvPr id="20" name="Text 18"/>
          <p:cNvSpPr txBox="1"/>
          <p:nvPr/>
        </p:nvSpPr>
        <p:spPr>
          <a:xfrm>
            <a:off x="4663440" y="4169664"/>
            <a:ext cx="3977640" cy="685800"/>
          </a:xfrm>
          <a:prstGeom prst="rect">
            <a:avLst/>
          </a:prstGeom>
          <a:noFill/>
          <a:ln/>
        </p:spPr>
        <p:txBody>
          <a:bodyPr wrap="square" lIns="0" tIns="0" rIns="0" bIns="0" rtlCol="0" anchor="ctr"/>
          <a:lstStyle/>
          <a:p>
            <a:pPr marL="0" indent="0">
              <a:lnSpc>
                <a:spcPts val="1350"/>
              </a:lnSpc>
              <a:buNone/>
            </a:pPr>
            <a:r>
              <a:rPr lang="en-US" sz="1000" dirty="0">
                <a:solidFill>
                  <a:srgbClr val="5A5A60"/>
                </a:solidFill>
                <a:latin typeface="Arial" pitchFamily="34" charset="0"/>
                <a:ea typeface="Arial" pitchFamily="34" charset="-122"/>
                <a:cs typeface="Arial" pitchFamily="34" charset="-120"/>
              </a:rPr>
              <a:t>Translate each chart into a clear, defensible insight about Olympic history.</a:t>
            </a:r>
            <a:endParaRPr lang="en-US" sz="1000" dirty="0"/>
          </a:p>
        </p:txBody>
      </p:sp>
      <p:pic>
        <p:nvPicPr>
          <p:cNvPr id="21" name="Image 0" descr="photos/obj.png"/>
          <p:cNvPicPr>
            <a:picLocks noChangeAspect="1"/>
          </p:cNvPicPr>
          <p:nvPr/>
        </p:nvPicPr>
        <p:blipFill>
          <a:blip r:embed="rId3"/>
          <a:stretch>
            <a:fillRect/>
          </a:stretch>
        </p:blipFill>
        <p:spPr>
          <a:xfrm>
            <a:off x="502920" y="3246120"/>
            <a:ext cx="2926080" cy="13258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02920" y="237744"/>
            <a:ext cx="2926080" cy="274320"/>
          </a:xfrm>
          <a:prstGeom prst="rect">
            <a:avLst/>
          </a:prstGeom>
          <a:noFill/>
          <a:ln/>
        </p:spPr>
        <p:txBody>
          <a:bodyPr wrap="square" lIns="0" tIns="0" rIns="0" bIns="0" rtlCol="0" anchor="ctr"/>
          <a:lstStyle/>
          <a:p>
            <a:pPr marL="0" indent="0">
              <a:buNone/>
            </a:pPr>
            <a:r>
              <a:rPr lang="en-US" sz="1050" b="1" dirty="0">
                <a:solidFill>
                  <a:srgbClr val="0A0A0A"/>
                </a:solidFill>
                <a:latin typeface="Arial" pitchFamily="34" charset="0"/>
                <a:ea typeface="Arial" pitchFamily="34" charset="-122"/>
                <a:cs typeface="Arial" pitchFamily="34" charset="-120"/>
              </a:rPr>
              <a:t>Olympic Athlete Analysis</a:t>
            </a:r>
            <a:endParaRPr lang="en-US" sz="1050" dirty="0"/>
          </a:p>
        </p:txBody>
      </p:sp>
      <p:sp>
        <p:nvSpPr>
          <p:cNvPr id="3" name="Text 1"/>
          <p:cNvSpPr txBox="1"/>
          <p:nvPr/>
        </p:nvSpPr>
        <p:spPr>
          <a:xfrm>
            <a:off x="502920" y="822960"/>
            <a:ext cx="3291840" cy="1188720"/>
          </a:xfrm>
          <a:prstGeom prst="rect">
            <a:avLst/>
          </a:prstGeom>
          <a:noFill/>
          <a:ln/>
        </p:spPr>
        <p:txBody>
          <a:bodyPr wrap="square" lIns="0" tIns="0" rIns="0" bIns="0" rtlCol="0" anchor="t"/>
          <a:lstStyle/>
          <a:p>
            <a:pPr marL="0" indent="0">
              <a:lnSpc>
                <a:spcPts val="3200"/>
              </a:lnSpc>
              <a:buNone/>
            </a:pPr>
            <a:r>
              <a:rPr lang="en-US" sz="3200" kern="0" spc="-50" dirty="0">
                <a:solidFill>
                  <a:srgbClr val="0A0A0A"/>
                </a:solidFill>
                <a:latin typeface="Arial Black" pitchFamily="34" charset="0"/>
                <a:ea typeface="Arial Black" pitchFamily="34" charset="-122"/>
                <a:cs typeface="Arial Black" pitchFamily="34" charset="-120"/>
              </a:rPr>
              <a:t>ABOUT THE</a:t>
            </a:r>
            <a:endParaRPr lang="en-US" sz="3200" dirty="0"/>
          </a:p>
          <a:p>
            <a:pPr marL="0" indent="0">
              <a:lnSpc>
                <a:spcPts val="3200"/>
              </a:lnSpc>
              <a:buNone/>
            </a:pPr>
            <a:r>
              <a:rPr lang="en-US" sz="3200" kern="0" spc="-50" dirty="0">
                <a:solidFill>
                  <a:srgbClr val="0A0A0A"/>
                </a:solidFill>
                <a:latin typeface="Arial Black" pitchFamily="34" charset="0"/>
                <a:ea typeface="Arial Black" pitchFamily="34" charset="-122"/>
                <a:cs typeface="Arial Black" pitchFamily="34" charset="-120"/>
              </a:rPr>
              <a:t>DATASET</a:t>
            </a:r>
            <a:endParaRPr lang="en-US" sz="3200" dirty="0"/>
          </a:p>
        </p:txBody>
      </p:sp>
      <p:sp>
        <p:nvSpPr>
          <p:cNvPr id="4" name="Text 2"/>
          <p:cNvSpPr txBox="1"/>
          <p:nvPr/>
        </p:nvSpPr>
        <p:spPr>
          <a:xfrm>
            <a:off x="502920" y="2240280"/>
            <a:ext cx="3108960" cy="1051560"/>
          </a:xfrm>
          <a:prstGeom prst="rect">
            <a:avLst/>
          </a:prstGeom>
          <a:noFill/>
          <a:ln/>
        </p:spPr>
        <p:txBody>
          <a:bodyPr wrap="square" lIns="0" tIns="0" rIns="0" bIns="0" rtlCol="0" anchor="ctr"/>
          <a:lstStyle/>
          <a:p>
            <a:pPr marL="0" indent="0">
              <a:lnSpc>
                <a:spcPts val="1500"/>
              </a:lnSpc>
              <a:buNone/>
            </a:pPr>
            <a:r>
              <a:rPr lang="en-US" sz="1050" dirty="0">
                <a:solidFill>
                  <a:srgbClr val="5A5A60"/>
                </a:solidFill>
                <a:latin typeface="Arial" pitchFamily="34" charset="0"/>
                <a:ea typeface="Arial" pitchFamily="34" charset="-122"/>
                <a:cs typeface="Arial" pitchFamily="34" charset="-120"/>
              </a:rPr>
              <a:t>Each row represents one athlete competing in one event, recording their age, height, weight, nationality, sport and medal outcome across every Games from 1896 to 2016.</a:t>
            </a:r>
            <a:endParaRPr lang="en-US" sz="1050" dirty="0"/>
          </a:p>
        </p:txBody>
      </p:sp>
      <p:sp>
        <p:nvSpPr>
          <p:cNvPr id="5" name="Shape 3"/>
          <p:cNvSpPr/>
          <p:nvPr/>
        </p:nvSpPr>
        <p:spPr>
          <a:xfrm>
            <a:off x="3931920" y="1417320"/>
            <a:ext cx="1463040" cy="2423160"/>
          </a:xfrm>
          <a:prstGeom prst="roundRect">
            <a:avLst>
              <a:gd name="adj" fmla="val 10000"/>
            </a:avLst>
          </a:prstGeom>
          <a:solidFill>
            <a:srgbClr val="0A0A0A"/>
          </a:solidFill>
          <a:ln w="12700">
            <a:solidFill>
              <a:srgbClr val="0A0A0A"/>
            </a:solidFill>
            <a:prstDash val="solid"/>
          </a:ln>
        </p:spPr>
      </p:sp>
      <p:sp>
        <p:nvSpPr>
          <p:cNvPr id="6" name="Text 4"/>
          <p:cNvSpPr txBox="1"/>
          <p:nvPr/>
        </p:nvSpPr>
        <p:spPr>
          <a:xfrm>
            <a:off x="4133088" y="1618488"/>
            <a:ext cx="1060704" cy="292608"/>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15 Columns</a:t>
            </a:r>
            <a:endParaRPr lang="en-US" sz="1150" dirty="0"/>
          </a:p>
        </p:txBody>
      </p:sp>
      <p:sp>
        <p:nvSpPr>
          <p:cNvPr id="7" name="Text 5"/>
          <p:cNvSpPr txBox="1"/>
          <p:nvPr/>
        </p:nvSpPr>
        <p:spPr>
          <a:xfrm>
            <a:off x="4133088" y="1984248"/>
            <a:ext cx="1060704" cy="1655064"/>
          </a:xfrm>
          <a:prstGeom prst="rect">
            <a:avLst/>
          </a:prstGeom>
          <a:noFill/>
          <a:ln/>
        </p:spPr>
        <p:txBody>
          <a:bodyPr wrap="square" lIns="0" tIns="0" rIns="0" bIns="0" rtlCol="0" anchor="ctr"/>
          <a:lstStyle/>
          <a:p>
            <a:pPr marL="0" indent="0" algn="ctr">
              <a:lnSpc>
                <a:spcPts val="1400"/>
              </a:lnSpc>
              <a:buNone/>
            </a:pPr>
            <a:r>
              <a:rPr lang="en-US" sz="900" dirty="0">
                <a:solidFill>
                  <a:srgbClr val="DCDCE0"/>
                </a:solidFill>
                <a:latin typeface="Arial" pitchFamily="34" charset="0"/>
                <a:ea typeface="Arial" pitchFamily="34" charset="-122"/>
                <a:cs typeface="Arial" pitchFamily="34" charset="-120"/>
              </a:rPr>
              <a:t>ID, Name, Sex, Age, Height, Weight, Team, NOC, Games, Year, Season, City, Sport, Event, Medal.</a:t>
            </a:r>
            <a:endParaRPr lang="en-US" sz="900" dirty="0"/>
          </a:p>
        </p:txBody>
      </p:sp>
      <p:sp>
        <p:nvSpPr>
          <p:cNvPr id="8" name="Shape 6"/>
          <p:cNvSpPr/>
          <p:nvPr/>
        </p:nvSpPr>
        <p:spPr>
          <a:xfrm>
            <a:off x="5532120" y="1417320"/>
            <a:ext cx="1463040" cy="2423160"/>
          </a:xfrm>
          <a:prstGeom prst="roundRect">
            <a:avLst>
              <a:gd name="adj" fmla="val 10000"/>
            </a:avLst>
          </a:prstGeom>
          <a:solidFill>
            <a:srgbClr val="0A0A0A"/>
          </a:solidFill>
          <a:ln w="12700">
            <a:solidFill>
              <a:srgbClr val="0A0A0A"/>
            </a:solidFill>
            <a:prstDash val="solid"/>
          </a:ln>
        </p:spPr>
      </p:sp>
      <p:sp>
        <p:nvSpPr>
          <p:cNvPr id="9" name="Text 7"/>
          <p:cNvSpPr txBox="1"/>
          <p:nvPr/>
        </p:nvSpPr>
        <p:spPr>
          <a:xfrm>
            <a:off x="5733288" y="1618488"/>
            <a:ext cx="1060704" cy="292608"/>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135,571 Athletes</a:t>
            </a:r>
            <a:endParaRPr lang="en-US" sz="1150" dirty="0"/>
          </a:p>
        </p:txBody>
      </p:sp>
      <p:sp>
        <p:nvSpPr>
          <p:cNvPr id="10" name="Text 8"/>
          <p:cNvSpPr txBox="1"/>
          <p:nvPr/>
        </p:nvSpPr>
        <p:spPr>
          <a:xfrm>
            <a:off x="5733288" y="1984248"/>
            <a:ext cx="1060704" cy="1655064"/>
          </a:xfrm>
          <a:prstGeom prst="rect">
            <a:avLst/>
          </a:prstGeom>
          <a:noFill/>
          <a:ln/>
        </p:spPr>
        <p:txBody>
          <a:bodyPr wrap="square" lIns="0" tIns="0" rIns="0" bIns="0" rtlCol="0" anchor="ctr"/>
          <a:lstStyle/>
          <a:p>
            <a:pPr marL="0" indent="0" algn="ctr">
              <a:lnSpc>
                <a:spcPts val="1400"/>
              </a:lnSpc>
              <a:buNone/>
            </a:pPr>
            <a:r>
              <a:rPr lang="en-US" sz="900" dirty="0">
                <a:solidFill>
                  <a:srgbClr val="DCDCE0"/>
                </a:solidFill>
                <a:latin typeface="Arial" pitchFamily="34" charset="0"/>
                <a:ea typeface="Arial" pitchFamily="34" charset="-122"/>
                <a:cs typeface="Arial" pitchFamily="34" charset="-120"/>
              </a:rPr>
              <a:t>Unique competitors. A repeated ID is expected, not an error, since one athlete enters many events.</a:t>
            </a:r>
            <a:endParaRPr lang="en-US" sz="900" dirty="0"/>
          </a:p>
        </p:txBody>
      </p:sp>
      <p:sp>
        <p:nvSpPr>
          <p:cNvPr id="11" name="Shape 9"/>
          <p:cNvSpPr/>
          <p:nvPr/>
        </p:nvSpPr>
        <p:spPr>
          <a:xfrm>
            <a:off x="7132320" y="1417320"/>
            <a:ext cx="1463040" cy="2423160"/>
          </a:xfrm>
          <a:prstGeom prst="roundRect">
            <a:avLst>
              <a:gd name="adj" fmla="val 10000"/>
            </a:avLst>
          </a:prstGeom>
          <a:solidFill>
            <a:srgbClr val="0A0A0A"/>
          </a:solidFill>
          <a:ln w="12700">
            <a:solidFill>
              <a:srgbClr val="0A0A0A"/>
            </a:solidFill>
            <a:prstDash val="solid"/>
          </a:ln>
        </p:spPr>
      </p:sp>
      <p:sp>
        <p:nvSpPr>
          <p:cNvPr id="12" name="Text 10"/>
          <p:cNvSpPr txBox="1"/>
          <p:nvPr/>
        </p:nvSpPr>
        <p:spPr>
          <a:xfrm>
            <a:off x="7333488" y="1618488"/>
            <a:ext cx="1060704" cy="292608"/>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Two Seasons</a:t>
            </a:r>
            <a:endParaRPr lang="en-US" sz="1150" dirty="0"/>
          </a:p>
        </p:txBody>
      </p:sp>
      <p:sp>
        <p:nvSpPr>
          <p:cNvPr id="13" name="Text 11"/>
          <p:cNvSpPr txBox="1"/>
          <p:nvPr/>
        </p:nvSpPr>
        <p:spPr>
          <a:xfrm>
            <a:off x="7333488" y="1984248"/>
            <a:ext cx="1060704" cy="1655064"/>
          </a:xfrm>
          <a:prstGeom prst="rect">
            <a:avLst/>
          </a:prstGeom>
          <a:noFill/>
          <a:ln/>
        </p:spPr>
        <p:txBody>
          <a:bodyPr wrap="square" lIns="0" tIns="0" rIns="0" bIns="0" rtlCol="0" anchor="ctr"/>
          <a:lstStyle/>
          <a:p>
            <a:pPr marL="0" indent="0" algn="ctr">
              <a:lnSpc>
                <a:spcPts val="1400"/>
              </a:lnSpc>
              <a:buNone/>
            </a:pPr>
            <a:r>
              <a:rPr lang="en-US" sz="900" dirty="0">
                <a:solidFill>
                  <a:srgbClr val="DCDCE0"/>
                </a:solidFill>
                <a:latin typeface="Arial" pitchFamily="34" charset="0"/>
                <a:ea typeface="Arial" pitchFamily="34" charset="-122"/>
                <a:cs typeface="Arial" pitchFamily="34" charset="-120"/>
              </a:rPr>
              <a:t>Summer and Winter Games, held together until 1992 and on a staggered cycle from 1994 onward.</a:t>
            </a:r>
            <a:endParaRPr lang="en-US" sz="900" dirty="0"/>
          </a:p>
        </p:txBody>
      </p:sp>
      <p:pic>
        <p:nvPicPr>
          <p:cNvPr id="14" name="Image 0" descr="photos/ds.png"/>
          <p:cNvPicPr>
            <a:picLocks noChangeAspect="1"/>
          </p:cNvPicPr>
          <p:nvPr/>
        </p:nvPicPr>
        <p:blipFill>
          <a:blip r:embed="rId3"/>
          <a:stretch>
            <a:fillRect/>
          </a:stretch>
        </p:blipFill>
        <p:spPr>
          <a:xfrm>
            <a:off x="502920" y="3520440"/>
            <a:ext cx="2926080" cy="1143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02920" y="237744"/>
            <a:ext cx="2926080" cy="274320"/>
          </a:xfrm>
          <a:prstGeom prst="rect">
            <a:avLst/>
          </a:prstGeom>
          <a:noFill/>
          <a:ln/>
        </p:spPr>
        <p:txBody>
          <a:bodyPr wrap="square" lIns="0" tIns="0" rIns="0" bIns="0" rtlCol="0" anchor="ctr"/>
          <a:lstStyle/>
          <a:p>
            <a:pPr marL="0" indent="0">
              <a:buNone/>
            </a:pPr>
            <a:r>
              <a:rPr lang="en-US" sz="1050" b="1" dirty="0">
                <a:solidFill>
                  <a:srgbClr val="0A0A0A"/>
                </a:solidFill>
                <a:latin typeface="Arial" pitchFamily="34" charset="0"/>
                <a:ea typeface="Arial" pitchFamily="34" charset="-122"/>
                <a:cs typeface="Arial" pitchFamily="34" charset="-120"/>
              </a:rPr>
              <a:t>Olympic Athlete Analysis</a:t>
            </a:r>
            <a:endParaRPr lang="en-US" sz="1050" dirty="0"/>
          </a:p>
        </p:txBody>
      </p:sp>
      <p:sp>
        <p:nvSpPr>
          <p:cNvPr id="3" name="Text 1"/>
          <p:cNvSpPr txBox="1"/>
          <p:nvPr/>
        </p:nvSpPr>
        <p:spPr>
          <a:xfrm>
            <a:off x="502920" y="822960"/>
            <a:ext cx="3246120" cy="1188720"/>
          </a:xfrm>
          <a:prstGeom prst="rect">
            <a:avLst/>
          </a:prstGeom>
          <a:noFill/>
          <a:ln/>
        </p:spPr>
        <p:txBody>
          <a:bodyPr wrap="square" lIns="0" tIns="0" rIns="0" bIns="0" rtlCol="0" anchor="t"/>
          <a:lstStyle/>
          <a:p>
            <a:pPr marL="0" indent="0">
              <a:lnSpc>
                <a:spcPts val="2900"/>
              </a:lnSpc>
              <a:buNone/>
            </a:pPr>
            <a:r>
              <a:rPr lang="en-US" sz="2900" kern="0" spc="-50" dirty="0">
                <a:solidFill>
                  <a:srgbClr val="0A0A0A"/>
                </a:solidFill>
                <a:latin typeface="Arial Black" pitchFamily="34" charset="0"/>
                <a:ea typeface="Arial Black" pitchFamily="34" charset="-122"/>
                <a:cs typeface="Arial Black" pitchFamily="34" charset="-120"/>
              </a:rPr>
              <a:t>DATA QUALITY</a:t>
            </a:r>
            <a:endParaRPr lang="en-US" sz="2900" dirty="0"/>
          </a:p>
          <a:p>
            <a:pPr marL="0" indent="0">
              <a:lnSpc>
                <a:spcPts val="2900"/>
              </a:lnSpc>
              <a:buNone/>
            </a:pPr>
            <a:r>
              <a:rPr lang="en-US" sz="2900" kern="0" spc="-50" dirty="0">
                <a:solidFill>
                  <a:srgbClr val="0A0A0A"/>
                </a:solidFill>
                <a:latin typeface="Arial Black" pitchFamily="34" charset="0"/>
                <a:ea typeface="Arial Black" pitchFamily="34" charset="-122"/>
                <a:cs typeface="Arial Black" pitchFamily="34" charset="-120"/>
              </a:rPr>
              <a:t>CHECK</a:t>
            </a:r>
            <a:endParaRPr lang="en-US" sz="2900" dirty="0"/>
          </a:p>
        </p:txBody>
      </p:sp>
      <p:sp>
        <p:nvSpPr>
          <p:cNvPr id="4" name="Text 2"/>
          <p:cNvSpPr txBox="1"/>
          <p:nvPr/>
        </p:nvSpPr>
        <p:spPr>
          <a:xfrm>
            <a:off x="502920" y="2468880"/>
            <a:ext cx="3108960" cy="2103120"/>
          </a:xfrm>
          <a:prstGeom prst="rect">
            <a:avLst/>
          </a:prstGeom>
          <a:noFill/>
          <a:ln/>
        </p:spPr>
        <p:txBody>
          <a:bodyPr wrap="square" lIns="0" tIns="0" rIns="0" bIns="0" rtlCol="0" anchor="ctr"/>
          <a:lstStyle/>
          <a:p>
            <a:pPr marL="0" indent="0">
              <a:lnSpc>
                <a:spcPts val="1500"/>
              </a:lnSpc>
              <a:buNone/>
            </a:pPr>
            <a:r>
              <a:rPr lang="en-US" sz="1050" dirty="0">
                <a:solidFill>
                  <a:srgbClr val="5A5A60"/>
                </a:solidFill>
                <a:latin typeface="Arial" pitchFamily="34" charset="0"/>
                <a:ea typeface="Arial" pitchFamily="34" charset="-122"/>
                <a:cs typeface="Arial" pitchFamily="34" charset="-120"/>
              </a:rPr>
              <a:t>Age, Height and Weight carry real gaps of 3.5%, 22.2% and 23.2%. The Medal column is different: a blank simply means the athlete did not win, so it is a meaningful value rather than a defect and must not be dropped.</a:t>
            </a:r>
            <a:endParaRPr lang="en-US" sz="1050" dirty="0"/>
          </a:p>
        </p:txBody>
      </p:sp>
      <p:sp>
        <p:nvSpPr>
          <p:cNvPr id="5" name="Text 3"/>
          <p:cNvSpPr txBox="1"/>
          <p:nvPr/>
        </p:nvSpPr>
        <p:spPr>
          <a:xfrm>
            <a:off x="502920" y="1965960"/>
            <a:ext cx="3108960" cy="411480"/>
          </a:xfrm>
          <a:prstGeom prst="rect">
            <a:avLst/>
          </a:prstGeom>
          <a:noFill/>
          <a:ln/>
        </p:spPr>
        <p:txBody>
          <a:bodyPr wrap="square" lIns="0" tIns="0" rIns="0" bIns="0" rtlCol="0" anchor="ctr"/>
          <a:lstStyle/>
          <a:p>
            <a:pPr marL="0" indent="0">
              <a:buNone/>
            </a:pPr>
            <a:r>
              <a:rPr lang="en-US" sz="1900" dirty="0">
                <a:solidFill>
                  <a:srgbClr val="C8A45C"/>
                </a:solidFill>
                <a:latin typeface="Arial Black" pitchFamily="34" charset="0"/>
                <a:ea typeface="Arial Black" pitchFamily="34" charset="-122"/>
                <a:cs typeface="Arial Black" pitchFamily="34" charset="-120"/>
              </a:rPr>
              <a:t>85.3% of Medal values blank</a:t>
            </a:r>
            <a:endParaRPr lang="en-US" sz="1900" dirty="0"/>
          </a:p>
        </p:txBody>
      </p:sp>
      <p:pic>
        <p:nvPicPr>
          <p:cNvPr id="6" name="Image 0" descr="charts/missing.png"/>
          <p:cNvPicPr>
            <a:picLocks noChangeAspect="1"/>
          </p:cNvPicPr>
          <p:nvPr/>
        </p:nvPicPr>
        <p:blipFill>
          <a:blip r:embed="rId3"/>
          <a:stretch>
            <a:fillRect/>
          </a:stretch>
        </p:blipFill>
        <p:spPr>
          <a:xfrm>
            <a:off x="3703320" y="1391502"/>
            <a:ext cx="4937760" cy="252051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right)">
                                      <p:cBhvr>
                                        <p:cTn id="7" dur="7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02920" y="237744"/>
            <a:ext cx="2926080" cy="274320"/>
          </a:xfrm>
          <a:prstGeom prst="rect">
            <a:avLst/>
          </a:prstGeom>
          <a:noFill/>
          <a:ln/>
        </p:spPr>
        <p:txBody>
          <a:bodyPr wrap="square" lIns="0" tIns="0" rIns="0" bIns="0" rtlCol="0" anchor="ctr"/>
          <a:lstStyle/>
          <a:p>
            <a:pPr marL="0" indent="0">
              <a:buNone/>
            </a:pPr>
            <a:r>
              <a:rPr lang="en-US" sz="1050" b="1" dirty="0">
                <a:solidFill>
                  <a:srgbClr val="0A0A0A"/>
                </a:solidFill>
                <a:latin typeface="Arial" pitchFamily="34" charset="0"/>
                <a:ea typeface="Arial" pitchFamily="34" charset="-122"/>
                <a:cs typeface="Arial" pitchFamily="34" charset="-120"/>
              </a:rPr>
              <a:t>Olympic Athlete Analysis</a:t>
            </a:r>
            <a:endParaRPr lang="en-US" sz="1050" dirty="0"/>
          </a:p>
        </p:txBody>
      </p:sp>
      <p:sp>
        <p:nvSpPr>
          <p:cNvPr id="3" name="Text 1"/>
          <p:cNvSpPr txBox="1"/>
          <p:nvPr/>
        </p:nvSpPr>
        <p:spPr>
          <a:xfrm>
            <a:off x="502920" y="822960"/>
            <a:ext cx="3108960" cy="1188720"/>
          </a:xfrm>
          <a:prstGeom prst="rect">
            <a:avLst/>
          </a:prstGeom>
          <a:noFill/>
          <a:ln/>
        </p:spPr>
        <p:txBody>
          <a:bodyPr wrap="square" lIns="0" tIns="0" rIns="0" bIns="0" rtlCol="0" anchor="t"/>
          <a:lstStyle/>
          <a:p>
            <a:pPr marL="0" indent="0">
              <a:lnSpc>
                <a:spcPts val="3200"/>
              </a:lnSpc>
              <a:buNone/>
            </a:pPr>
            <a:r>
              <a:rPr lang="en-US" sz="3200" kern="0" spc="-50" dirty="0">
                <a:solidFill>
                  <a:srgbClr val="0A0A0A"/>
                </a:solidFill>
                <a:latin typeface="Arial Black" pitchFamily="34" charset="0"/>
                <a:ea typeface="Arial Black" pitchFamily="34" charset="-122"/>
                <a:cs typeface="Arial Black" pitchFamily="34" charset="-120"/>
              </a:rPr>
              <a:t>CLEANING THE</a:t>
            </a:r>
            <a:endParaRPr lang="en-US" sz="3200" dirty="0"/>
          </a:p>
          <a:p>
            <a:pPr marL="0" indent="0">
              <a:lnSpc>
                <a:spcPts val="3200"/>
              </a:lnSpc>
              <a:buNone/>
            </a:pPr>
            <a:r>
              <a:rPr lang="en-US" sz="3200" kern="0" spc="-50" dirty="0">
                <a:solidFill>
                  <a:srgbClr val="0A0A0A"/>
                </a:solidFill>
                <a:latin typeface="Arial Black" pitchFamily="34" charset="0"/>
                <a:ea typeface="Arial Black" pitchFamily="34" charset="-122"/>
                <a:cs typeface="Arial Black" pitchFamily="34" charset="-120"/>
              </a:rPr>
              <a:t>DATA</a:t>
            </a:r>
            <a:endParaRPr lang="en-US" sz="3200" dirty="0"/>
          </a:p>
        </p:txBody>
      </p:sp>
      <p:sp>
        <p:nvSpPr>
          <p:cNvPr id="4" name="Text 2"/>
          <p:cNvSpPr txBox="1"/>
          <p:nvPr/>
        </p:nvSpPr>
        <p:spPr>
          <a:xfrm>
            <a:off x="502920" y="2286000"/>
            <a:ext cx="2926080" cy="1097280"/>
          </a:xfrm>
          <a:prstGeom prst="rect">
            <a:avLst/>
          </a:prstGeom>
          <a:noFill/>
          <a:ln/>
        </p:spPr>
        <p:txBody>
          <a:bodyPr wrap="square" lIns="0" tIns="0" rIns="0" bIns="0" rtlCol="0" anchor="ctr"/>
          <a:lstStyle/>
          <a:p>
            <a:pPr marL="0" indent="0">
              <a:lnSpc>
                <a:spcPts val="1500"/>
              </a:lnSpc>
              <a:buNone/>
            </a:pPr>
            <a:r>
              <a:rPr lang="en-US" sz="1050" dirty="0">
                <a:solidFill>
                  <a:srgbClr val="5A5A60"/>
                </a:solidFill>
                <a:latin typeface="Arial" pitchFamily="34" charset="0"/>
                <a:ea typeface="Arial" pitchFamily="34" charset="-122"/>
                <a:cs typeface="Arial" pitchFamily="34" charset="-120"/>
              </a:rPr>
              <a:t>Every cleaning decision was investigated first and applied only where it genuinely improved the data.</a:t>
            </a:r>
            <a:endParaRPr lang="en-US" sz="1050" dirty="0"/>
          </a:p>
        </p:txBody>
      </p:sp>
      <p:pic>
        <p:nvPicPr>
          <p:cNvPr id="5" name="Image 0" descr="photos/clean.png"/>
          <p:cNvPicPr>
            <a:picLocks noChangeAspect="1"/>
          </p:cNvPicPr>
          <p:nvPr/>
        </p:nvPicPr>
        <p:blipFill>
          <a:blip r:embed="rId3"/>
          <a:stretch>
            <a:fillRect/>
          </a:stretch>
        </p:blipFill>
        <p:spPr>
          <a:xfrm>
            <a:off x="502920" y="3566160"/>
            <a:ext cx="2926080" cy="1143000"/>
          </a:xfrm>
          <a:prstGeom prst="rect">
            <a:avLst/>
          </a:prstGeom>
        </p:spPr>
      </p:pic>
      <p:sp>
        <p:nvSpPr>
          <p:cNvPr id="6" name="Text 3"/>
          <p:cNvSpPr txBox="1"/>
          <p:nvPr/>
        </p:nvSpPr>
        <p:spPr>
          <a:xfrm>
            <a:off x="502920" y="3108960"/>
            <a:ext cx="3017520" cy="365760"/>
          </a:xfrm>
          <a:prstGeom prst="rect">
            <a:avLst/>
          </a:prstGeom>
          <a:noFill/>
          <a:ln/>
        </p:spPr>
        <p:txBody>
          <a:bodyPr wrap="square" lIns="0" tIns="0" rIns="0" bIns="0" rtlCol="0" anchor="ctr"/>
          <a:lstStyle/>
          <a:p>
            <a:pPr marL="0" indent="0">
              <a:buNone/>
            </a:pPr>
            <a:r>
              <a:rPr lang="en-US" sz="1600" dirty="0">
                <a:solidFill>
                  <a:srgbClr val="C8A45C"/>
                </a:solidFill>
                <a:latin typeface="Arial Black" pitchFamily="34" charset="0"/>
                <a:ea typeface="Arial Black" pitchFamily="34" charset="-122"/>
                <a:cs typeface="Arial Black" pitchFamily="34" charset="-120"/>
              </a:rPr>
              <a:t>271,116  →  269,731 rows</a:t>
            </a:r>
            <a:endParaRPr lang="en-US" sz="1600" dirty="0"/>
          </a:p>
        </p:txBody>
      </p:sp>
      <p:sp>
        <p:nvSpPr>
          <p:cNvPr id="7" name="Shape 4"/>
          <p:cNvSpPr/>
          <p:nvPr/>
        </p:nvSpPr>
        <p:spPr>
          <a:xfrm>
            <a:off x="3977640" y="960120"/>
            <a:ext cx="475488" cy="475488"/>
          </a:xfrm>
          <a:prstGeom prst="ellipse">
            <a:avLst/>
          </a:prstGeom>
          <a:solidFill>
            <a:srgbClr val="0A0A0A"/>
          </a:solidFill>
          <a:ln w="12700">
            <a:solidFill>
              <a:srgbClr val="0A0A0A"/>
            </a:solidFill>
            <a:prstDash val="solid"/>
          </a:ln>
        </p:spPr>
      </p:sp>
      <p:sp>
        <p:nvSpPr>
          <p:cNvPr id="8" name="Text 5"/>
          <p:cNvSpPr txBox="1"/>
          <p:nvPr/>
        </p:nvSpPr>
        <p:spPr>
          <a:xfrm>
            <a:off x="3977640" y="1078992"/>
            <a:ext cx="475488"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01</a:t>
            </a:r>
            <a:endParaRPr lang="en-US" sz="1100" dirty="0"/>
          </a:p>
        </p:txBody>
      </p:sp>
      <p:sp>
        <p:nvSpPr>
          <p:cNvPr id="9" name="Text 6"/>
          <p:cNvSpPr txBox="1"/>
          <p:nvPr/>
        </p:nvSpPr>
        <p:spPr>
          <a:xfrm>
            <a:off x="4663440" y="932688"/>
            <a:ext cx="3977640" cy="256032"/>
          </a:xfrm>
          <a:prstGeom prst="rect">
            <a:avLst/>
          </a:prstGeom>
          <a:noFill/>
          <a:ln/>
        </p:spPr>
        <p:txBody>
          <a:bodyPr wrap="square" lIns="0" tIns="0" rIns="0" bIns="0" rtlCol="0" anchor="ctr"/>
          <a:lstStyle/>
          <a:p>
            <a:pPr marL="0" indent="0">
              <a:buNone/>
            </a:pPr>
            <a:r>
              <a:rPr lang="en-US" sz="1300" b="1" dirty="0">
                <a:solidFill>
                  <a:srgbClr val="0A0A0A"/>
                </a:solidFill>
                <a:latin typeface="Arial" pitchFamily="34" charset="0"/>
                <a:ea typeface="Arial" pitchFamily="34" charset="-122"/>
                <a:cs typeface="Arial" pitchFamily="34" charset="-120"/>
              </a:rPr>
              <a:t>Removed exact duplicates</a:t>
            </a:r>
            <a:endParaRPr lang="en-US" sz="1300" dirty="0"/>
          </a:p>
        </p:txBody>
      </p:sp>
      <p:sp>
        <p:nvSpPr>
          <p:cNvPr id="10" name="Text 7"/>
          <p:cNvSpPr txBox="1"/>
          <p:nvPr/>
        </p:nvSpPr>
        <p:spPr>
          <a:xfrm>
            <a:off x="4663440" y="1207008"/>
            <a:ext cx="3977640" cy="685800"/>
          </a:xfrm>
          <a:prstGeom prst="rect">
            <a:avLst/>
          </a:prstGeom>
          <a:noFill/>
          <a:ln/>
        </p:spPr>
        <p:txBody>
          <a:bodyPr wrap="square" lIns="0" tIns="0" rIns="0" bIns="0" rtlCol="0" anchor="ctr"/>
          <a:lstStyle/>
          <a:p>
            <a:pPr marL="0" indent="0">
              <a:lnSpc>
                <a:spcPts val="1350"/>
              </a:lnSpc>
              <a:buNone/>
            </a:pPr>
            <a:r>
              <a:rPr lang="en-US" sz="1000" dirty="0">
                <a:solidFill>
                  <a:srgbClr val="5A5A60"/>
                </a:solidFill>
                <a:latin typeface="Arial" pitchFamily="34" charset="0"/>
                <a:ea typeface="Arial" pitchFamily="34" charset="-122"/>
                <a:cs typeface="Arial" pitchFamily="34" charset="-120"/>
              </a:rPr>
              <a:t>1,385 fully identical rows dropped, leaving 269,731 records for analysis.</a:t>
            </a:r>
            <a:endParaRPr lang="en-US" sz="1000" dirty="0"/>
          </a:p>
        </p:txBody>
      </p:sp>
      <p:sp>
        <p:nvSpPr>
          <p:cNvPr id="11" name="Shape 8"/>
          <p:cNvSpPr/>
          <p:nvPr/>
        </p:nvSpPr>
        <p:spPr>
          <a:xfrm>
            <a:off x="3977640" y="1947672"/>
            <a:ext cx="475488" cy="475488"/>
          </a:xfrm>
          <a:prstGeom prst="ellipse">
            <a:avLst/>
          </a:prstGeom>
          <a:solidFill>
            <a:srgbClr val="0A0A0A"/>
          </a:solidFill>
          <a:ln w="12700">
            <a:solidFill>
              <a:srgbClr val="0A0A0A"/>
            </a:solidFill>
            <a:prstDash val="solid"/>
          </a:ln>
        </p:spPr>
      </p:sp>
      <p:sp>
        <p:nvSpPr>
          <p:cNvPr id="12" name="Text 9"/>
          <p:cNvSpPr txBox="1"/>
          <p:nvPr/>
        </p:nvSpPr>
        <p:spPr>
          <a:xfrm>
            <a:off x="3977640" y="2066544"/>
            <a:ext cx="475488"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02</a:t>
            </a:r>
            <a:endParaRPr lang="en-US" sz="1100" dirty="0"/>
          </a:p>
        </p:txBody>
      </p:sp>
      <p:sp>
        <p:nvSpPr>
          <p:cNvPr id="13" name="Text 10"/>
          <p:cNvSpPr txBox="1"/>
          <p:nvPr/>
        </p:nvSpPr>
        <p:spPr>
          <a:xfrm>
            <a:off x="4663440" y="1920240"/>
            <a:ext cx="3977640" cy="256032"/>
          </a:xfrm>
          <a:prstGeom prst="rect">
            <a:avLst/>
          </a:prstGeom>
          <a:noFill/>
          <a:ln/>
        </p:spPr>
        <p:txBody>
          <a:bodyPr wrap="square" lIns="0" tIns="0" rIns="0" bIns="0" rtlCol="0" anchor="ctr"/>
          <a:lstStyle/>
          <a:p>
            <a:pPr marL="0" indent="0">
              <a:buNone/>
            </a:pPr>
            <a:r>
              <a:rPr lang="en-US" sz="1300" b="1" dirty="0">
                <a:solidFill>
                  <a:srgbClr val="0A0A0A"/>
                </a:solidFill>
                <a:latin typeface="Arial" pitchFamily="34" charset="0"/>
                <a:ea typeface="Arial" pitchFamily="34" charset="-122"/>
                <a:cs typeface="Arial" pitchFamily="34" charset="-120"/>
              </a:rPr>
              <a:t>Kept repeated athlete IDs</a:t>
            </a:r>
            <a:endParaRPr lang="en-US" sz="1300" dirty="0"/>
          </a:p>
        </p:txBody>
      </p:sp>
      <p:sp>
        <p:nvSpPr>
          <p:cNvPr id="14" name="Text 11"/>
          <p:cNvSpPr txBox="1"/>
          <p:nvPr/>
        </p:nvSpPr>
        <p:spPr>
          <a:xfrm>
            <a:off x="4663440" y="2194560"/>
            <a:ext cx="3977640" cy="685800"/>
          </a:xfrm>
          <a:prstGeom prst="rect">
            <a:avLst/>
          </a:prstGeom>
          <a:noFill/>
          <a:ln/>
        </p:spPr>
        <p:txBody>
          <a:bodyPr wrap="square" lIns="0" tIns="0" rIns="0" bIns="0" rtlCol="0" anchor="ctr"/>
          <a:lstStyle/>
          <a:p>
            <a:pPr marL="0" indent="0">
              <a:lnSpc>
                <a:spcPts val="1350"/>
              </a:lnSpc>
              <a:buNone/>
            </a:pPr>
            <a:r>
              <a:rPr lang="en-US" sz="1000" dirty="0">
                <a:solidFill>
                  <a:srgbClr val="5A5A60"/>
                </a:solidFill>
                <a:latin typeface="Arial" pitchFamily="34" charset="0"/>
                <a:ea typeface="Arial" pitchFamily="34" charset="-122"/>
                <a:cs typeface="Arial" pitchFamily="34" charset="-120"/>
              </a:rPr>
              <a:t>A swimmer in five races appears five times by design, so these rows were retained.</a:t>
            </a:r>
            <a:endParaRPr lang="en-US" sz="1000" dirty="0"/>
          </a:p>
        </p:txBody>
      </p:sp>
      <p:sp>
        <p:nvSpPr>
          <p:cNvPr id="15" name="Shape 12"/>
          <p:cNvSpPr/>
          <p:nvPr/>
        </p:nvSpPr>
        <p:spPr>
          <a:xfrm>
            <a:off x="3977640" y="2935224"/>
            <a:ext cx="475488" cy="475488"/>
          </a:xfrm>
          <a:prstGeom prst="ellipse">
            <a:avLst/>
          </a:prstGeom>
          <a:solidFill>
            <a:srgbClr val="0A0A0A"/>
          </a:solidFill>
          <a:ln w="12700">
            <a:solidFill>
              <a:srgbClr val="0A0A0A"/>
            </a:solidFill>
            <a:prstDash val="solid"/>
          </a:ln>
        </p:spPr>
      </p:sp>
      <p:sp>
        <p:nvSpPr>
          <p:cNvPr id="16" name="Text 13"/>
          <p:cNvSpPr txBox="1"/>
          <p:nvPr/>
        </p:nvSpPr>
        <p:spPr>
          <a:xfrm>
            <a:off x="3977640" y="3054096"/>
            <a:ext cx="475488"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03</a:t>
            </a:r>
            <a:endParaRPr lang="en-US" sz="1100" dirty="0"/>
          </a:p>
        </p:txBody>
      </p:sp>
      <p:sp>
        <p:nvSpPr>
          <p:cNvPr id="17" name="Text 14"/>
          <p:cNvSpPr txBox="1"/>
          <p:nvPr/>
        </p:nvSpPr>
        <p:spPr>
          <a:xfrm>
            <a:off x="4663440" y="2907792"/>
            <a:ext cx="3977640" cy="256032"/>
          </a:xfrm>
          <a:prstGeom prst="rect">
            <a:avLst/>
          </a:prstGeom>
          <a:noFill/>
          <a:ln/>
        </p:spPr>
        <p:txBody>
          <a:bodyPr wrap="square" lIns="0" tIns="0" rIns="0" bIns="0" rtlCol="0" anchor="ctr"/>
          <a:lstStyle/>
          <a:p>
            <a:pPr marL="0" indent="0">
              <a:buNone/>
            </a:pPr>
            <a:r>
              <a:rPr lang="en-US" sz="1300" b="1" dirty="0">
                <a:solidFill>
                  <a:srgbClr val="0A0A0A"/>
                </a:solidFill>
                <a:latin typeface="Arial" pitchFamily="34" charset="0"/>
                <a:ea typeface="Arial" pitchFamily="34" charset="-122"/>
                <a:cs typeface="Arial" pitchFamily="34" charset="-120"/>
              </a:rPr>
              <a:t>Relabelled the Medal column</a:t>
            </a:r>
            <a:endParaRPr lang="en-US" sz="1300" dirty="0"/>
          </a:p>
        </p:txBody>
      </p:sp>
      <p:sp>
        <p:nvSpPr>
          <p:cNvPr id="18" name="Text 15"/>
          <p:cNvSpPr txBox="1"/>
          <p:nvPr/>
        </p:nvSpPr>
        <p:spPr>
          <a:xfrm>
            <a:off x="4663440" y="3182112"/>
            <a:ext cx="3977640" cy="685800"/>
          </a:xfrm>
          <a:prstGeom prst="rect">
            <a:avLst/>
          </a:prstGeom>
          <a:noFill/>
          <a:ln/>
        </p:spPr>
        <p:txBody>
          <a:bodyPr wrap="square" lIns="0" tIns="0" rIns="0" bIns="0" rtlCol="0" anchor="ctr"/>
          <a:lstStyle/>
          <a:p>
            <a:pPr marL="0" indent="0">
              <a:lnSpc>
                <a:spcPts val="1350"/>
              </a:lnSpc>
              <a:buNone/>
            </a:pPr>
            <a:r>
              <a:rPr lang="en-US" sz="1000" dirty="0">
                <a:solidFill>
                  <a:srgbClr val="5A5A60"/>
                </a:solidFill>
                <a:latin typeface="Arial" pitchFamily="34" charset="0"/>
                <a:ea typeface="Arial" pitchFamily="34" charset="-122"/>
                <a:cs typeface="Arial" pitchFamily="34" charset="-120"/>
              </a:rPr>
              <a:t>Blanks became 'No Medal', making non-winners explicit instead of missing.</a:t>
            </a:r>
            <a:endParaRPr lang="en-US" sz="1000" dirty="0"/>
          </a:p>
        </p:txBody>
      </p:sp>
      <p:sp>
        <p:nvSpPr>
          <p:cNvPr id="19" name="Shape 16"/>
          <p:cNvSpPr/>
          <p:nvPr/>
        </p:nvSpPr>
        <p:spPr>
          <a:xfrm>
            <a:off x="3977640" y="3922776"/>
            <a:ext cx="475488" cy="475488"/>
          </a:xfrm>
          <a:prstGeom prst="ellipse">
            <a:avLst/>
          </a:prstGeom>
          <a:solidFill>
            <a:srgbClr val="0A0A0A"/>
          </a:solidFill>
          <a:ln w="12700">
            <a:solidFill>
              <a:srgbClr val="0A0A0A"/>
            </a:solidFill>
            <a:prstDash val="solid"/>
          </a:ln>
        </p:spPr>
      </p:sp>
      <p:sp>
        <p:nvSpPr>
          <p:cNvPr id="20" name="Text 17"/>
          <p:cNvSpPr txBox="1"/>
          <p:nvPr/>
        </p:nvSpPr>
        <p:spPr>
          <a:xfrm>
            <a:off x="3977640" y="4041648"/>
            <a:ext cx="475488"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04</a:t>
            </a:r>
            <a:endParaRPr lang="en-US" sz="1100" dirty="0"/>
          </a:p>
        </p:txBody>
      </p:sp>
      <p:sp>
        <p:nvSpPr>
          <p:cNvPr id="21" name="Text 18"/>
          <p:cNvSpPr txBox="1"/>
          <p:nvPr/>
        </p:nvSpPr>
        <p:spPr>
          <a:xfrm>
            <a:off x="4663440" y="3895344"/>
            <a:ext cx="3977640" cy="256032"/>
          </a:xfrm>
          <a:prstGeom prst="rect">
            <a:avLst/>
          </a:prstGeom>
          <a:noFill/>
          <a:ln/>
        </p:spPr>
        <p:txBody>
          <a:bodyPr wrap="square" lIns="0" tIns="0" rIns="0" bIns="0" rtlCol="0" anchor="ctr"/>
          <a:lstStyle/>
          <a:p>
            <a:pPr marL="0" indent="0">
              <a:buNone/>
            </a:pPr>
            <a:r>
              <a:rPr lang="en-US" sz="1300" b="1" dirty="0">
                <a:solidFill>
                  <a:srgbClr val="0A0A0A"/>
                </a:solidFill>
                <a:latin typeface="Arial" pitchFamily="34" charset="0"/>
                <a:ea typeface="Arial" pitchFamily="34" charset="-122"/>
                <a:cs typeface="Arial" pitchFamily="34" charset="-120"/>
              </a:rPr>
              <a:t>Imputed body measurements</a:t>
            </a:r>
            <a:endParaRPr lang="en-US" sz="1300" dirty="0"/>
          </a:p>
        </p:txBody>
      </p:sp>
      <p:sp>
        <p:nvSpPr>
          <p:cNvPr id="22" name="Text 19"/>
          <p:cNvSpPr txBox="1"/>
          <p:nvPr/>
        </p:nvSpPr>
        <p:spPr>
          <a:xfrm>
            <a:off x="4663440" y="4169664"/>
            <a:ext cx="3977640" cy="685800"/>
          </a:xfrm>
          <a:prstGeom prst="rect">
            <a:avLst/>
          </a:prstGeom>
          <a:noFill/>
          <a:ln/>
        </p:spPr>
        <p:txBody>
          <a:bodyPr wrap="square" lIns="0" tIns="0" rIns="0" bIns="0" rtlCol="0" anchor="ctr"/>
          <a:lstStyle/>
          <a:p>
            <a:pPr marL="0" indent="0">
              <a:lnSpc>
                <a:spcPts val="1350"/>
              </a:lnSpc>
              <a:buNone/>
            </a:pPr>
            <a:r>
              <a:rPr lang="en-US" sz="1000" dirty="0">
                <a:solidFill>
                  <a:srgbClr val="5A5A60"/>
                </a:solidFill>
                <a:latin typeface="Arial" pitchFamily="34" charset="0"/>
                <a:ea typeface="Arial" pitchFamily="34" charset="-122"/>
                <a:cs typeface="Arial" pitchFamily="34" charset="-120"/>
              </a:rPr>
              <a:t>Age, Height and Weight filled with the median of each Sport and Sex group.</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02920" y="237744"/>
            <a:ext cx="2926080" cy="274320"/>
          </a:xfrm>
          <a:prstGeom prst="rect">
            <a:avLst/>
          </a:prstGeom>
          <a:noFill/>
          <a:ln/>
        </p:spPr>
        <p:txBody>
          <a:bodyPr wrap="square" lIns="0" tIns="0" rIns="0" bIns="0" rtlCol="0" anchor="ctr"/>
          <a:lstStyle/>
          <a:p>
            <a:pPr marL="0" indent="0">
              <a:buNone/>
            </a:pPr>
            <a:r>
              <a:rPr lang="en-US" sz="1050" b="1" dirty="0">
                <a:solidFill>
                  <a:srgbClr val="0A0A0A"/>
                </a:solidFill>
                <a:latin typeface="Arial" pitchFamily="34" charset="0"/>
                <a:ea typeface="Arial" pitchFamily="34" charset="-122"/>
                <a:cs typeface="Arial" pitchFamily="34" charset="-120"/>
              </a:rPr>
              <a:t>Olympic Athlete Analysis</a:t>
            </a:r>
            <a:endParaRPr lang="en-US" sz="1050" dirty="0"/>
          </a:p>
        </p:txBody>
      </p:sp>
      <p:sp>
        <p:nvSpPr>
          <p:cNvPr id="3" name="Text 1"/>
          <p:cNvSpPr txBox="1"/>
          <p:nvPr/>
        </p:nvSpPr>
        <p:spPr>
          <a:xfrm>
            <a:off x="502920" y="822960"/>
            <a:ext cx="3108960" cy="1188720"/>
          </a:xfrm>
          <a:prstGeom prst="rect">
            <a:avLst/>
          </a:prstGeom>
          <a:noFill/>
          <a:ln/>
        </p:spPr>
        <p:txBody>
          <a:bodyPr wrap="square" lIns="0" tIns="0" rIns="0" bIns="0" rtlCol="0" anchor="t"/>
          <a:lstStyle/>
          <a:p>
            <a:pPr marL="0" indent="0">
              <a:lnSpc>
                <a:spcPts val="3200"/>
              </a:lnSpc>
              <a:buNone/>
            </a:pPr>
            <a:r>
              <a:rPr lang="en-US" sz="3200" kern="0" spc="-50" dirty="0">
                <a:solidFill>
                  <a:srgbClr val="0A0A0A"/>
                </a:solidFill>
                <a:latin typeface="Arial Black" pitchFamily="34" charset="0"/>
                <a:ea typeface="Arial Black" pitchFamily="34" charset="-122"/>
                <a:cs typeface="Arial Black" pitchFamily="34" charset="-120"/>
              </a:rPr>
              <a:t>FEATURE</a:t>
            </a:r>
            <a:endParaRPr lang="en-US" sz="3200" dirty="0"/>
          </a:p>
          <a:p>
            <a:pPr marL="0" indent="0">
              <a:lnSpc>
                <a:spcPts val="3200"/>
              </a:lnSpc>
              <a:buNone/>
            </a:pPr>
            <a:r>
              <a:rPr lang="en-US" sz="3100" kern="0" spc="-50" dirty="0">
                <a:solidFill>
                  <a:srgbClr val="0A0A0A"/>
                </a:solidFill>
                <a:latin typeface="Arial Black" pitchFamily="34" charset="0"/>
                <a:ea typeface="Arial Black" pitchFamily="34" charset="-122"/>
                <a:cs typeface="Arial Black" pitchFamily="34" charset="-120"/>
              </a:rPr>
              <a:t>ENGINEERING</a:t>
            </a:r>
            <a:endParaRPr lang="en-US" sz="3100" dirty="0"/>
          </a:p>
        </p:txBody>
      </p:sp>
      <p:sp>
        <p:nvSpPr>
          <p:cNvPr id="4" name="Text 2"/>
          <p:cNvSpPr txBox="1"/>
          <p:nvPr/>
        </p:nvSpPr>
        <p:spPr>
          <a:xfrm>
            <a:off x="502920" y="2240280"/>
            <a:ext cx="3017520" cy="1234440"/>
          </a:xfrm>
          <a:prstGeom prst="rect">
            <a:avLst/>
          </a:prstGeom>
          <a:noFill/>
          <a:ln/>
        </p:spPr>
        <p:txBody>
          <a:bodyPr wrap="square" lIns="0" tIns="0" rIns="0" bIns="0" rtlCol="0" anchor="ctr"/>
          <a:lstStyle/>
          <a:p>
            <a:pPr marL="0" indent="0">
              <a:lnSpc>
                <a:spcPts val="1500"/>
              </a:lnSpc>
              <a:buNone/>
            </a:pPr>
            <a:r>
              <a:rPr lang="en-US" sz="1050" dirty="0">
                <a:solidFill>
                  <a:srgbClr val="5A5A60"/>
                </a:solidFill>
                <a:latin typeface="Arial" pitchFamily="34" charset="0"/>
                <a:ea typeface="Arial" pitchFamily="34" charset="-122"/>
                <a:cs typeface="Arial" pitchFamily="34" charset="-120"/>
              </a:rPr>
              <a:t>A derived feature was created from the existing Medal column to support medal-status analysis.</a:t>
            </a:r>
            <a:endParaRPr lang="en-US" sz="1050" dirty="0"/>
          </a:p>
          <a:p>
            <a:pPr marL="0" indent="0">
              <a:lnSpc>
                <a:spcPts val="1500"/>
              </a:lnSpc>
              <a:buNone/>
            </a:pPr>
            <a:r>
              <a:rPr lang="en-US" sz="1050" dirty="0">
                <a:solidFill>
                  <a:srgbClr val="5A5A60"/>
                </a:solidFill>
                <a:latin typeface="Arial" pitchFamily="34" charset="0"/>
                <a:ea typeface="Arial" pitchFamily="34" charset="-122"/>
                <a:cs typeface="Arial" pitchFamily="34" charset="-120"/>
              </a:rPr>
              <a:t>Medal → Medalist</a:t>
            </a:r>
            <a:endParaRPr lang="en-US" sz="1050" dirty="0"/>
          </a:p>
        </p:txBody>
      </p:sp>
      <p:pic>
        <p:nvPicPr>
          <p:cNvPr id="5" name="Image 0" descr="photos/feat.png"/>
          <p:cNvPicPr>
            <a:picLocks noChangeAspect="1"/>
          </p:cNvPicPr>
          <p:nvPr/>
        </p:nvPicPr>
        <p:blipFill>
          <a:blip r:embed="rId3"/>
          <a:stretch>
            <a:fillRect/>
          </a:stretch>
        </p:blipFill>
        <p:spPr>
          <a:xfrm>
            <a:off x="502920" y="3611880"/>
            <a:ext cx="2926080" cy="1143000"/>
          </a:xfrm>
          <a:prstGeom prst="rect">
            <a:avLst/>
          </a:prstGeom>
        </p:spPr>
      </p:pic>
      <p:sp>
        <p:nvSpPr>
          <p:cNvPr id="6" name="Shape 3"/>
          <p:cNvSpPr/>
          <p:nvPr/>
        </p:nvSpPr>
        <p:spPr>
          <a:xfrm>
            <a:off x="3977640" y="960120"/>
            <a:ext cx="475488" cy="475488"/>
          </a:xfrm>
          <a:prstGeom prst="ellipse">
            <a:avLst/>
          </a:prstGeom>
          <a:solidFill>
            <a:srgbClr val="0A0A0A"/>
          </a:solidFill>
          <a:ln w="12700">
            <a:solidFill>
              <a:srgbClr val="0A0A0A"/>
            </a:solidFill>
            <a:prstDash val="solid"/>
          </a:ln>
        </p:spPr>
      </p:sp>
      <p:sp>
        <p:nvSpPr>
          <p:cNvPr id="7" name="Text 4"/>
          <p:cNvSpPr txBox="1"/>
          <p:nvPr/>
        </p:nvSpPr>
        <p:spPr>
          <a:xfrm>
            <a:off x="3977640" y="1078992"/>
            <a:ext cx="475488"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01</a:t>
            </a:r>
            <a:endParaRPr lang="en-US" sz="1100" dirty="0"/>
          </a:p>
        </p:txBody>
      </p:sp>
      <p:sp>
        <p:nvSpPr>
          <p:cNvPr id="8" name="Text 5"/>
          <p:cNvSpPr txBox="1"/>
          <p:nvPr/>
        </p:nvSpPr>
        <p:spPr>
          <a:xfrm>
            <a:off x="4663440" y="932688"/>
            <a:ext cx="3977640" cy="256032"/>
          </a:xfrm>
          <a:prstGeom prst="rect">
            <a:avLst/>
          </a:prstGeom>
          <a:noFill/>
          <a:ln/>
        </p:spPr>
        <p:txBody>
          <a:bodyPr wrap="square" lIns="0" tIns="0" rIns="0" bIns="0" rtlCol="0" anchor="ctr"/>
          <a:lstStyle/>
          <a:p>
            <a:pPr marL="0" indent="0">
              <a:buNone/>
            </a:pPr>
            <a:r>
              <a:rPr lang="en-US" sz="1300" b="1" dirty="0">
                <a:solidFill>
                  <a:srgbClr val="0A0A0A"/>
                </a:solidFill>
                <a:latin typeface="Arial" pitchFamily="34" charset="0"/>
                <a:ea typeface="Arial" pitchFamily="34" charset="-122"/>
                <a:cs typeface="Arial" pitchFamily="34" charset="-120"/>
              </a:rPr>
              <a:t>Original variable</a:t>
            </a:r>
            <a:endParaRPr lang="en-US" sz="1300" dirty="0"/>
          </a:p>
        </p:txBody>
      </p:sp>
      <p:sp>
        <p:nvSpPr>
          <p:cNvPr id="9" name="Text 6"/>
          <p:cNvSpPr txBox="1"/>
          <p:nvPr/>
        </p:nvSpPr>
        <p:spPr>
          <a:xfrm>
            <a:off x="4663440" y="1207008"/>
            <a:ext cx="3977640" cy="685800"/>
          </a:xfrm>
          <a:prstGeom prst="rect">
            <a:avLst/>
          </a:prstGeom>
          <a:noFill/>
          <a:ln/>
        </p:spPr>
        <p:txBody>
          <a:bodyPr wrap="square" lIns="0" tIns="0" rIns="0" bIns="0" rtlCol="0" anchor="ctr"/>
          <a:lstStyle/>
          <a:p>
            <a:pPr marL="0" indent="0">
              <a:lnSpc>
                <a:spcPts val="1350"/>
              </a:lnSpc>
              <a:buNone/>
            </a:pPr>
            <a:r>
              <a:rPr lang="en-US" sz="1000" dirty="0">
                <a:solidFill>
                  <a:srgbClr val="5A5A60"/>
                </a:solidFill>
                <a:latin typeface="Arial" pitchFamily="34" charset="0"/>
                <a:ea typeface="Arial" pitchFamily="34" charset="-122"/>
                <a:cs typeface="Arial" pitchFamily="34" charset="-120"/>
              </a:rPr>
              <a:t>Medal records contain Gold, Silver, Bronze or No Medal.</a:t>
            </a:r>
            <a:endParaRPr lang="en-US" sz="1000" dirty="0"/>
          </a:p>
        </p:txBody>
      </p:sp>
      <p:sp>
        <p:nvSpPr>
          <p:cNvPr id="10" name="Shape 7"/>
          <p:cNvSpPr/>
          <p:nvPr/>
        </p:nvSpPr>
        <p:spPr>
          <a:xfrm>
            <a:off x="3977640" y="1947672"/>
            <a:ext cx="475488" cy="475488"/>
          </a:xfrm>
          <a:prstGeom prst="ellipse">
            <a:avLst/>
          </a:prstGeom>
          <a:solidFill>
            <a:srgbClr val="0A0A0A"/>
          </a:solidFill>
          <a:ln w="12700">
            <a:solidFill>
              <a:srgbClr val="0A0A0A"/>
            </a:solidFill>
            <a:prstDash val="solid"/>
          </a:ln>
        </p:spPr>
      </p:sp>
      <p:sp>
        <p:nvSpPr>
          <p:cNvPr id="11" name="Text 8"/>
          <p:cNvSpPr txBox="1"/>
          <p:nvPr/>
        </p:nvSpPr>
        <p:spPr>
          <a:xfrm>
            <a:off x="3977640" y="2066544"/>
            <a:ext cx="475488"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02</a:t>
            </a:r>
            <a:endParaRPr lang="en-US" sz="1100" dirty="0"/>
          </a:p>
        </p:txBody>
      </p:sp>
      <p:sp>
        <p:nvSpPr>
          <p:cNvPr id="12" name="Text 9"/>
          <p:cNvSpPr txBox="1"/>
          <p:nvPr/>
        </p:nvSpPr>
        <p:spPr>
          <a:xfrm>
            <a:off x="4663440" y="1920240"/>
            <a:ext cx="3977640" cy="256032"/>
          </a:xfrm>
          <a:prstGeom prst="rect">
            <a:avLst/>
          </a:prstGeom>
          <a:noFill/>
          <a:ln/>
        </p:spPr>
        <p:txBody>
          <a:bodyPr wrap="square" lIns="0" tIns="0" rIns="0" bIns="0" rtlCol="0" anchor="ctr"/>
          <a:lstStyle/>
          <a:p>
            <a:pPr marL="0" indent="0">
              <a:buNone/>
            </a:pPr>
            <a:r>
              <a:rPr lang="en-US" sz="1300" b="1" dirty="0">
                <a:solidFill>
                  <a:srgbClr val="0A0A0A"/>
                </a:solidFill>
                <a:latin typeface="Arial" pitchFamily="34" charset="0"/>
                <a:ea typeface="Arial" pitchFamily="34" charset="-122"/>
                <a:cs typeface="Arial" pitchFamily="34" charset="-120"/>
              </a:rPr>
              <a:t>Derived feature</a:t>
            </a:r>
            <a:endParaRPr lang="en-US" sz="1300" dirty="0"/>
          </a:p>
        </p:txBody>
      </p:sp>
      <p:sp>
        <p:nvSpPr>
          <p:cNvPr id="13" name="Text 10"/>
          <p:cNvSpPr txBox="1"/>
          <p:nvPr/>
        </p:nvSpPr>
        <p:spPr>
          <a:xfrm>
            <a:off x="4663440" y="2194560"/>
            <a:ext cx="3977640" cy="685800"/>
          </a:xfrm>
          <a:prstGeom prst="rect">
            <a:avLst/>
          </a:prstGeom>
          <a:noFill/>
          <a:ln/>
        </p:spPr>
        <p:txBody>
          <a:bodyPr wrap="square" lIns="0" tIns="0" rIns="0" bIns="0" rtlCol="0" anchor="ctr"/>
          <a:lstStyle/>
          <a:p>
            <a:pPr marL="0" indent="0">
              <a:lnSpc>
                <a:spcPts val="1350"/>
              </a:lnSpc>
              <a:buNone/>
            </a:pPr>
            <a:r>
              <a:rPr lang="en-US" sz="1000" dirty="0">
                <a:solidFill>
                  <a:srgbClr val="5A5A60"/>
                </a:solidFill>
                <a:latin typeface="Arial" pitchFamily="34" charset="0"/>
                <a:ea typeface="Arial" pitchFamily="34" charset="-122"/>
                <a:cs typeface="Arial" pitchFamily="34" charset="-120"/>
              </a:rPr>
              <a:t>Medalist classifies each record as True or False based on medal status.</a:t>
            </a:r>
            <a:endParaRPr lang="en-US" sz="1000" dirty="0"/>
          </a:p>
        </p:txBody>
      </p:sp>
      <p:sp>
        <p:nvSpPr>
          <p:cNvPr id="14" name="Shape 11"/>
          <p:cNvSpPr/>
          <p:nvPr/>
        </p:nvSpPr>
        <p:spPr>
          <a:xfrm>
            <a:off x="3977640" y="2935224"/>
            <a:ext cx="475488" cy="475488"/>
          </a:xfrm>
          <a:prstGeom prst="ellipse">
            <a:avLst/>
          </a:prstGeom>
          <a:solidFill>
            <a:srgbClr val="0A0A0A"/>
          </a:solidFill>
          <a:ln w="12700">
            <a:solidFill>
              <a:srgbClr val="0A0A0A"/>
            </a:solidFill>
            <a:prstDash val="solid"/>
          </a:ln>
        </p:spPr>
      </p:sp>
      <p:sp>
        <p:nvSpPr>
          <p:cNvPr id="15" name="Text 12"/>
          <p:cNvSpPr txBox="1"/>
          <p:nvPr/>
        </p:nvSpPr>
        <p:spPr>
          <a:xfrm>
            <a:off x="3977640" y="3054096"/>
            <a:ext cx="475488"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03</a:t>
            </a:r>
            <a:endParaRPr lang="en-US" sz="1100" dirty="0"/>
          </a:p>
        </p:txBody>
      </p:sp>
      <p:sp>
        <p:nvSpPr>
          <p:cNvPr id="16" name="Text 13"/>
          <p:cNvSpPr txBox="1"/>
          <p:nvPr/>
        </p:nvSpPr>
        <p:spPr>
          <a:xfrm>
            <a:off x="4663440" y="2907792"/>
            <a:ext cx="3977640" cy="256032"/>
          </a:xfrm>
          <a:prstGeom prst="rect">
            <a:avLst/>
          </a:prstGeom>
          <a:noFill/>
          <a:ln/>
        </p:spPr>
        <p:txBody>
          <a:bodyPr wrap="square" lIns="0" tIns="0" rIns="0" bIns="0" rtlCol="0" anchor="ctr"/>
          <a:lstStyle/>
          <a:p>
            <a:pPr marL="0" indent="0">
              <a:buNone/>
            </a:pPr>
            <a:r>
              <a:rPr lang="en-US" sz="1300" b="1" dirty="0">
                <a:solidFill>
                  <a:srgbClr val="0A0A0A"/>
                </a:solidFill>
                <a:latin typeface="Arial" pitchFamily="34" charset="0"/>
                <a:ea typeface="Arial" pitchFamily="34" charset="-122"/>
                <a:cs typeface="Arial" pitchFamily="34" charset="-120"/>
              </a:rPr>
              <a:t>Purpose</a:t>
            </a:r>
            <a:endParaRPr lang="en-US" sz="1300" dirty="0"/>
          </a:p>
        </p:txBody>
      </p:sp>
      <p:sp>
        <p:nvSpPr>
          <p:cNvPr id="17" name="Text 14"/>
          <p:cNvSpPr txBox="1"/>
          <p:nvPr/>
        </p:nvSpPr>
        <p:spPr>
          <a:xfrm>
            <a:off x="4663440" y="3182112"/>
            <a:ext cx="3977640" cy="685800"/>
          </a:xfrm>
          <a:prstGeom prst="rect">
            <a:avLst/>
          </a:prstGeom>
          <a:noFill/>
          <a:ln/>
        </p:spPr>
        <p:txBody>
          <a:bodyPr wrap="square" lIns="0" tIns="0" rIns="0" bIns="0" rtlCol="0" anchor="ctr"/>
          <a:lstStyle/>
          <a:p>
            <a:pPr marL="0" indent="0">
              <a:lnSpc>
                <a:spcPts val="1350"/>
              </a:lnSpc>
              <a:buNone/>
            </a:pPr>
            <a:r>
              <a:rPr lang="en-US" sz="1000" dirty="0">
                <a:solidFill>
                  <a:srgbClr val="5A5A60"/>
                </a:solidFill>
                <a:latin typeface="Arial" pitchFamily="34" charset="0"/>
                <a:ea typeface="Arial" pitchFamily="34" charset="-122"/>
                <a:cs typeface="Arial" pitchFamily="34" charset="-120"/>
              </a:rPr>
              <a:t>The feature makes medal-status comparisons easier in later EDA.</a:t>
            </a:r>
            <a:endParaRPr lang="en-US" sz="1000" dirty="0"/>
          </a:p>
        </p:txBody>
      </p:sp>
      <p:sp>
        <p:nvSpPr>
          <p:cNvPr id="18" name="Shape 15"/>
          <p:cNvSpPr/>
          <p:nvPr/>
        </p:nvSpPr>
        <p:spPr>
          <a:xfrm>
            <a:off x="3977640" y="3922776"/>
            <a:ext cx="475488" cy="475488"/>
          </a:xfrm>
          <a:prstGeom prst="ellipse">
            <a:avLst/>
          </a:prstGeom>
          <a:solidFill>
            <a:srgbClr val="0A0A0A"/>
          </a:solidFill>
          <a:ln w="12700">
            <a:solidFill>
              <a:srgbClr val="0A0A0A"/>
            </a:solidFill>
            <a:prstDash val="solid"/>
          </a:ln>
        </p:spPr>
      </p:sp>
      <p:sp>
        <p:nvSpPr>
          <p:cNvPr id="19" name="Text 16"/>
          <p:cNvSpPr txBox="1"/>
          <p:nvPr/>
        </p:nvSpPr>
        <p:spPr>
          <a:xfrm>
            <a:off x="3977640" y="4041648"/>
            <a:ext cx="475488"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04</a:t>
            </a:r>
            <a:endParaRPr lang="en-US" sz="1100" dirty="0"/>
          </a:p>
        </p:txBody>
      </p:sp>
      <p:sp>
        <p:nvSpPr>
          <p:cNvPr id="20" name="Text 17"/>
          <p:cNvSpPr txBox="1"/>
          <p:nvPr/>
        </p:nvSpPr>
        <p:spPr>
          <a:xfrm>
            <a:off x="4663440" y="3895344"/>
            <a:ext cx="3977640" cy="256032"/>
          </a:xfrm>
          <a:prstGeom prst="rect">
            <a:avLst/>
          </a:prstGeom>
          <a:noFill/>
          <a:ln/>
        </p:spPr>
        <p:txBody>
          <a:bodyPr wrap="square" lIns="0" tIns="0" rIns="0" bIns="0" rtlCol="0" anchor="ctr"/>
          <a:lstStyle/>
          <a:p>
            <a:pPr marL="0" indent="0">
              <a:buNone/>
            </a:pPr>
            <a:r>
              <a:rPr lang="en-US" sz="1300" b="1" dirty="0">
                <a:solidFill>
                  <a:srgbClr val="0A0A0A"/>
                </a:solidFill>
                <a:latin typeface="Arial" pitchFamily="34" charset="0"/>
                <a:ea typeface="Arial" pitchFamily="34" charset="-122"/>
                <a:cs typeface="Arial" pitchFamily="34" charset="-120"/>
              </a:rPr>
              <a:t>Used in analysis</a:t>
            </a:r>
            <a:endParaRPr lang="en-US" sz="1300" dirty="0"/>
          </a:p>
        </p:txBody>
      </p:sp>
      <p:sp>
        <p:nvSpPr>
          <p:cNvPr id="21" name="Text 18"/>
          <p:cNvSpPr txBox="1"/>
          <p:nvPr/>
        </p:nvSpPr>
        <p:spPr>
          <a:xfrm>
            <a:off x="4663440" y="4169664"/>
            <a:ext cx="3977640" cy="685800"/>
          </a:xfrm>
          <a:prstGeom prst="rect">
            <a:avLst/>
          </a:prstGeom>
          <a:noFill/>
          <a:ln/>
        </p:spPr>
        <p:txBody>
          <a:bodyPr wrap="square" lIns="0" tIns="0" rIns="0" bIns="0" rtlCol="0" anchor="ctr"/>
          <a:lstStyle/>
          <a:p>
            <a:pPr marL="0" indent="0">
              <a:lnSpc>
                <a:spcPts val="1350"/>
              </a:lnSpc>
              <a:buNone/>
            </a:pPr>
            <a:r>
              <a:rPr lang="en-US" sz="1000" dirty="0">
                <a:solidFill>
                  <a:srgbClr val="5A5A60"/>
                </a:solidFill>
                <a:latin typeface="Arial" pitchFamily="34" charset="0"/>
                <a:ea typeface="Arial" pitchFamily="34" charset="-122"/>
                <a:cs typeface="Arial" pitchFamily="34" charset="-120"/>
              </a:rPr>
              <a:t>Medalist was used to compare athlete characteristics by medal status.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02920" y="237744"/>
            <a:ext cx="2926080" cy="274320"/>
          </a:xfrm>
          <a:prstGeom prst="rect">
            <a:avLst/>
          </a:prstGeom>
          <a:noFill/>
          <a:ln/>
        </p:spPr>
        <p:txBody>
          <a:bodyPr wrap="square" lIns="0" tIns="0" rIns="0" bIns="0" rtlCol="0" anchor="ctr"/>
          <a:lstStyle/>
          <a:p>
            <a:pPr marL="0" indent="0">
              <a:buNone/>
            </a:pPr>
            <a:r>
              <a:rPr lang="en-US" sz="1050" b="1" dirty="0">
                <a:solidFill>
                  <a:srgbClr val="0A0A0A"/>
                </a:solidFill>
                <a:latin typeface="Arial" pitchFamily="34" charset="0"/>
                <a:ea typeface="Arial" pitchFamily="34" charset="-122"/>
                <a:cs typeface="Arial" pitchFamily="34" charset="-120"/>
              </a:rPr>
              <a:t>Olympic Athlete Analysis</a:t>
            </a:r>
            <a:endParaRPr lang="en-US" sz="1050" dirty="0"/>
          </a:p>
        </p:txBody>
      </p:sp>
      <p:sp>
        <p:nvSpPr>
          <p:cNvPr id="3" name="Text 1"/>
          <p:cNvSpPr txBox="1"/>
          <p:nvPr/>
        </p:nvSpPr>
        <p:spPr>
          <a:xfrm>
            <a:off x="502920" y="777240"/>
            <a:ext cx="3840480" cy="1188720"/>
          </a:xfrm>
          <a:prstGeom prst="rect">
            <a:avLst/>
          </a:prstGeom>
          <a:noFill/>
          <a:ln/>
        </p:spPr>
        <p:txBody>
          <a:bodyPr wrap="square" lIns="0" tIns="0" rIns="0" bIns="0" rtlCol="0" anchor="t"/>
          <a:lstStyle/>
          <a:p>
            <a:pPr marL="0" indent="0">
              <a:lnSpc>
                <a:spcPts val="3000"/>
              </a:lnSpc>
              <a:buNone/>
            </a:pPr>
            <a:r>
              <a:rPr lang="en-US" sz="3000" kern="0" spc="-50" dirty="0">
                <a:solidFill>
                  <a:srgbClr val="0A0A0A"/>
                </a:solidFill>
                <a:latin typeface="Arial Black" pitchFamily="34" charset="0"/>
                <a:ea typeface="Arial Black" pitchFamily="34" charset="-122"/>
                <a:cs typeface="Arial Black" pitchFamily="34" charset="-120"/>
              </a:rPr>
              <a:t>OUTLIERS WERE</a:t>
            </a:r>
            <a:endParaRPr lang="en-US" sz="3000" dirty="0"/>
          </a:p>
          <a:p>
            <a:pPr marL="0" indent="0">
              <a:lnSpc>
                <a:spcPts val="3000"/>
              </a:lnSpc>
              <a:buNone/>
            </a:pPr>
            <a:r>
              <a:rPr lang="en-US" sz="3000" kern="0" spc="-50" dirty="0">
                <a:solidFill>
                  <a:srgbClr val="0A0A0A"/>
                </a:solidFill>
                <a:latin typeface="Arial Black" pitchFamily="34" charset="0"/>
                <a:ea typeface="Arial Black" pitchFamily="34" charset="-122"/>
                <a:cs typeface="Arial Black" pitchFamily="34" charset="-120"/>
              </a:rPr>
              <a:t>INVESTIGATED,</a:t>
            </a:r>
            <a:endParaRPr lang="en-US" sz="3000" dirty="0"/>
          </a:p>
          <a:p>
            <a:pPr marL="0" indent="0">
              <a:lnSpc>
                <a:spcPts val="3000"/>
              </a:lnSpc>
              <a:buNone/>
            </a:pPr>
            <a:r>
              <a:rPr lang="en-US" sz="3000" kern="0" spc="-50" dirty="0">
                <a:solidFill>
                  <a:srgbClr val="0A0A0A"/>
                </a:solidFill>
                <a:latin typeface="Arial Black" pitchFamily="34" charset="0"/>
                <a:ea typeface="Arial Black" pitchFamily="34" charset="-122"/>
                <a:cs typeface="Arial Black" pitchFamily="34" charset="-120"/>
              </a:rPr>
              <a:t>NOT DELETED</a:t>
            </a:r>
            <a:endParaRPr lang="en-US" sz="3000" dirty="0"/>
          </a:p>
        </p:txBody>
      </p:sp>
      <p:sp>
        <p:nvSpPr>
          <p:cNvPr id="4" name="Text 2"/>
          <p:cNvSpPr txBox="1"/>
          <p:nvPr/>
        </p:nvSpPr>
        <p:spPr>
          <a:xfrm>
            <a:off x="502920" y="2606040"/>
            <a:ext cx="3108960" cy="1097280"/>
          </a:xfrm>
          <a:prstGeom prst="rect">
            <a:avLst/>
          </a:prstGeom>
          <a:noFill/>
          <a:ln/>
        </p:spPr>
        <p:txBody>
          <a:bodyPr wrap="square" lIns="0" tIns="0" rIns="0" bIns="0" rtlCol="0" anchor="ctr"/>
          <a:lstStyle/>
          <a:p>
            <a:pPr marL="0" indent="0">
              <a:lnSpc>
                <a:spcPts val="1500"/>
              </a:lnSpc>
              <a:buNone/>
            </a:pPr>
            <a:r>
              <a:rPr lang="en-US" sz="1050" dirty="0">
                <a:solidFill>
                  <a:srgbClr val="5A5A60"/>
                </a:solidFill>
                <a:latin typeface="Arial" pitchFamily="34" charset="0"/>
                <a:ea typeface="Arial" pitchFamily="34" charset="-122"/>
                <a:cs typeface="Arial" pitchFamily="34" charset="-120"/>
              </a:rPr>
              <a:t>The IQR method flagged extreme values in Age, Height and Weight. Each was traced back to a real competitor, so all were kept.</a:t>
            </a:r>
            <a:endParaRPr lang="en-US" sz="1050" dirty="0"/>
          </a:p>
        </p:txBody>
      </p:sp>
      <p:sp>
        <p:nvSpPr>
          <p:cNvPr id="5" name="Shape 3"/>
          <p:cNvSpPr/>
          <p:nvPr/>
        </p:nvSpPr>
        <p:spPr>
          <a:xfrm>
            <a:off x="3931920" y="1234440"/>
            <a:ext cx="1463040" cy="2651760"/>
          </a:xfrm>
          <a:prstGeom prst="roundRect">
            <a:avLst>
              <a:gd name="adj" fmla="val 10000"/>
            </a:avLst>
          </a:prstGeom>
          <a:solidFill>
            <a:srgbClr val="0A0A0A"/>
          </a:solidFill>
          <a:ln w="12700">
            <a:solidFill>
              <a:srgbClr val="0A0A0A"/>
            </a:solidFill>
            <a:prstDash val="solid"/>
          </a:ln>
        </p:spPr>
      </p:sp>
      <p:sp>
        <p:nvSpPr>
          <p:cNvPr id="6" name="Text 4"/>
          <p:cNvSpPr txBox="1"/>
          <p:nvPr/>
        </p:nvSpPr>
        <p:spPr>
          <a:xfrm>
            <a:off x="4133088" y="1435608"/>
            <a:ext cx="1060704" cy="292608"/>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Age up to 97</a:t>
            </a:r>
            <a:endParaRPr lang="en-US" sz="1150" dirty="0"/>
          </a:p>
        </p:txBody>
      </p:sp>
      <p:sp>
        <p:nvSpPr>
          <p:cNvPr id="7" name="Text 5"/>
          <p:cNvSpPr txBox="1"/>
          <p:nvPr/>
        </p:nvSpPr>
        <p:spPr>
          <a:xfrm>
            <a:off x="4133088" y="1801368"/>
            <a:ext cx="1060704" cy="1883664"/>
          </a:xfrm>
          <a:prstGeom prst="rect">
            <a:avLst/>
          </a:prstGeom>
          <a:noFill/>
          <a:ln/>
        </p:spPr>
        <p:txBody>
          <a:bodyPr wrap="square" lIns="0" tIns="0" rIns="0" bIns="0" rtlCol="0" anchor="ctr"/>
          <a:lstStyle/>
          <a:p>
            <a:pPr marL="0" indent="0" algn="ctr">
              <a:lnSpc>
                <a:spcPts val="1400"/>
              </a:lnSpc>
              <a:buNone/>
            </a:pPr>
            <a:r>
              <a:rPr lang="en-US" sz="900" dirty="0">
                <a:solidFill>
                  <a:srgbClr val="DCDCE0"/>
                </a:solidFill>
                <a:latin typeface="Arial" pitchFamily="34" charset="0"/>
                <a:ea typeface="Arial" pitchFamily="34" charset="-122"/>
                <a:cs typeface="Arial" pitchFamily="34" charset="-120"/>
              </a:rPr>
              <a:t>The oldest entries come from the historical Art Competitions held between 1912 and 1948.</a:t>
            </a:r>
            <a:endParaRPr lang="en-US" sz="900" dirty="0"/>
          </a:p>
        </p:txBody>
      </p:sp>
      <p:sp>
        <p:nvSpPr>
          <p:cNvPr id="8" name="Shape 6"/>
          <p:cNvSpPr/>
          <p:nvPr/>
        </p:nvSpPr>
        <p:spPr>
          <a:xfrm>
            <a:off x="5532120" y="1234440"/>
            <a:ext cx="1463040" cy="2651760"/>
          </a:xfrm>
          <a:prstGeom prst="roundRect">
            <a:avLst>
              <a:gd name="adj" fmla="val 10000"/>
            </a:avLst>
          </a:prstGeom>
          <a:solidFill>
            <a:srgbClr val="0A0A0A"/>
          </a:solidFill>
          <a:ln w="12700">
            <a:solidFill>
              <a:srgbClr val="0A0A0A"/>
            </a:solidFill>
            <a:prstDash val="solid"/>
          </a:ln>
        </p:spPr>
      </p:sp>
      <p:sp>
        <p:nvSpPr>
          <p:cNvPr id="9" name="Text 7"/>
          <p:cNvSpPr txBox="1"/>
          <p:nvPr/>
        </p:nvSpPr>
        <p:spPr>
          <a:xfrm>
            <a:off x="5733288" y="1435608"/>
            <a:ext cx="1060704" cy="292608"/>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Height 226 cm</a:t>
            </a:r>
            <a:endParaRPr lang="en-US" sz="1150" dirty="0"/>
          </a:p>
        </p:txBody>
      </p:sp>
      <p:sp>
        <p:nvSpPr>
          <p:cNvPr id="10" name="Text 8"/>
          <p:cNvSpPr txBox="1"/>
          <p:nvPr/>
        </p:nvSpPr>
        <p:spPr>
          <a:xfrm>
            <a:off x="5733288" y="1801368"/>
            <a:ext cx="1060704" cy="1883664"/>
          </a:xfrm>
          <a:prstGeom prst="rect">
            <a:avLst/>
          </a:prstGeom>
          <a:noFill/>
          <a:ln/>
        </p:spPr>
        <p:txBody>
          <a:bodyPr wrap="square" lIns="0" tIns="0" rIns="0" bIns="0" rtlCol="0" anchor="ctr"/>
          <a:lstStyle/>
          <a:p>
            <a:pPr marL="0" indent="0" algn="ctr">
              <a:lnSpc>
                <a:spcPts val="1400"/>
              </a:lnSpc>
              <a:buNone/>
            </a:pPr>
            <a:r>
              <a:rPr lang="en-US" sz="900" dirty="0">
                <a:solidFill>
                  <a:srgbClr val="DCDCE0"/>
                </a:solidFill>
                <a:latin typeface="Arial" pitchFamily="34" charset="0"/>
                <a:ea typeface="Arial" pitchFamily="34" charset="-122"/>
                <a:cs typeface="Arial" pitchFamily="34" charset="-120"/>
              </a:rPr>
              <a:t>The tallest athlete is Yao Ming, a genuine basketball record rather than a typo.</a:t>
            </a:r>
            <a:endParaRPr lang="en-US" sz="900" dirty="0"/>
          </a:p>
        </p:txBody>
      </p:sp>
      <p:sp>
        <p:nvSpPr>
          <p:cNvPr id="11" name="Shape 9"/>
          <p:cNvSpPr/>
          <p:nvPr/>
        </p:nvSpPr>
        <p:spPr>
          <a:xfrm>
            <a:off x="7132320" y="1234440"/>
            <a:ext cx="1463040" cy="2651760"/>
          </a:xfrm>
          <a:prstGeom prst="roundRect">
            <a:avLst>
              <a:gd name="adj" fmla="val 10000"/>
            </a:avLst>
          </a:prstGeom>
          <a:solidFill>
            <a:srgbClr val="0A0A0A"/>
          </a:solidFill>
          <a:ln w="12700">
            <a:solidFill>
              <a:srgbClr val="0A0A0A"/>
            </a:solidFill>
            <a:prstDash val="solid"/>
          </a:ln>
        </p:spPr>
      </p:sp>
      <p:sp>
        <p:nvSpPr>
          <p:cNvPr id="12" name="Text 10"/>
          <p:cNvSpPr txBox="1"/>
          <p:nvPr/>
        </p:nvSpPr>
        <p:spPr>
          <a:xfrm>
            <a:off x="7333488" y="1435608"/>
            <a:ext cx="1060704" cy="292608"/>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Weight 214 kg</a:t>
            </a:r>
            <a:endParaRPr lang="en-US" sz="1150" dirty="0"/>
          </a:p>
        </p:txBody>
      </p:sp>
      <p:sp>
        <p:nvSpPr>
          <p:cNvPr id="13" name="Text 11"/>
          <p:cNvSpPr txBox="1"/>
          <p:nvPr/>
        </p:nvSpPr>
        <p:spPr>
          <a:xfrm>
            <a:off x="7333488" y="1801368"/>
            <a:ext cx="1060704" cy="1883664"/>
          </a:xfrm>
          <a:prstGeom prst="rect">
            <a:avLst/>
          </a:prstGeom>
          <a:noFill/>
          <a:ln/>
        </p:spPr>
        <p:txBody>
          <a:bodyPr wrap="square" lIns="0" tIns="0" rIns="0" bIns="0" rtlCol="0" anchor="ctr"/>
          <a:lstStyle/>
          <a:p>
            <a:pPr marL="0" indent="0" algn="ctr">
              <a:lnSpc>
                <a:spcPts val="1400"/>
              </a:lnSpc>
              <a:buNone/>
            </a:pPr>
            <a:r>
              <a:rPr lang="en-US" sz="900" dirty="0">
                <a:solidFill>
                  <a:srgbClr val="DCDCE0"/>
                </a:solidFill>
                <a:latin typeface="Arial" pitchFamily="34" charset="0"/>
                <a:ea typeface="Arial" pitchFamily="34" charset="-122"/>
                <a:cs typeface="Arial" pitchFamily="34" charset="-120"/>
              </a:rPr>
              <a:t>The heaviest are super heavyweight judo and wrestling competitors.</a:t>
            </a:r>
            <a:endParaRPr lang="en-US" sz="900" dirty="0"/>
          </a:p>
        </p:txBody>
      </p:sp>
      <p:sp>
        <p:nvSpPr>
          <p:cNvPr id="14" name="Text 12"/>
          <p:cNvSpPr txBox="1"/>
          <p:nvPr/>
        </p:nvSpPr>
        <p:spPr>
          <a:xfrm>
            <a:off x="3931920" y="4069080"/>
            <a:ext cx="4709160" cy="365760"/>
          </a:xfrm>
          <a:prstGeom prst="rect">
            <a:avLst/>
          </a:prstGeom>
          <a:noFill/>
          <a:ln/>
        </p:spPr>
        <p:txBody>
          <a:bodyPr wrap="square" lIns="0" tIns="0" rIns="0" bIns="0" rtlCol="0" anchor="ctr"/>
          <a:lstStyle/>
          <a:p>
            <a:pPr marL="0" indent="0" algn="ctr">
              <a:buNone/>
            </a:pPr>
            <a:r>
              <a:rPr lang="en-US" sz="1000" i="1" dirty="0">
                <a:solidFill>
                  <a:srgbClr val="5A5A60"/>
                </a:solidFill>
                <a:latin typeface="Arial" pitchFamily="34" charset="0"/>
                <a:ea typeface="Arial" pitchFamily="34" charset="-122"/>
                <a:cs typeface="Arial" pitchFamily="34" charset="-120"/>
              </a:rPr>
              <a:t>Deleting these rows would erase real athletic diversity instead of correcting an error.</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37744"/>
            <a:ext cx="2926080" cy="274320"/>
          </a:xfrm>
          <a:prstGeom prst="rect">
            <a:avLst/>
          </a:prstGeom>
          <a:noFill/>
        </p:spPr>
        <p:txBody>
          <a:bodyPr wrap="square">
            <a:spAutoFit/>
          </a:bodyPr>
          <a:lstStyle/>
          <a:p>
            <a:r>
              <a:rPr sz="1050" b="1">
                <a:solidFill>
                  <a:srgbClr val="0A0A0A"/>
                </a:solidFill>
                <a:latin typeface="Arial"/>
              </a:rPr>
              <a:t>Olympic Athlete Analysis</a:t>
            </a:r>
          </a:p>
        </p:txBody>
      </p:sp>
      <p:sp>
        <p:nvSpPr>
          <p:cNvPr id="3" name="TextBox 2"/>
          <p:cNvSpPr txBox="1"/>
          <p:nvPr/>
        </p:nvSpPr>
        <p:spPr>
          <a:xfrm>
            <a:off x="502920" y="600000"/>
            <a:ext cx="8138160" cy="500000"/>
          </a:xfrm>
          <a:prstGeom prst="rect">
            <a:avLst/>
          </a:prstGeom>
          <a:noFill/>
        </p:spPr>
        <p:txBody>
          <a:bodyPr wrap="square">
            <a:spAutoFit/>
          </a:bodyPr>
          <a:lstStyle/>
          <a:p>
            <a:r>
              <a:rPr sz="2200" b="1">
                <a:solidFill>
                  <a:srgbClr val="0A0A0A"/>
                </a:solidFill>
                <a:latin typeface="Arial Black"/>
              </a:rPr>
              <a:t>GENDER PARTICIPATION</a:t>
            </a:r>
          </a:p>
        </p:txBody>
      </p:sp>
      <p:sp>
        <p:nvSpPr>
          <p:cNvPr id="4" name="TextBox 3"/>
          <p:cNvSpPr txBox="1"/>
          <p:nvPr/>
        </p:nvSpPr>
        <p:spPr>
          <a:xfrm>
            <a:off x="502920" y="1060000"/>
            <a:ext cx="8138160" cy="320000"/>
          </a:xfrm>
          <a:prstGeom prst="rect">
            <a:avLst/>
          </a:prstGeom>
          <a:noFill/>
        </p:spPr>
        <p:txBody>
          <a:bodyPr wrap="square">
            <a:spAutoFit/>
          </a:bodyPr>
          <a:lstStyle/>
          <a:p>
            <a:r>
              <a:rPr sz="1300" b="1">
                <a:solidFill>
                  <a:srgbClr val="C8A45C"/>
                </a:solidFill>
                <a:latin typeface="Arial"/>
              </a:rPr>
              <a:t>PYTHON — SOURCE CODE</a:t>
            </a:r>
          </a:p>
        </p:txBody>
      </p:sp>
      <p:sp>
        <p:nvSpPr>
          <p:cNvPr id="5" name="Rounded Rectangle 4"/>
          <p:cNvSpPr/>
          <p:nvPr/>
        </p:nvSpPr>
        <p:spPr>
          <a:xfrm>
            <a:off x="502920" y="1420000"/>
            <a:ext cx="8138160" cy="3480000"/>
          </a:xfrm>
          <a:prstGeom prst="roundRect">
            <a:avLst>
              <a:gd name="adj" fmla="val 3500"/>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580000"/>
            <a:ext cx="7680960" cy="3160000"/>
          </a:xfrm>
          <a:prstGeom prst="rect">
            <a:avLst/>
          </a:prstGeom>
          <a:noFill/>
        </p:spPr>
        <p:txBody>
          <a:bodyPr wrap="square">
            <a:noAutofit/>
          </a:bodyPr>
          <a:lstStyle/>
          <a:p>
            <a:pPr>
              <a:lnSpc>
                <a:spcPct val="100000"/>
              </a:lnSpc>
              <a:spcBef>
                <a:spcPts val="0"/>
              </a:spcBef>
              <a:spcAft>
                <a:spcPts val="0"/>
              </a:spcAft>
            </a:pPr>
            <a:r>
              <a:rPr sz="1295" dirty="0">
                <a:solidFill>
                  <a:srgbClr val="F2F3F5"/>
                </a:solidFill>
                <a:latin typeface="Consolas"/>
              </a:rPr>
              <a:t> </a:t>
            </a:r>
          </a:p>
          <a:p>
            <a:pPr>
              <a:lnSpc>
                <a:spcPct val="100000"/>
              </a:lnSpc>
              <a:spcBef>
                <a:spcPts val="0"/>
              </a:spcBef>
              <a:spcAft>
                <a:spcPts val="0"/>
              </a:spcAft>
            </a:pPr>
            <a:r>
              <a:rPr sz="1295" dirty="0" err="1">
                <a:solidFill>
                  <a:srgbClr val="F2F3F5"/>
                </a:solidFill>
                <a:latin typeface="Consolas"/>
              </a:rPr>
              <a:t>gender_count</a:t>
            </a:r>
            <a:r>
              <a:rPr sz="1295" dirty="0">
                <a:solidFill>
                  <a:srgbClr val="F2F3F5"/>
                </a:solidFill>
                <a:latin typeface="Consolas"/>
              </a:rPr>
              <a:t> = </a:t>
            </a:r>
            <a:r>
              <a:rPr sz="1295" dirty="0" err="1">
                <a:solidFill>
                  <a:srgbClr val="F2F3F5"/>
                </a:solidFill>
                <a:latin typeface="Consolas"/>
              </a:rPr>
              <a:t>df</a:t>
            </a:r>
            <a:r>
              <a:rPr sz="1295" dirty="0">
                <a:solidFill>
                  <a:srgbClr val="F2F3F5"/>
                </a:solidFill>
                <a:latin typeface="Consolas"/>
              </a:rPr>
              <a:t>['Sex'].</a:t>
            </a:r>
            <a:r>
              <a:rPr sz="1295" dirty="0" err="1">
                <a:solidFill>
                  <a:srgbClr val="F2F3F5"/>
                </a:solidFill>
                <a:latin typeface="Consolas"/>
              </a:rPr>
              <a:t>value_counts</a:t>
            </a:r>
            <a:r>
              <a:rPr sz="1295" dirty="0">
                <a:solidFill>
                  <a:srgbClr val="F2F3F5"/>
                </a:solidFill>
                <a:latin typeface="Consolas"/>
              </a:rPr>
              <a:t>()</a:t>
            </a:r>
          </a:p>
          <a:p>
            <a:pPr>
              <a:lnSpc>
                <a:spcPct val="100000"/>
              </a:lnSpc>
              <a:spcBef>
                <a:spcPts val="0"/>
              </a:spcBef>
              <a:spcAft>
                <a:spcPts val="0"/>
              </a:spcAft>
            </a:pPr>
            <a:r>
              <a:rPr sz="1295" dirty="0">
                <a:solidFill>
                  <a:srgbClr val="F2F3F5"/>
                </a:solidFill>
                <a:latin typeface="Consolas"/>
              </a:rPr>
              <a:t> </a:t>
            </a:r>
          </a:p>
          <a:p>
            <a:pPr>
              <a:lnSpc>
                <a:spcPct val="100000"/>
              </a:lnSpc>
              <a:spcBef>
                <a:spcPts val="0"/>
              </a:spcBef>
              <a:spcAft>
                <a:spcPts val="0"/>
              </a:spcAft>
            </a:pPr>
            <a:r>
              <a:rPr sz="1295" dirty="0" err="1">
                <a:solidFill>
                  <a:srgbClr val="F2F3F5"/>
                </a:solidFill>
                <a:latin typeface="Consolas"/>
              </a:rPr>
              <a:t>plt.figure</a:t>
            </a:r>
            <a:r>
              <a:rPr sz="1295" dirty="0">
                <a:solidFill>
                  <a:srgbClr val="F2F3F5"/>
                </a:solidFill>
                <a:latin typeface="Consolas"/>
              </a:rPr>
              <a:t>(</a:t>
            </a:r>
            <a:r>
              <a:rPr sz="1295" dirty="0" err="1">
                <a:solidFill>
                  <a:srgbClr val="F2F3F5"/>
                </a:solidFill>
                <a:latin typeface="Consolas"/>
              </a:rPr>
              <a:t>figsize</a:t>
            </a:r>
            <a:r>
              <a:rPr sz="1295" dirty="0">
                <a:solidFill>
                  <a:srgbClr val="F2F3F5"/>
                </a:solidFill>
                <a:latin typeface="Consolas"/>
              </a:rPr>
              <a:t>=(7, 7))</a:t>
            </a:r>
          </a:p>
          <a:p>
            <a:pPr>
              <a:lnSpc>
                <a:spcPct val="100000"/>
              </a:lnSpc>
              <a:spcBef>
                <a:spcPts val="0"/>
              </a:spcBef>
              <a:spcAft>
                <a:spcPts val="0"/>
              </a:spcAft>
            </a:pPr>
            <a:r>
              <a:rPr sz="1295" dirty="0">
                <a:solidFill>
                  <a:srgbClr val="F2F3F5"/>
                </a:solidFill>
                <a:latin typeface="Consolas"/>
              </a:rPr>
              <a:t> </a:t>
            </a:r>
          </a:p>
          <a:p>
            <a:pPr>
              <a:lnSpc>
                <a:spcPct val="100000"/>
              </a:lnSpc>
              <a:spcBef>
                <a:spcPts val="0"/>
              </a:spcBef>
              <a:spcAft>
                <a:spcPts val="0"/>
              </a:spcAft>
            </a:pPr>
            <a:r>
              <a:rPr sz="1295" dirty="0" err="1">
                <a:solidFill>
                  <a:srgbClr val="F2F3F5"/>
                </a:solidFill>
                <a:latin typeface="Consolas"/>
              </a:rPr>
              <a:t>plt.pie</a:t>
            </a:r>
            <a:r>
              <a:rPr sz="1295" dirty="0">
                <a:solidFill>
                  <a:srgbClr val="F2F3F5"/>
                </a:solidFill>
                <a:latin typeface="Consolas"/>
              </a:rPr>
              <a:t>(</a:t>
            </a:r>
          </a:p>
          <a:p>
            <a:pPr>
              <a:lnSpc>
                <a:spcPct val="100000"/>
              </a:lnSpc>
              <a:spcBef>
                <a:spcPts val="0"/>
              </a:spcBef>
              <a:spcAft>
                <a:spcPts val="0"/>
              </a:spcAft>
            </a:pPr>
            <a:r>
              <a:rPr sz="1295" dirty="0">
                <a:solidFill>
                  <a:srgbClr val="F2F3F5"/>
                </a:solidFill>
                <a:latin typeface="Consolas"/>
              </a:rPr>
              <a:t>    </a:t>
            </a:r>
            <a:r>
              <a:rPr sz="1295" dirty="0" err="1">
                <a:solidFill>
                  <a:srgbClr val="F2F3F5"/>
                </a:solidFill>
                <a:latin typeface="Consolas"/>
              </a:rPr>
              <a:t>gender_count.values</a:t>
            </a:r>
            <a:r>
              <a:rPr sz="1295" dirty="0">
                <a:solidFill>
                  <a:srgbClr val="F2F3F5"/>
                </a:solidFill>
                <a:latin typeface="Consolas"/>
              </a:rPr>
              <a:t>,</a:t>
            </a:r>
          </a:p>
          <a:p>
            <a:pPr>
              <a:lnSpc>
                <a:spcPct val="100000"/>
              </a:lnSpc>
              <a:spcBef>
                <a:spcPts val="0"/>
              </a:spcBef>
              <a:spcAft>
                <a:spcPts val="0"/>
              </a:spcAft>
            </a:pPr>
            <a:r>
              <a:rPr sz="1295" dirty="0">
                <a:solidFill>
                  <a:srgbClr val="F2F3F5"/>
                </a:solidFill>
                <a:latin typeface="Consolas"/>
              </a:rPr>
              <a:t>    labels=</a:t>
            </a:r>
            <a:r>
              <a:rPr sz="1295" dirty="0" err="1">
                <a:solidFill>
                  <a:srgbClr val="F2F3F5"/>
                </a:solidFill>
                <a:latin typeface="Consolas"/>
              </a:rPr>
              <a:t>gender_count.index</a:t>
            </a:r>
            <a:r>
              <a:rPr sz="1295" dirty="0">
                <a:solidFill>
                  <a:srgbClr val="F2F3F5"/>
                </a:solidFill>
                <a:latin typeface="Consolas"/>
              </a:rPr>
              <a:t>,</a:t>
            </a:r>
          </a:p>
          <a:p>
            <a:pPr>
              <a:lnSpc>
                <a:spcPct val="100000"/>
              </a:lnSpc>
              <a:spcBef>
                <a:spcPts val="0"/>
              </a:spcBef>
              <a:spcAft>
                <a:spcPts val="0"/>
              </a:spcAft>
            </a:pPr>
            <a:r>
              <a:rPr sz="1295" dirty="0">
                <a:solidFill>
                  <a:srgbClr val="F2F3F5"/>
                </a:solidFill>
                <a:latin typeface="Consolas"/>
              </a:rPr>
              <a:t>    </a:t>
            </a:r>
            <a:r>
              <a:rPr sz="1295" dirty="0" err="1">
                <a:solidFill>
                  <a:srgbClr val="F2F3F5"/>
                </a:solidFill>
                <a:latin typeface="Consolas"/>
              </a:rPr>
              <a:t>autopct</a:t>
            </a:r>
            <a:r>
              <a:rPr sz="1295" dirty="0">
                <a:solidFill>
                  <a:srgbClr val="F2F3F5"/>
                </a:solidFill>
                <a:latin typeface="Consolas"/>
              </a:rPr>
              <a:t>='%1.1f%%',</a:t>
            </a:r>
          </a:p>
          <a:p>
            <a:pPr>
              <a:lnSpc>
                <a:spcPct val="100000"/>
              </a:lnSpc>
              <a:spcBef>
                <a:spcPts val="0"/>
              </a:spcBef>
              <a:spcAft>
                <a:spcPts val="0"/>
              </a:spcAft>
            </a:pPr>
            <a:r>
              <a:rPr sz="1295" dirty="0">
                <a:solidFill>
                  <a:srgbClr val="F2F3F5"/>
                </a:solidFill>
                <a:latin typeface="Consolas"/>
              </a:rPr>
              <a:t>    </a:t>
            </a:r>
            <a:r>
              <a:rPr sz="1295" dirty="0" err="1">
                <a:solidFill>
                  <a:srgbClr val="F2F3F5"/>
                </a:solidFill>
                <a:latin typeface="Consolas"/>
              </a:rPr>
              <a:t>startangle</a:t>
            </a:r>
            <a:r>
              <a:rPr sz="1295" dirty="0">
                <a:solidFill>
                  <a:srgbClr val="F2F3F5"/>
                </a:solidFill>
                <a:latin typeface="Consolas"/>
              </a:rPr>
              <a:t>=90</a:t>
            </a:r>
          </a:p>
          <a:p>
            <a:pPr>
              <a:lnSpc>
                <a:spcPct val="100000"/>
              </a:lnSpc>
              <a:spcBef>
                <a:spcPts val="0"/>
              </a:spcBef>
              <a:spcAft>
                <a:spcPts val="0"/>
              </a:spcAft>
            </a:pPr>
            <a:r>
              <a:rPr sz="1295" dirty="0">
                <a:solidFill>
                  <a:srgbClr val="F2F3F5"/>
                </a:solidFill>
                <a:latin typeface="Consolas"/>
              </a:rPr>
              <a:t>)</a:t>
            </a:r>
          </a:p>
          <a:p>
            <a:pPr>
              <a:lnSpc>
                <a:spcPct val="100000"/>
              </a:lnSpc>
              <a:spcBef>
                <a:spcPts val="0"/>
              </a:spcBef>
              <a:spcAft>
                <a:spcPts val="0"/>
              </a:spcAft>
            </a:pPr>
            <a:r>
              <a:rPr sz="1295" dirty="0">
                <a:solidFill>
                  <a:srgbClr val="F2F3F5"/>
                </a:solidFill>
                <a:latin typeface="Consolas"/>
              </a:rPr>
              <a:t> </a:t>
            </a:r>
          </a:p>
          <a:p>
            <a:pPr>
              <a:lnSpc>
                <a:spcPct val="100000"/>
              </a:lnSpc>
              <a:spcBef>
                <a:spcPts val="0"/>
              </a:spcBef>
              <a:spcAft>
                <a:spcPts val="0"/>
              </a:spcAft>
            </a:pPr>
            <a:r>
              <a:rPr sz="1295" dirty="0" err="1">
                <a:solidFill>
                  <a:srgbClr val="F2F3F5"/>
                </a:solidFill>
                <a:latin typeface="Consolas"/>
              </a:rPr>
              <a:t>plt.title</a:t>
            </a:r>
            <a:r>
              <a:rPr sz="1295" dirty="0">
                <a:solidFill>
                  <a:srgbClr val="F2F3F5"/>
                </a:solidFill>
                <a:latin typeface="Consolas"/>
              </a:rPr>
              <a:t>('Male vs Female Athlete Participation')</a:t>
            </a:r>
          </a:p>
          <a:p>
            <a:pPr>
              <a:lnSpc>
                <a:spcPct val="100000"/>
              </a:lnSpc>
              <a:spcBef>
                <a:spcPts val="0"/>
              </a:spcBef>
              <a:spcAft>
                <a:spcPts val="0"/>
              </a:spcAft>
            </a:pPr>
            <a:r>
              <a:rPr sz="1295" dirty="0">
                <a:solidFill>
                  <a:srgbClr val="F2F3F5"/>
                </a:solidFill>
                <a:latin typeface="Consolas"/>
              </a:rPr>
              <a:t> </a:t>
            </a:r>
          </a:p>
          <a:p>
            <a:pPr>
              <a:lnSpc>
                <a:spcPct val="100000"/>
              </a:lnSpc>
              <a:spcBef>
                <a:spcPts val="0"/>
              </a:spcBef>
              <a:spcAft>
                <a:spcPts val="0"/>
              </a:spcAft>
            </a:pPr>
            <a:r>
              <a:rPr sz="1295" dirty="0" err="1">
                <a:solidFill>
                  <a:srgbClr val="F2F3F5"/>
                </a:solidFill>
                <a:latin typeface="Consolas"/>
              </a:rPr>
              <a:t>plt.show</a:t>
            </a:r>
            <a:r>
              <a:rPr sz="1295" dirty="0">
                <a:solidFill>
                  <a:srgbClr val="F2F3F5"/>
                </a:solidFill>
                <a:latin typeface="Consolas"/>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02920" y="237744"/>
            <a:ext cx="2926080" cy="274320"/>
          </a:xfrm>
          <a:prstGeom prst="rect">
            <a:avLst/>
          </a:prstGeom>
          <a:noFill/>
          <a:ln/>
        </p:spPr>
        <p:txBody>
          <a:bodyPr wrap="square" lIns="0" tIns="0" rIns="0" bIns="0" rtlCol="0" anchor="ctr"/>
          <a:lstStyle/>
          <a:p>
            <a:pPr marL="0" indent="0">
              <a:buNone/>
            </a:pPr>
            <a:r>
              <a:rPr lang="en-US" sz="1050" b="1" dirty="0">
                <a:solidFill>
                  <a:srgbClr val="0A0A0A"/>
                </a:solidFill>
                <a:latin typeface="Arial" pitchFamily="34" charset="0"/>
                <a:ea typeface="Arial" pitchFamily="34" charset="-122"/>
                <a:cs typeface="Arial" pitchFamily="34" charset="-120"/>
              </a:rPr>
              <a:t>Olympic Athlete Analysis</a:t>
            </a:r>
            <a:endParaRPr lang="en-US" sz="1050" dirty="0"/>
          </a:p>
        </p:txBody>
      </p:sp>
      <p:sp>
        <p:nvSpPr>
          <p:cNvPr id="3" name="Text 1"/>
          <p:cNvSpPr txBox="1"/>
          <p:nvPr/>
        </p:nvSpPr>
        <p:spPr>
          <a:xfrm>
            <a:off x="502920" y="822960"/>
            <a:ext cx="3246120" cy="1188720"/>
          </a:xfrm>
          <a:prstGeom prst="rect">
            <a:avLst/>
          </a:prstGeom>
          <a:noFill/>
          <a:ln/>
        </p:spPr>
        <p:txBody>
          <a:bodyPr wrap="square" lIns="0" tIns="0" rIns="0" bIns="0" rtlCol="0" anchor="t"/>
          <a:lstStyle/>
          <a:p>
            <a:pPr marL="0" indent="0">
              <a:lnSpc>
                <a:spcPts val="2900"/>
              </a:lnSpc>
              <a:buNone/>
            </a:pPr>
            <a:r>
              <a:rPr lang="en-US" sz="2900" kern="0" spc="-50" dirty="0">
                <a:solidFill>
                  <a:srgbClr val="0A0A0A"/>
                </a:solidFill>
                <a:latin typeface="Arial Black" pitchFamily="34" charset="0"/>
                <a:ea typeface="Arial Black" pitchFamily="34" charset="-122"/>
                <a:cs typeface="Arial Black" pitchFamily="34" charset="-120"/>
              </a:rPr>
              <a:t>GENDER</a:t>
            </a:r>
            <a:endParaRPr lang="en-US" sz="2900" dirty="0"/>
          </a:p>
          <a:p>
            <a:pPr marL="0" indent="0">
              <a:lnSpc>
                <a:spcPts val="2900"/>
              </a:lnSpc>
              <a:buNone/>
            </a:pPr>
            <a:r>
              <a:rPr lang="en-US" sz="2900" kern="0" spc="-50" dirty="0">
                <a:solidFill>
                  <a:srgbClr val="0A0A0A"/>
                </a:solidFill>
                <a:latin typeface="Arial Black" pitchFamily="34" charset="0"/>
                <a:ea typeface="Arial Black" pitchFamily="34" charset="-122"/>
                <a:cs typeface="Arial Black" pitchFamily="34" charset="-120"/>
              </a:rPr>
              <a:t>PARTICIPATION</a:t>
            </a:r>
            <a:endParaRPr lang="en-US" sz="2900" dirty="0"/>
          </a:p>
        </p:txBody>
      </p:sp>
      <p:sp>
        <p:nvSpPr>
          <p:cNvPr id="4" name="Text 2"/>
          <p:cNvSpPr txBox="1"/>
          <p:nvPr/>
        </p:nvSpPr>
        <p:spPr>
          <a:xfrm>
            <a:off x="502920" y="2286000"/>
            <a:ext cx="3108960" cy="2103120"/>
          </a:xfrm>
          <a:prstGeom prst="rect">
            <a:avLst/>
          </a:prstGeom>
          <a:noFill/>
          <a:ln/>
        </p:spPr>
        <p:txBody>
          <a:bodyPr wrap="square" lIns="0" tIns="0" rIns="0" bIns="0" rtlCol="0" anchor="ctr"/>
          <a:lstStyle/>
          <a:p>
            <a:pPr marL="0" indent="0">
              <a:lnSpc>
                <a:spcPct val="100000"/>
              </a:lnSpc>
              <a:buNone/>
            </a:pPr>
            <a:r>
              <a:rPr lang="en-US" sz="1050" dirty="0">
                <a:solidFill>
                  <a:schemeClr val="bg2">
                    <a:lumMod val="50000"/>
                  </a:schemeClr>
                </a:solidFill>
                <a:latin typeface="Arial" panose="020B0604020202020204" pitchFamily="34" charset="0"/>
                <a:cs typeface="Arial" panose="020B0604020202020204" pitchFamily="34" charset="0"/>
              </a:rPr>
              <a:t>Male athlete-events outnumber female ones 2.6 to 1 (195,353 vs 74,378, or 72.4% vs 27.6%). Women first appear in the data in 1900 and don't cross roughly 40% until the 2000s — by 2016 female participation reaches 45.5%, so the all-time split is pulled toward male by over a century of male-only or male-dominated Games</a:t>
            </a:r>
            <a:r>
              <a:rPr lang="en-US" sz="1050" dirty="0">
                <a:latin typeface="Arial" panose="020B0604020202020204" pitchFamily="34" charset="0"/>
                <a:cs typeface="Arial" panose="020B0604020202020204" pitchFamily="34" charset="0"/>
              </a:rPr>
              <a:t>.</a:t>
            </a:r>
          </a:p>
        </p:txBody>
      </p:sp>
      <p:sp>
        <p:nvSpPr>
          <p:cNvPr id="5" name="Text 3"/>
          <p:cNvSpPr txBox="1"/>
          <p:nvPr/>
        </p:nvSpPr>
        <p:spPr>
          <a:xfrm>
            <a:off x="502920" y="1828800"/>
            <a:ext cx="3108960" cy="411480"/>
          </a:xfrm>
          <a:prstGeom prst="rect">
            <a:avLst/>
          </a:prstGeom>
          <a:noFill/>
          <a:ln/>
        </p:spPr>
        <p:txBody>
          <a:bodyPr wrap="square" lIns="0" tIns="0" rIns="0" bIns="0" rtlCol="0" anchor="ctr"/>
          <a:lstStyle/>
          <a:p>
            <a:pPr marL="0" indent="0">
              <a:buNone/>
            </a:pPr>
            <a:r>
              <a:rPr lang="en-US" sz="1900" dirty="0">
                <a:solidFill>
                  <a:srgbClr val="C8A45C"/>
                </a:solidFill>
                <a:latin typeface="Arial Black" pitchFamily="34" charset="0"/>
                <a:ea typeface="Arial Black" pitchFamily="34" charset="-122"/>
                <a:cs typeface="Arial Black" pitchFamily="34" charset="-120"/>
              </a:rPr>
              <a:t>72.4% male · 27.6% female</a:t>
            </a:r>
            <a:endParaRPr lang="en-US" sz="1900" dirty="0"/>
          </a:p>
        </p:txBody>
      </p:sp>
      <p:pic>
        <p:nvPicPr>
          <p:cNvPr id="8" name="Picture 7">
            <a:extLst>
              <a:ext uri="{FF2B5EF4-FFF2-40B4-BE49-F238E27FC236}">
                <a16:creationId xmlns:a16="http://schemas.microsoft.com/office/drawing/2014/main" id="{E1298F5B-FAE8-AEA4-D1C8-884C8B302DC1}"/>
              </a:ext>
            </a:extLst>
          </p:cNvPr>
          <p:cNvPicPr>
            <a:picLocks noChangeAspect="1"/>
          </p:cNvPicPr>
          <p:nvPr/>
        </p:nvPicPr>
        <p:blipFill>
          <a:blip r:embed="rId3">
            <a:alphaModFix amt="70000"/>
          </a:blip>
          <a:stretch>
            <a:fillRect/>
          </a:stretch>
        </p:blipFill>
        <p:spPr>
          <a:xfrm>
            <a:off x="3903785" y="1667023"/>
            <a:ext cx="4853353" cy="2722098"/>
          </a:xfrm>
          <a:prstGeom prst="rect">
            <a:avLst/>
          </a:prstGeom>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65"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heel(1)">
                                      <p:cBhvr>
                                        <p:cTn id="7" dur="7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0A8C8-4F14-B0EB-D94C-9521D9E55F7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3886126-634D-7CFE-915C-7CCAA8091C72}"/>
              </a:ext>
            </a:extLst>
          </p:cNvPr>
          <p:cNvSpPr txBox="1"/>
          <p:nvPr/>
        </p:nvSpPr>
        <p:spPr>
          <a:xfrm>
            <a:off x="502920" y="237744"/>
            <a:ext cx="2926080" cy="274320"/>
          </a:xfrm>
          <a:prstGeom prst="rect">
            <a:avLst/>
          </a:prstGeom>
          <a:noFill/>
          <a:ln/>
        </p:spPr>
        <p:txBody>
          <a:bodyPr wrap="square" lIns="0" tIns="0" rIns="0" bIns="0" rtlCol="0" anchor="ctr"/>
          <a:lstStyle/>
          <a:p>
            <a:pPr marL="0" indent="0">
              <a:buNone/>
            </a:pPr>
            <a:r>
              <a:rPr lang="en-US" sz="1050" b="1" dirty="0">
                <a:solidFill>
                  <a:srgbClr val="0A0A0A"/>
                </a:solidFill>
                <a:latin typeface="Arial" pitchFamily="34" charset="0"/>
                <a:ea typeface="Arial" pitchFamily="34" charset="-122"/>
                <a:cs typeface="Arial" pitchFamily="34" charset="-120"/>
              </a:rPr>
              <a:t>Olympic Athlete Analysis</a:t>
            </a:r>
            <a:endParaRPr lang="en-US" sz="1050" dirty="0"/>
          </a:p>
        </p:txBody>
      </p:sp>
      <p:sp>
        <p:nvSpPr>
          <p:cNvPr id="3" name="Text 1">
            <a:extLst>
              <a:ext uri="{FF2B5EF4-FFF2-40B4-BE49-F238E27FC236}">
                <a16:creationId xmlns:a16="http://schemas.microsoft.com/office/drawing/2014/main" id="{0276568C-E7B8-015C-E587-8308275A4031}"/>
              </a:ext>
            </a:extLst>
          </p:cNvPr>
          <p:cNvSpPr txBox="1"/>
          <p:nvPr/>
        </p:nvSpPr>
        <p:spPr>
          <a:xfrm>
            <a:off x="502919" y="822960"/>
            <a:ext cx="7389055" cy="1188720"/>
          </a:xfrm>
          <a:prstGeom prst="rect">
            <a:avLst/>
          </a:prstGeom>
          <a:noFill/>
          <a:ln/>
        </p:spPr>
        <p:txBody>
          <a:bodyPr wrap="square" lIns="0" tIns="0" rIns="0" bIns="0" rtlCol="0" anchor="t"/>
          <a:lstStyle/>
          <a:p>
            <a:pPr>
              <a:lnSpc>
                <a:spcPct val="100000"/>
              </a:lnSpc>
            </a:pPr>
            <a:r>
              <a:rPr lang="en-US" sz="2000" kern="0" spc="-50" dirty="0">
                <a:solidFill>
                  <a:srgbClr val="0A0A0A"/>
                </a:solidFill>
                <a:latin typeface="Arial Black" panose="020B0A04020102020204" pitchFamily="34" charset="0"/>
                <a:ea typeface="Arial Black" pitchFamily="34" charset="-122"/>
                <a:cs typeface="Arial Black" pitchFamily="34" charset="-120"/>
              </a:rPr>
              <a:t>GENDER</a:t>
            </a:r>
            <a:r>
              <a:rPr lang="en-US" sz="2000" dirty="0">
                <a:latin typeface="Arial Black" panose="020B0A04020102020204" pitchFamily="34" charset="0"/>
              </a:rPr>
              <a:t> </a:t>
            </a:r>
            <a:r>
              <a:rPr lang="en-US" sz="2000" kern="0" spc="-50" dirty="0">
                <a:solidFill>
                  <a:srgbClr val="0A0A0A"/>
                </a:solidFill>
                <a:latin typeface="Arial Black" panose="020B0A04020102020204" pitchFamily="34" charset="0"/>
                <a:ea typeface="Arial Black" pitchFamily="34" charset="-122"/>
                <a:cs typeface="Arial Black" pitchFamily="34" charset="-120"/>
              </a:rPr>
              <a:t>PARTICIPATION: </a:t>
            </a:r>
            <a:r>
              <a:rPr lang="en-IN" sz="2000" b="1" dirty="0">
                <a:latin typeface="Arial Black" panose="020B0A04020102020204" pitchFamily="34" charset="0"/>
              </a:rPr>
              <a:t>GROWTH IN FEMALE PARTICIPATION</a:t>
            </a:r>
            <a:endParaRPr lang="en-US" sz="2000" b="1" dirty="0">
              <a:latin typeface="Arial Black" panose="020B0A04020102020204" pitchFamily="34" charset="0"/>
            </a:endParaRPr>
          </a:p>
        </p:txBody>
      </p:sp>
      <p:sp>
        <p:nvSpPr>
          <p:cNvPr id="4" name="Text 2">
            <a:extLst>
              <a:ext uri="{FF2B5EF4-FFF2-40B4-BE49-F238E27FC236}">
                <a16:creationId xmlns:a16="http://schemas.microsoft.com/office/drawing/2014/main" id="{401E7244-ACBF-545B-CFE6-E0AFE1B836B8}"/>
              </a:ext>
            </a:extLst>
          </p:cNvPr>
          <p:cNvSpPr txBox="1"/>
          <p:nvPr/>
        </p:nvSpPr>
        <p:spPr>
          <a:xfrm>
            <a:off x="502920" y="1828800"/>
            <a:ext cx="3108960" cy="2560320"/>
          </a:xfrm>
          <a:prstGeom prst="rect">
            <a:avLst/>
          </a:prstGeom>
          <a:noFill/>
          <a:ln/>
        </p:spPr>
        <p:txBody>
          <a:bodyPr wrap="square" lIns="0" tIns="0" rIns="0" bIns="0" rtlCol="0" anchor="ctr"/>
          <a:lstStyle/>
          <a:p>
            <a:r>
              <a:rPr lang="en-US" sz="1050" dirty="0">
                <a:solidFill>
                  <a:srgbClr val="5A5A60"/>
                </a:solidFill>
                <a:latin typeface="Arial" panose="020B0604020202020204" pitchFamily="34" charset="0"/>
                <a:ea typeface="Arial" pitchFamily="34" charset="-122"/>
                <a:cs typeface="Arial" panose="020B0604020202020204" pitchFamily="34" charset="0"/>
              </a:rPr>
              <a:t>Female participation began at zero in 1896 and reached 5,034 athletes in 2016, close to the 6,145 men competing. Growth accelerated sharply after the 1980s. The zigzag from 1994 onward reflects the staggered Winter and </a:t>
            </a:r>
            <a:r>
              <a:rPr lang="en-US" sz="1050" dirty="0">
                <a:solidFill>
                  <a:schemeClr val="bg2">
                    <a:lumMod val="50000"/>
                  </a:schemeClr>
                </a:solidFill>
                <a:latin typeface="Arial" panose="020B0604020202020204" pitchFamily="34" charset="0"/>
                <a:ea typeface="Arial" pitchFamily="34" charset="-122"/>
                <a:cs typeface="Arial" panose="020B0604020202020204" pitchFamily="34" charset="0"/>
              </a:rPr>
              <a:t>Summer</a:t>
            </a:r>
            <a:r>
              <a:rPr lang="en-US" sz="1050" dirty="0">
                <a:solidFill>
                  <a:srgbClr val="5A5A60"/>
                </a:solidFill>
                <a:latin typeface="Arial" panose="020B0604020202020204" pitchFamily="34" charset="0"/>
                <a:ea typeface="Arial" pitchFamily="34" charset="-122"/>
                <a:cs typeface="Arial" panose="020B0604020202020204" pitchFamily="34" charset="0"/>
              </a:rPr>
              <a:t> schedule, not a data problem.</a:t>
            </a:r>
            <a:endParaRPr lang="en-US" sz="1050" dirty="0">
              <a:latin typeface="Arial" panose="020B0604020202020204" pitchFamily="34" charset="0"/>
              <a:cs typeface="Arial" panose="020B0604020202020204" pitchFamily="34" charset="0"/>
            </a:endParaRPr>
          </a:p>
          <a:p>
            <a:pPr marL="0" indent="0">
              <a:lnSpc>
                <a:spcPct val="100000"/>
              </a:lnSpc>
              <a:buNone/>
            </a:pPr>
            <a:endParaRPr lang="en-US" sz="1050" dirty="0"/>
          </a:p>
        </p:txBody>
      </p:sp>
      <p:sp>
        <p:nvSpPr>
          <p:cNvPr id="5" name="Text 3">
            <a:extLst>
              <a:ext uri="{FF2B5EF4-FFF2-40B4-BE49-F238E27FC236}">
                <a16:creationId xmlns:a16="http://schemas.microsoft.com/office/drawing/2014/main" id="{AAA8AD8D-22D7-E697-A4DD-338BD45E3197}"/>
              </a:ext>
            </a:extLst>
          </p:cNvPr>
          <p:cNvSpPr txBox="1"/>
          <p:nvPr/>
        </p:nvSpPr>
        <p:spPr>
          <a:xfrm>
            <a:off x="502920" y="1828800"/>
            <a:ext cx="3108960" cy="411480"/>
          </a:xfrm>
          <a:prstGeom prst="rect">
            <a:avLst/>
          </a:prstGeom>
          <a:noFill/>
          <a:ln/>
        </p:spPr>
        <p:txBody>
          <a:bodyPr wrap="square" lIns="0" tIns="0" rIns="0" bIns="0" rtlCol="0" anchor="ctr"/>
          <a:lstStyle/>
          <a:p>
            <a:pPr marL="0" indent="0">
              <a:buNone/>
            </a:pPr>
            <a:endParaRPr lang="en-US" sz="1900" dirty="0"/>
          </a:p>
        </p:txBody>
      </p:sp>
      <p:pic>
        <p:nvPicPr>
          <p:cNvPr id="8" name="Picture 7">
            <a:extLst>
              <a:ext uri="{FF2B5EF4-FFF2-40B4-BE49-F238E27FC236}">
                <a16:creationId xmlns:a16="http://schemas.microsoft.com/office/drawing/2014/main" id="{91C242D7-0527-DE5B-C29E-747136BA1784}"/>
              </a:ext>
            </a:extLst>
          </p:cNvPr>
          <p:cNvPicPr>
            <a:picLocks noChangeAspect="1"/>
          </p:cNvPicPr>
          <p:nvPr/>
        </p:nvPicPr>
        <p:blipFill>
          <a:blip r:embed="rId3">
            <a:alphaModFix amt="70000"/>
          </a:blip>
          <a:srcRect/>
          <a:stretch/>
        </p:blipFill>
        <p:spPr>
          <a:xfrm>
            <a:off x="3903785" y="1668066"/>
            <a:ext cx="4853353" cy="2720011"/>
          </a:xfrm>
          <a:prstGeom prst="rect">
            <a:avLst/>
          </a:prstGeom>
          <a:ln>
            <a:noFill/>
          </a:ln>
        </p:spPr>
      </p:pic>
      <p:sp>
        <p:nvSpPr>
          <p:cNvPr id="7" name="TextBox 6">
            <a:extLst>
              <a:ext uri="{FF2B5EF4-FFF2-40B4-BE49-F238E27FC236}">
                <a16:creationId xmlns:a16="http://schemas.microsoft.com/office/drawing/2014/main" id="{DCE9F0F4-8F12-C822-EC68-1A66587EA3D9}"/>
              </a:ext>
            </a:extLst>
          </p:cNvPr>
          <p:cNvSpPr txBox="1"/>
          <p:nvPr/>
        </p:nvSpPr>
        <p:spPr>
          <a:xfrm>
            <a:off x="386862" y="1686059"/>
            <a:ext cx="4572000" cy="384721"/>
          </a:xfrm>
          <a:prstGeom prst="rect">
            <a:avLst/>
          </a:prstGeom>
          <a:noFill/>
        </p:spPr>
        <p:txBody>
          <a:bodyPr wrap="square">
            <a:spAutoFit/>
          </a:bodyPr>
          <a:lstStyle/>
          <a:p>
            <a:pPr marL="0" indent="0">
              <a:buNone/>
            </a:pPr>
            <a:r>
              <a:rPr lang="en-US" sz="1900" dirty="0">
                <a:solidFill>
                  <a:srgbClr val="C8A45C"/>
                </a:solidFill>
                <a:latin typeface="Arial Black" pitchFamily="34" charset="0"/>
                <a:ea typeface="Arial Black" pitchFamily="34" charset="-122"/>
                <a:cs typeface="Arial Black" pitchFamily="34" charset="-120"/>
              </a:rPr>
              <a:t>0 → 45% female by 2016</a:t>
            </a:r>
            <a:endParaRPr lang="en-US" sz="1900" dirty="0"/>
          </a:p>
        </p:txBody>
      </p:sp>
    </p:spTree>
    <p:extLst>
      <p:ext uri="{BB962C8B-B14F-4D97-AF65-F5344CB8AC3E}">
        <p14:creationId xmlns:p14="http://schemas.microsoft.com/office/powerpoint/2010/main" val="422517064"/>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65"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heel(1)">
                                      <p:cBhvr>
                                        <p:cTn id="7" dur="7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37744"/>
            <a:ext cx="2926080" cy="274320"/>
          </a:xfrm>
          <a:prstGeom prst="rect">
            <a:avLst/>
          </a:prstGeom>
          <a:noFill/>
        </p:spPr>
        <p:txBody>
          <a:bodyPr wrap="square">
            <a:spAutoFit/>
          </a:bodyPr>
          <a:lstStyle/>
          <a:p>
            <a:r>
              <a:rPr sz="1050" b="1">
                <a:solidFill>
                  <a:srgbClr val="0A0A0A"/>
                </a:solidFill>
                <a:latin typeface="Arial"/>
              </a:rPr>
              <a:t>Olympic Athlete Analysis</a:t>
            </a:r>
          </a:p>
        </p:txBody>
      </p:sp>
      <p:sp>
        <p:nvSpPr>
          <p:cNvPr id="3" name="TextBox 2"/>
          <p:cNvSpPr txBox="1"/>
          <p:nvPr/>
        </p:nvSpPr>
        <p:spPr>
          <a:xfrm>
            <a:off x="502920" y="600000"/>
            <a:ext cx="8138160" cy="500000"/>
          </a:xfrm>
          <a:prstGeom prst="rect">
            <a:avLst/>
          </a:prstGeom>
          <a:noFill/>
        </p:spPr>
        <p:txBody>
          <a:bodyPr wrap="square">
            <a:spAutoFit/>
          </a:bodyPr>
          <a:lstStyle/>
          <a:p>
            <a:r>
              <a:rPr sz="2200" b="1">
                <a:solidFill>
                  <a:srgbClr val="0A0A0A"/>
                </a:solidFill>
                <a:latin typeface="Arial Black"/>
              </a:rPr>
              <a:t>MEDAL DISTRIBUTION BY NOC</a:t>
            </a:r>
          </a:p>
        </p:txBody>
      </p:sp>
      <p:sp>
        <p:nvSpPr>
          <p:cNvPr id="4" name="TextBox 3"/>
          <p:cNvSpPr txBox="1"/>
          <p:nvPr/>
        </p:nvSpPr>
        <p:spPr>
          <a:xfrm>
            <a:off x="502920" y="1060000"/>
            <a:ext cx="8138160" cy="320000"/>
          </a:xfrm>
          <a:prstGeom prst="rect">
            <a:avLst/>
          </a:prstGeom>
          <a:noFill/>
        </p:spPr>
        <p:txBody>
          <a:bodyPr wrap="square">
            <a:spAutoFit/>
          </a:bodyPr>
          <a:lstStyle/>
          <a:p>
            <a:r>
              <a:rPr sz="1300" b="1">
                <a:solidFill>
                  <a:srgbClr val="C8A45C"/>
                </a:solidFill>
                <a:latin typeface="Arial"/>
              </a:rPr>
              <a:t>PYTHON — SOURCE CODE</a:t>
            </a:r>
          </a:p>
        </p:txBody>
      </p:sp>
      <p:sp>
        <p:nvSpPr>
          <p:cNvPr id="5" name="Rounded Rectangle 4"/>
          <p:cNvSpPr/>
          <p:nvPr/>
        </p:nvSpPr>
        <p:spPr>
          <a:xfrm>
            <a:off x="502920" y="1420000"/>
            <a:ext cx="8138160" cy="3480000"/>
          </a:xfrm>
          <a:prstGeom prst="roundRect">
            <a:avLst>
              <a:gd name="adj" fmla="val 3500"/>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76775" y="1580000"/>
            <a:ext cx="8064305" cy="3160000"/>
          </a:xfrm>
          <a:prstGeom prst="rect">
            <a:avLst/>
          </a:prstGeom>
          <a:noFill/>
        </p:spPr>
        <p:txBody>
          <a:bodyPr wrap="square">
            <a:noAutofit/>
          </a:bodyPr>
          <a:lstStyle/>
          <a:p>
            <a:pPr>
              <a:lnSpc>
                <a:spcPct val="100000"/>
              </a:lnSpc>
              <a:spcBef>
                <a:spcPts val="0"/>
              </a:spcBef>
              <a:spcAft>
                <a:spcPts val="0"/>
              </a:spcAft>
            </a:pPr>
            <a:r>
              <a:rPr sz="950" dirty="0" err="1">
                <a:solidFill>
                  <a:srgbClr val="F2F3F5"/>
                </a:solidFill>
                <a:latin typeface="Consolas"/>
              </a:rPr>
              <a:t>medals_only</a:t>
            </a:r>
            <a:r>
              <a:rPr sz="950" dirty="0">
                <a:solidFill>
                  <a:srgbClr val="F2F3F5"/>
                </a:solidFill>
                <a:latin typeface="Consolas"/>
              </a:rPr>
              <a:t> = </a:t>
            </a:r>
            <a:r>
              <a:rPr sz="950" dirty="0" err="1">
                <a:solidFill>
                  <a:srgbClr val="F2F3F5"/>
                </a:solidFill>
                <a:latin typeface="Consolas"/>
              </a:rPr>
              <a:t>df</a:t>
            </a:r>
            <a:r>
              <a:rPr sz="950" dirty="0">
                <a:solidFill>
                  <a:srgbClr val="F2F3F5"/>
                </a:solidFill>
                <a:latin typeface="Consolas"/>
              </a:rPr>
              <a:t>[</a:t>
            </a:r>
            <a:r>
              <a:rPr sz="950" dirty="0" err="1">
                <a:solidFill>
                  <a:srgbClr val="F2F3F5"/>
                </a:solidFill>
                <a:latin typeface="Consolas"/>
              </a:rPr>
              <a:t>df</a:t>
            </a:r>
            <a:r>
              <a:rPr sz="950" dirty="0">
                <a:solidFill>
                  <a:srgbClr val="F2F3F5"/>
                </a:solidFill>
                <a:latin typeface="Consolas"/>
              </a:rPr>
              <a:t>['Medal'] != 'No Medal']</a:t>
            </a:r>
          </a:p>
          <a:p>
            <a:pPr>
              <a:lnSpc>
                <a:spcPct val="100000"/>
              </a:lnSpc>
              <a:spcBef>
                <a:spcPts val="0"/>
              </a:spcBef>
              <a:spcAft>
                <a:spcPts val="0"/>
              </a:spcAft>
            </a:pPr>
            <a:r>
              <a:rPr sz="950" dirty="0">
                <a:solidFill>
                  <a:srgbClr val="F2F3F5"/>
                </a:solidFill>
                <a:latin typeface="Consolas"/>
              </a:rPr>
              <a:t>top10_nocs = </a:t>
            </a:r>
            <a:r>
              <a:rPr sz="950" dirty="0" err="1">
                <a:solidFill>
                  <a:srgbClr val="F2F3F5"/>
                </a:solidFill>
                <a:latin typeface="Consolas"/>
              </a:rPr>
              <a:t>medals_only.groupby</a:t>
            </a:r>
            <a:r>
              <a:rPr sz="950" dirty="0">
                <a:solidFill>
                  <a:srgbClr val="F2F3F5"/>
                </a:solidFill>
                <a:latin typeface="Consolas"/>
              </a:rPr>
              <a:t>('NOC').size().</a:t>
            </a:r>
            <a:r>
              <a:rPr sz="950" dirty="0" err="1">
                <a:solidFill>
                  <a:srgbClr val="F2F3F5"/>
                </a:solidFill>
                <a:latin typeface="Consolas"/>
              </a:rPr>
              <a:t>sort_values</a:t>
            </a:r>
            <a:r>
              <a:rPr sz="950" dirty="0">
                <a:solidFill>
                  <a:srgbClr val="F2F3F5"/>
                </a:solidFill>
                <a:latin typeface="Consolas"/>
              </a:rPr>
              <a:t>(ascending=False).head(10).</a:t>
            </a:r>
            <a:r>
              <a:rPr sz="950" dirty="0" err="1">
                <a:solidFill>
                  <a:srgbClr val="F2F3F5"/>
                </a:solidFill>
                <a:latin typeface="Consolas"/>
              </a:rPr>
              <a:t>index.tolist</a:t>
            </a:r>
            <a:r>
              <a:rPr sz="950" dirty="0">
                <a:solidFill>
                  <a:srgbClr val="F2F3F5"/>
                </a:solidFill>
                <a:latin typeface="Consolas"/>
              </a:rPr>
              <a:t>()</a:t>
            </a:r>
          </a:p>
          <a:p>
            <a:pPr>
              <a:lnSpc>
                <a:spcPct val="100000"/>
              </a:lnSpc>
              <a:spcBef>
                <a:spcPts val="0"/>
              </a:spcBef>
              <a:spcAft>
                <a:spcPts val="0"/>
              </a:spcAft>
            </a:pPr>
            <a:r>
              <a:rPr sz="950" dirty="0">
                <a:solidFill>
                  <a:srgbClr val="F2F3F5"/>
                </a:solidFill>
                <a:latin typeface="Consolas"/>
              </a:rPr>
              <a:t> </a:t>
            </a:r>
          </a:p>
          <a:p>
            <a:pPr>
              <a:lnSpc>
                <a:spcPct val="100000"/>
              </a:lnSpc>
              <a:spcBef>
                <a:spcPts val="0"/>
              </a:spcBef>
              <a:spcAft>
                <a:spcPts val="0"/>
              </a:spcAft>
            </a:pPr>
            <a:r>
              <a:rPr lang="en-IN" sz="950" dirty="0">
                <a:solidFill>
                  <a:srgbClr val="F2F3F5"/>
                </a:solidFill>
                <a:latin typeface="Consolas"/>
              </a:rPr>
              <a:t>B</a:t>
            </a:r>
            <a:r>
              <a:rPr sz="950" dirty="0" err="1">
                <a:solidFill>
                  <a:srgbClr val="F2F3F5"/>
                </a:solidFill>
                <a:latin typeface="Consolas"/>
              </a:rPr>
              <a:t>reakdown</a:t>
            </a:r>
            <a:r>
              <a:rPr lang="en-IN" sz="950" dirty="0">
                <a:solidFill>
                  <a:srgbClr val="F2F3F5"/>
                </a:solidFill>
                <a:latin typeface="Consolas"/>
              </a:rPr>
              <a:t> = </a:t>
            </a:r>
            <a:r>
              <a:rPr sz="950" dirty="0" err="1">
                <a:solidFill>
                  <a:srgbClr val="F2F3F5"/>
                </a:solidFill>
                <a:latin typeface="Consolas"/>
              </a:rPr>
              <a:t>medals_only</a:t>
            </a:r>
            <a:r>
              <a:rPr sz="950" dirty="0">
                <a:solidFill>
                  <a:srgbClr val="F2F3F5"/>
                </a:solidFill>
                <a:latin typeface="Consolas"/>
              </a:rPr>
              <a:t>[</a:t>
            </a:r>
            <a:r>
              <a:rPr sz="950" dirty="0" err="1">
                <a:solidFill>
                  <a:srgbClr val="F2F3F5"/>
                </a:solidFill>
                <a:latin typeface="Consolas"/>
              </a:rPr>
              <a:t>medals_only</a:t>
            </a:r>
            <a:r>
              <a:rPr sz="950" dirty="0">
                <a:solidFill>
                  <a:srgbClr val="F2F3F5"/>
                </a:solidFill>
                <a:latin typeface="Consolas"/>
              </a:rPr>
              <a:t>['NOC'].</a:t>
            </a:r>
            <a:r>
              <a:rPr sz="950" dirty="0" err="1">
                <a:solidFill>
                  <a:srgbClr val="F2F3F5"/>
                </a:solidFill>
                <a:latin typeface="Consolas"/>
              </a:rPr>
              <a:t>isin</a:t>
            </a:r>
            <a:r>
              <a:rPr sz="950" dirty="0">
                <a:solidFill>
                  <a:srgbClr val="F2F3F5"/>
                </a:solidFill>
                <a:latin typeface="Consolas"/>
              </a:rPr>
              <a:t>(top10_nocs)].</a:t>
            </a:r>
            <a:r>
              <a:rPr sz="950" dirty="0" err="1">
                <a:solidFill>
                  <a:srgbClr val="F2F3F5"/>
                </a:solidFill>
                <a:latin typeface="Consolas"/>
              </a:rPr>
              <a:t>groupby</a:t>
            </a:r>
            <a:r>
              <a:rPr sz="950" dirty="0">
                <a:solidFill>
                  <a:srgbClr val="F2F3F5"/>
                </a:solidFill>
                <a:latin typeface="Consolas"/>
              </a:rPr>
              <a:t>(['</a:t>
            </a:r>
            <a:r>
              <a:rPr sz="950" dirty="0" err="1">
                <a:solidFill>
                  <a:srgbClr val="F2F3F5"/>
                </a:solidFill>
                <a:latin typeface="Consolas"/>
              </a:rPr>
              <a:t>NOC','Medal</a:t>
            </a:r>
            <a:r>
              <a:rPr sz="950" dirty="0">
                <a:solidFill>
                  <a:srgbClr val="F2F3F5"/>
                </a:solidFill>
                <a:latin typeface="Consolas"/>
              </a:rPr>
              <a:t>']).size().unstack(</a:t>
            </a:r>
            <a:r>
              <a:rPr sz="950" dirty="0" err="1">
                <a:solidFill>
                  <a:srgbClr val="F2F3F5"/>
                </a:solidFill>
                <a:latin typeface="Consolas"/>
              </a:rPr>
              <a:t>fill_value</a:t>
            </a:r>
            <a:r>
              <a:rPr sz="950" dirty="0">
                <a:solidFill>
                  <a:srgbClr val="F2F3F5"/>
                </a:solidFill>
                <a:latin typeface="Consolas"/>
              </a:rPr>
              <a:t>=0)</a:t>
            </a:r>
          </a:p>
          <a:p>
            <a:pPr>
              <a:lnSpc>
                <a:spcPct val="100000"/>
              </a:lnSpc>
              <a:spcBef>
                <a:spcPts val="0"/>
              </a:spcBef>
              <a:spcAft>
                <a:spcPts val="0"/>
              </a:spcAft>
            </a:pPr>
            <a:r>
              <a:rPr sz="950" dirty="0">
                <a:solidFill>
                  <a:srgbClr val="F2F3F5"/>
                </a:solidFill>
                <a:latin typeface="Consolas"/>
              </a:rPr>
              <a:t>breakdown = </a:t>
            </a:r>
            <a:r>
              <a:rPr sz="950" dirty="0" err="1">
                <a:solidFill>
                  <a:srgbClr val="F2F3F5"/>
                </a:solidFill>
                <a:latin typeface="Consolas"/>
              </a:rPr>
              <a:t>breakdown.reindex</a:t>
            </a:r>
            <a:r>
              <a:rPr sz="950" dirty="0">
                <a:solidFill>
                  <a:srgbClr val="F2F3F5"/>
                </a:solidFill>
                <a:latin typeface="Consolas"/>
              </a:rPr>
              <a:t>(top10_nocs)[['</a:t>
            </a:r>
            <a:r>
              <a:rPr sz="950" dirty="0" err="1">
                <a:solidFill>
                  <a:srgbClr val="F2F3F5"/>
                </a:solidFill>
                <a:latin typeface="Consolas"/>
              </a:rPr>
              <a:t>Gold','Silver','Bronze</a:t>
            </a:r>
            <a:r>
              <a:rPr sz="950" dirty="0">
                <a:solidFill>
                  <a:srgbClr val="F2F3F5"/>
                </a:solidFill>
                <a:latin typeface="Consolas"/>
              </a:rPr>
              <a:t>']]</a:t>
            </a:r>
          </a:p>
          <a:p>
            <a:pPr>
              <a:lnSpc>
                <a:spcPct val="100000"/>
              </a:lnSpc>
              <a:spcBef>
                <a:spcPts val="0"/>
              </a:spcBef>
              <a:spcAft>
                <a:spcPts val="0"/>
              </a:spcAft>
            </a:pPr>
            <a:r>
              <a:rPr sz="950" dirty="0">
                <a:solidFill>
                  <a:srgbClr val="F2F3F5"/>
                </a:solidFill>
                <a:latin typeface="Consolas"/>
              </a:rPr>
              <a:t> </a:t>
            </a:r>
          </a:p>
          <a:p>
            <a:pPr>
              <a:lnSpc>
                <a:spcPct val="100000"/>
              </a:lnSpc>
              <a:spcBef>
                <a:spcPts val="0"/>
              </a:spcBef>
              <a:spcAft>
                <a:spcPts val="0"/>
              </a:spcAft>
            </a:pPr>
            <a:r>
              <a:rPr sz="950" dirty="0" err="1">
                <a:solidFill>
                  <a:srgbClr val="F2F3F5"/>
                </a:solidFill>
                <a:latin typeface="Consolas"/>
              </a:rPr>
              <a:t>breakdown.plot</a:t>
            </a:r>
            <a:r>
              <a:rPr sz="950" dirty="0">
                <a:solidFill>
                  <a:srgbClr val="F2F3F5"/>
                </a:solidFill>
                <a:latin typeface="Consolas"/>
              </a:rPr>
              <a:t>(kind='bar', </a:t>
            </a:r>
            <a:r>
              <a:rPr sz="950" dirty="0" err="1">
                <a:solidFill>
                  <a:srgbClr val="F2F3F5"/>
                </a:solidFill>
                <a:latin typeface="Consolas"/>
              </a:rPr>
              <a:t>figsize</a:t>
            </a:r>
            <a:r>
              <a:rPr sz="950" dirty="0">
                <a:solidFill>
                  <a:srgbClr val="F2F3F5"/>
                </a:solidFill>
                <a:latin typeface="Consolas"/>
              </a:rPr>
              <a:t>=(12,6), color=['gold','silver','#cd7f32'])</a:t>
            </a:r>
          </a:p>
          <a:p>
            <a:pPr>
              <a:lnSpc>
                <a:spcPct val="100000"/>
              </a:lnSpc>
              <a:spcBef>
                <a:spcPts val="0"/>
              </a:spcBef>
              <a:spcAft>
                <a:spcPts val="0"/>
              </a:spcAft>
            </a:pPr>
            <a:r>
              <a:rPr sz="950" dirty="0" err="1">
                <a:solidFill>
                  <a:srgbClr val="F2F3F5"/>
                </a:solidFill>
                <a:latin typeface="Consolas"/>
              </a:rPr>
              <a:t>plt.title</a:t>
            </a:r>
            <a:r>
              <a:rPr sz="950" dirty="0">
                <a:solidFill>
                  <a:srgbClr val="F2F3F5"/>
                </a:solidFill>
                <a:latin typeface="Consolas"/>
              </a:rPr>
              <a:t>('Top 10 Countries by Medal Count (1896-2016)')</a:t>
            </a:r>
          </a:p>
          <a:p>
            <a:pPr>
              <a:lnSpc>
                <a:spcPct val="100000"/>
              </a:lnSpc>
              <a:spcBef>
                <a:spcPts val="0"/>
              </a:spcBef>
              <a:spcAft>
                <a:spcPts val="0"/>
              </a:spcAft>
            </a:pPr>
            <a:r>
              <a:rPr sz="950" dirty="0" err="1">
                <a:solidFill>
                  <a:srgbClr val="F2F3F5"/>
                </a:solidFill>
                <a:latin typeface="Consolas"/>
              </a:rPr>
              <a:t>plt.xlabel</a:t>
            </a:r>
            <a:r>
              <a:rPr sz="950" dirty="0">
                <a:solidFill>
                  <a:srgbClr val="F2F3F5"/>
                </a:solidFill>
                <a:latin typeface="Consolas"/>
              </a:rPr>
              <a:t>('Country (NOC)')</a:t>
            </a:r>
          </a:p>
          <a:p>
            <a:pPr>
              <a:lnSpc>
                <a:spcPct val="100000"/>
              </a:lnSpc>
              <a:spcBef>
                <a:spcPts val="0"/>
              </a:spcBef>
              <a:spcAft>
                <a:spcPts val="0"/>
              </a:spcAft>
            </a:pPr>
            <a:r>
              <a:rPr sz="950" dirty="0" err="1">
                <a:solidFill>
                  <a:srgbClr val="F2F3F5"/>
                </a:solidFill>
                <a:latin typeface="Consolas"/>
              </a:rPr>
              <a:t>plt.ylabel</a:t>
            </a:r>
            <a:r>
              <a:rPr sz="950" dirty="0">
                <a:solidFill>
                  <a:srgbClr val="F2F3F5"/>
                </a:solidFill>
                <a:latin typeface="Consolas"/>
              </a:rPr>
              <a:t>('Medal Count')</a:t>
            </a:r>
          </a:p>
          <a:p>
            <a:pPr>
              <a:lnSpc>
                <a:spcPct val="100000"/>
              </a:lnSpc>
              <a:spcBef>
                <a:spcPts val="0"/>
              </a:spcBef>
              <a:spcAft>
                <a:spcPts val="0"/>
              </a:spcAft>
            </a:pPr>
            <a:r>
              <a:rPr sz="950" dirty="0" err="1">
                <a:solidFill>
                  <a:srgbClr val="F2F3F5"/>
                </a:solidFill>
                <a:latin typeface="Consolas"/>
              </a:rPr>
              <a:t>plt.xticks</a:t>
            </a:r>
            <a:r>
              <a:rPr sz="950" dirty="0">
                <a:solidFill>
                  <a:srgbClr val="F2F3F5"/>
                </a:solidFill>
                <a:latin typeface="Consolas"/>
              </a:rPr>
              <a:t>(rotation=45)</a:t>
            </a:r>
          </a:p>
          <a:p>
            <a:pPr>
              <a:lnSpc>
                <a:spcPct val="100000"/>
              </a:lnSpc>
              <a:spcBef>
                <a:spcPts val="0"/>
              </a:spcBef>
              <a:spcAft>
                <a:spcPts val="0"/>
              </a:spcAft>
            </a:pPr>
            <a:r>
              <a:rPr sz="950" dirty="0" err="1">
                <a:solidFill>
                  <a:srgbClr val="F2F3F5"/>
                </a:solidFill>
                <a:latin typeface="Consolas"/>
              </a:rPr>
              <a:t>plt.legend</a:t>
            </a:r>
            <a:r>
              <a:rPr sz="950" dirty="0">
                <a:solidFill>
                  <a:srgbClr val="F2F3F5"/>
                </a:solidFill>
                <a:latin typeface="Consolas"/>
              </a:rPr>
              <a:t>(title='Medal Type')</a:t>
            </a:r>
          </a:p>
          <a:p>
            <a:pPr>
              <a:lnSpc>
                <a:spcPct val="100000"/>
              </a:lnSpc>
              <a:spcBef>
                <a:spcPts val="0"/>
              </a:spcBef>
              <a:spcAft>
                <a:spcPts val="0"/>
              </a:spcAft>
            </a:pPr>
            <a:r>
              <a:rPr sz="950" dirty="0" err="1">
                <a:solidFill>
                  <a:srgbClr val="F2F3F5"/>
                </a:solidFill>
                <a:latin typeface="Consolas"/>
              </a:rPr>
              <a:t>plt.tight_layout</a:t>
            </a:r>
            <a:r>
              <a:rPr sz="950" dirty="0">
                <a:solidFill>
                  <a:srgbClr val="F2F3F5"/>
                </a:solidFill>
                <a:latin typeface="Consolas"/>
              </a:rPr>
              <a:t>()</a:t>
            </a:r>
          </a:p>
          <a:p>
            <a:pPr>
              <a:lnSpc>
                <a:spcPct val="100000"/>
              </a:lnSpc>
              <a:spcBef>
                <a:spcPts val="0"/>
              </a:spcBef>
              <a:spcAft>
                <a:spcPts val="0"/>
              </a:spcAft>
            </a:pPr>
            <a:r>
              <a:rPr sz="950" dirty="0" err="1">
                <a:solidFill>
                  <a:srgbClr val="F2F3F5"/>
                </a:solidFill>
                <a:latin typeface="Consolas"/>
              </a:rPr>
              <a:t>plt.show</a:t>
            </a:r>
            <a:r>
              <a:rPr sz="950" dirty="0">
                <a:solidFill>
                  <a:srgbClr val="F2F3F5"/>
                </a:solidFill>
                <a:latin typeface="Consolas"/>
              </a:rPr>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02920" y="237744"/>
            <a:ext cx="2926080" cy="274320"/>
          </a:xfrm>
          <a:prstGeom prst="rect">
            <a:avLst/>
          </a:prstGeom>
          <a:noFill/>
          <a:ln/>
        </p:spPr>
        <p:txBody>
          <a:bodyPr wrap="square" lIns="0" tIns="0" rIns="0" bIns="0" rtlCol="0" anchor="ctr"/>
          <a:lstStyle/>
          <a:p>
            <a:pPr marL="0" indent="0">
              <a:buNone/>
            </a:pPr>
            <a:r>
              <a:rPr lang="en-US" sz="1050" b="1" dirty="0">
                <a:solidFill>
                  <a:srgbClr val="0A0A0A"/>
                </a:solidFill>
                <a:latin typeface="Arial" pitchFamily="34" charset="0"/>
                <a:ea typeface="Arial" pitchFamily="34" charset="-122"/>
                <a:cs typeface="Arial" pitchFamily="34" charset="-120"/>
              </a:rPr>
              <a:t>Olympic Athlete Analysis</a:t>
            </a:r>
            <a:endParaRPr lang="en-US" sz="1050" dirty="0"/>
          </a:p>
        </p:txBody>
      </p:sp>
      <p:sp>
        <p:nvSpPr>
          <p:cNvPr id="3" name="Text 1"/>
          <p:cNvSpPr txBox="1"/>
          <p:nvPr/>
        </p:nvSpPr>
        <p:spPr>
          <a:xfrm>
            <a:off x="434340" y="640080"/>
            <a:ext cx="3246120" cy="1188720"/>
          </a:xfrm>
          <a:prstGeom prst="rect">
            <a:avLst/>
          </a:prstGeom>
          <a:noFill/>
          <a:ln/>
        </p:spPr>
        <p:txBody>
          <a:bodyPr wrap="square" lIns="0" tIns="0" rIns="0" bIns="0" rtlCol="0" anchor="t"/>
          <a:lstStyle/>
          <a:p>
            <a:pPr marL="0" indent="0">
              <a:lnSpc>
                <a:spcPts val="2900"/>
              </a:lnSpc>
              <a:buNone/>
            </a:pPr>
            <a:r>
              <a:rPr lang="en-US" sz="2900" kern="0" spc="-50" dirty="0">
                <a:solidFill>
                  <a:srgbClr val="0A0A0A"/>
                </a:solidFill>
                <a:latin typeface="Arial Black" pitchFamily="34" charset="0"/>
                <a:ea typeface="Arial Black" pitchFamily="34" charset="-122"/>
                <a:cs typeface="Arial Black" pitchFamily="34" charset="-120"/>
              </a:rPr>
              <a:t>MEDAL</a:t>
            </a:r>
            <a:endParaRPr lang="en-US" sz="2900" dirty="0"/>
          </a:p>
          <a:p>
            <a:r>
              <a:rPr lang="en-US" sz="2900" kern="0" spc="-50" dirty="0">
                <a:solidFill>
                  <a:srgbClr val="0A0A0A"/>
                </a:solidFill>
                <a:latin typeface="Arial Black" pitchFamily="34" charset="0"/>
                <a:ea typeface="Arial Black" pitchFamily="34" charset="-122"/>
                <a:cs typeface="Arial Black" pitchFamily="34" charset="-120"/>
              </a:rPr>
              <a:t>DISTRIBUTION BY NOC</a:t>
            </a:r>
            <a:endParaRPr lang="en-US" sz="2900" dirty="0"/>
          </a:p>
        </p:txBody>
      </p:sp>
      <p:sp>
        <p:nvSpPr>
          <p:cNvPr id="4" name="Text 2"/>
          <p:cNvSpPr txBox="1"/>
          <p:nvPr/>
        </p:nvSpPr>
        <p:spPr>
          <a:xfrm>
            <a:off x="434340" y="2240280"/>
            <a:ext cx="3108960" cy="2103120"/>
          </a:xfrm>
          <a:prstGeom prst="rect">
            <a:avLst/>
          </a:prstGeom>
          <a:noFill/>
          <a:ln/>
        </p:spPr>
        <p:txBody>
          <a:bodyPr wrap="square" lIns="0" tIns="0" rIns="0" bIns="0" rtlCol="0" anchor="ctr"/>
          <a:lstStyle/>
          <a:p>
            <a:r>
              <a:rPr lang="en-IN" sz="1050" dirty="0">
                <a:solidFill>
                  <a:schemeClr val="bg2">
                    <a:lumMod val="50000"/>
                  </a:schemeClr>
                </a:solidFill>
                <a:latin typeface="Arial" panose="020B0604020202020204" pitchFamily="34" charset="0"/>
                <a:cs typeface="Arial" panose="020B0604020202020204" pitchFamily="34" charset="0"/>
              </a:rPr>
              <a:t>The USA leads with 5,637 medal-events, more than double the next-highest country (the Soviet-era URS, 2,503). The top 10 NOCs alone account for 53.2% of all 39,772 medal-events ever recorded, showing medal success has stayed concentrated in a small group of historically dominant nations.</a:t>
            </a:r>
            <a:endParaRPr lang="en-US" sz="1050" dirty="0">
              <a:solidFill>
                <a:schemeClr val="bg2">
                  <a:lumMod val="50000"/>
                </a:schemeClr>
              </a:solidFill>
              <a:latin typeface="Arial" panose="020B0604020202020204" pitchFamily="34" charset="0"/>
              <a:cs typeface="Arial" panose="020B0604020202020204" pitchFamily="34" charset="0"/>
            </a:endParaRPr>
          </a:p>
        </p:txBody>
      </p:sp>
      <p:sp>
        <p:nvSpPr>
          <p:cNvPr id="5" name="Text 3"/>
          <p:cNvSpPr txBox="1"/>
          <p:nvPr/>
        </p:nvSpPr>
        <p:spPr>
          <a:xfrm>
            <a:off x="434340" y="1956816"/>
            <a:ext cx="3177540" cy="497996"/>
          </a:xfrm>
          <a:prstGeom prst="rect">
            <a:avLst/>
          </a:prstGeom>
          <a:noFill/>
          <a:ln/>
        </p:spPr>
        <p:txBody>
          <a:bodyPr wrap="square" lIns="0" tIns="0" rIns="0" bIns="0" rtlCol="0" anchor="ctr"/>
          <a:lstStyle/>
          <a:p>
            <a:pPr marL="0" indent="0">
              <a:buNone/>
            </a:pPr>
            <a:r>
              <a:rPr lang="en-US" sz="1900" dirty="0">
                <a:solidFill>
                  <a:srgbClr val="C8A45C"/>
                </a:solidFill>
                <a:latin typeface="Arial Black" pitchFamily="34" charset="0"/>
                <a:ea typeface="Arial Black" pitchFamily="34" charset="-122"/>
                <a:cs typeface="Arial Black" pitchFamily="34" charset="-120"/>
              </a:rPr>
              <a:t>USA 5,637 medals</a:t>
            </a:r>
            <a:endParaRPr lang="en-US" sz="1900" dirty="0"/>
          </a:p>
        </p:txBody>
      </p:sp>
      <p:pic>
        <p:nvPicPr>
          <p:cNvPr id="8" name="Picture 7">
            <a:extLst>
              <a:ext uri="{FF2B5EF4-FFF2-40B4-BE49-F238E27FC236}">
                <a16:creationId xmlns:a16="http://schemas.microsoft.com/office/drawing/2014/main" id="{44F2EECE-26A1-648F-9144-CD5F86B15D3F}"/>
              </a:ext>
            </a:extLst>
          </p:cNvPr>
          <p:cNvPicPr>
            <a:picLocks noChangeAspect="1"/>
          </p:cNvPicPr>
          <p:nvPr/>
        </p:nvPicPr>
        <p:blipFill>
          <a:blip r:embed="rId3">
            <a:alphaModFix amt="70000"/>
            <a:extLst>
              <a:ext uri="{BEBA8EAE-BF5A-486C-A8C5-ECC9F3942E4B}">
                <a14:imgProps xmlns:a14="http://schemas.microsoft.com/office/drawing/2010/main">
                  <a14:imgLayer r:embed="rId4">
                    <a14:imgEffect>
                      <a14:saturation sat="66000"/>
                    </a14:imgEffect>
                  </a14:imgLayer>
                </a14:imgProps>
              </a:ext>
            </a:extLst>
          </a:blip>
          <a:stretch>
            <a:fillRect/>
          </a:stretch>
        </p:blipFill>
        <p:spPr>
          <a:xfrm>
            <a:off x="3749041" y="1434904"/>
            <a:ext cx="4960620" cy="280650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7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37744"/>
            <a:ext cx="2926080" cy="274320"/>
          </a:xfrm>
          <a:prstGeom prst="rect">
            <a:avLst/>
          </a:prstGeom>
          <a:noFill/>
        </p:spPr>
        <p:txBody>
          <a:bodyPr wrap="square">
            <a:spAutoFit/>
          </a:bodyPr>
          <a:lstStyle/>
          <a:p>
            <a:r>
              <a:rPr sz="1050" b="1">
                <a:solidFill>
                  <a:srgbClr val="0A0A0A"/>
                </a:solidFill>
                <a:latin typeface="Arial"/>
              </a:rPr>
              <a:t>Olympic Athlete Analysis</a:t>
            </a:r>
          </a:p>
        </p:txBody>
      </p:sp>
      <p:sp>
        <p:nvSpPr>
          <p:cNvPr id="3" name="TextBox 2"/>
          <p:cNvSpPr txBox="1"/>
          <p:nvPr/>
        </p:nvSpPr>
        <p:spPr>
          <a:xfrm>
            <a:off x="502920" y="600000"/>
            <a:ext cx="8138160" cy="500000"/>
          </a:xfrm>
          <a:prstGeom prst="rect">
            <a:avLst/>
          </a:prstGeom>
          <a:noFill/>
        </p:spPr>
        <p:txBody>
          <a:bodyPr wrap="square">
            <a:spAutoFit/>
          </a:bodyPr>
          <a:lstStyle/>
          <a:p>
            <a:r>
              <a:rPr sz="2200" b="1">
                <a:solidFill>
                  <a:srgbClr val="0A0A0A"/>
                </a:solidFill>
                <a:latin typeface="Arial Black"/>
              </a:rPr>
              <a:t>AGE PROFILE</a:t>
            </a:r>
          </a:p>
        </p:txBody>
      </p:sp>
      <p:sp>
        <p:nvSpPr>
          <p:cNvPr id="4" name="TextBox 3"/>
          <p:cNvSpPr txBox="1"/>
          <p:nvPr/>
        </p:nvSpPr>
        <p:spPr>
          <a:xfrm>
            <a:off x="502920" y="1060000"/>
            <a:ext cx="8138160" cy="320000"/>
          </a:xfrm>
          <a:prstGeom prst="rect">
            <a:avLst/>
          </a:prstGeom>
          <a:noFill/>
        </p:spPr>
        <p:txBody>
          <a:bodyPr wrap="square">
            <a:spAutoFit/>
          </a:bodyPr>
          <a:lstStyle/>
          <a:p>
            <a:r>
              <a:rPr sz="1300" b="1">
                <a:solidFill>
                  <a:srgbClr val="C8A45C"/>
                </a:solidFill>
                <a:latin typeface="Arial"/>
              </a:rPr>
              <a:t>PYTHON — SOURCE CODE</a:t>
            </a:r>
          </a:p>
        </p:txBody>
      </p:sp>
      <p:sp>
        <p:nvSpPr>
          <p:cNvPr id="5" name="Rounded Rectangle 4"/>
          <p:cNvSpPr/>
          <p:nvPr/>
        </p:nvSpPr>
        <p:spPr>
          <a:xfrm>
            <a:off x="502920" y="1420000"/>
            <a:ext cx="8138160" cy="3480000"/>
          </a:xfrm>
          <a:prstGeom prst="roundRect">
            <a:avLst>
              <a:gd name="adj" fmla="val 3500"/>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580000"/>
            <a:ext cx="7680960" cy="3160000"/>
          </a:xfrm>
          <a:prstGeom prst="rect">
            <a:avLst/>
          </a:prstGeom>
          <a:noFill/>
        </p:spPr>
        <p:txBody>
          <a:bodyPr wrap="square">
            <a:noAutofit/>
          </a:bodyPr>
          <a:lstStyle/>
          <a:p>
            <a:pPr>
              <a:lnSpc>
                <a:spcPct val="100000"/>
              </a:lnSpc>
              <a:spcBef>
                <a:spcPts val="0"/>
              </a:spcBef>
              <a:spcAft>
                <a:spcPts val="0"/>
              </a:spcAft>
            </a:pPr>
            <a:r>
              <a:rPr sz="863">
                <a:solidFill>
                  <a:srgbClr val="F2F3F5"/>
                </a:solidFill>
                <a:latin typeface="Consolas"/>
              </a:rPr>
              <a:t>import matplotlib.pyplot as plt</a:t>
            </a:r>
          </a:p>
          <a:p>
            <a:pPr>
              <a:lnSpc>
                <a:spcPct val="100000"/>
              </a:lnSpc>
              <a:spcBef>
                <a:spcPts val="0"/>
              </a:spcBef>
              <a:spcAft>
                <a:spcPts val="0"/>
              </a:spcAft>
            </a:pPr>
            <a:r>
              <a:rPr sz="863">
                <a:solidFill>
                  <a:srgbClr val="F2F3F5"/>
                </a:solidFill>
                <a:latin typeface="Consolas"/>
              </a:rPr>
              <a:t> </a:t>
            </a:r>
          </a:p>
          <a:p>
            <a:pPr>
              <a:lnSpc>
                <a:spcPct val="100000"/>
              </a:lnSpc>
              <a:spcBef>
                <a:spcPts val="0"/>
              </a:spcBef>
              <a:spcAft>
                <a:spcPts val="0"/>
              </a:spcAft>
            </a:pPr>
            <a:r>
              <a:rPr sz="863">
                <a:solidFill>
                  <a:srgbClr val="F2F3F5"/>
                </a:solidFill>
                <a:latin typeface="Consolas"/>
              </a:rPr>
              <a:t>plt.figure(figsize=(10,6))</a:t>
            </a:r>
          </a:p>
          <a:p>
            <a:pPr>
              <a:lnSpc>
                <a:spcPct val="100000"/>
              </a:lnSpc>
              <a:spcBef>
                <a:spcPts val="0"/>
              </a:spcBef>
              <a:spcAft>
                <a:spcPts val="0"/>
              </a:spcAft>
            </a:pPr>
            <a:r>
              <a:rPr sz="863">
                <a:solidFill>
                  <a:srgbClr val="F2F3F5"/>
                </a:solidFill>
                <a:latin typeface="Consolas"/>
              </a:rPr>
              <a:t> </a:t>
            </a:r>
          </a:p>
          <a:p>
            <a:pPr>
              <a:lnSpc>
                <a:spcPct val="100000"/>
              </a:lnSpc>
              <a:spcBef>
                <a:spcPts val="0"/>
              </a:spcBef>
              <a:spcAft>
                <a:spcPts val="0"/>
              </a:spcAft>
            </a:pPr>
            <a:r>
              <a:rPr sz="863">
                <a:solidFill>
                  <a:srgbClr val="F2F3F5"/>
                </a:solidFill>
                <a:latin typeface="Consolas"/>
              </a:rPr>
              <a:t>plt.hist(</a:t>
            </a:r>
          </a:p>
          <a:p>
            <a:pPr>
              <a:lnSpc>
                <a:spcPct val="100000"/>
              </a:lnSpc>
              <a:spcBef>
                <a:spcPts val="0"/>
              </a:spcBef>
              <a:spcAft>
                <a:spcPts val="0"/>
              </a:spcAft>
            </a:pPr>
            <a:r>
              <a:rPr sz="863">
                <a:solidFill>
                  <a:srgbClr val="F2F3F5"/>
                </a:solidFill>
                <a:latin typeface="Consolas"/>
              </a:rPr>
              <a:t>    df['Age'],</a:t>
            </a:r>
          </a:p>
          <a:p>
            <a:pPr>
              <a:lnSpc>
                <a:spcPct val="100000"/>
              </a:lnSpc>
              <a:spcBef>
                <a:spcPts val="0"/>
              </a:spcBef>
              <a:spcAft>
                <a:spcPts val="0"/>
              </a:spcAft>
            </a:pPr>
            <a:r>
              <a:rPr sz="863">
                <a:solidFill>
                  <a:srgbClr val="F2F3F5"/>
                </a:solidFill>
                <a:latin typeface="Consolas"/>
              </a:rPr>
              <a:t>    bins=40,</a:t>
            </a:r>
          </a:p>
          <a:p>
            <a:pPr>
              <a:lnSpc>
                <a:spcPct val="100000"/>
              </a:lnSpc>
              <a:spcBef>
                <a:spcPts val="0"/>
              </a:spcBef>
              <a:spcAft>
                <a:spcPts val="0"/>
              </a:spcAft>
            </a:pPr>
            <a:r>
              <a:rPr sz="863">
                <a:solidFill>
                  <a:srgbClr val="F2F3F5"/>
                </a:solidFill>
                <a:latin typeface="Consolas"/>
              </a:rPr>
              <a:t>    color='steelblue',</a:t>
            </a:r>
          </a:p>
          <a:p>
            <a:pPr>
              <a:lnSpc>
                <a:spcPct val="100000"/>
              </a:lnSpc>
              <a:spcBef>
                <a:spcPts val="0"/>
              </a:spcBef>
              <a:spcAft>
                <a:spcPts val="0"/>
              </a:spcAft>
            </a:pPr>
            <a:r>
              <a:rPr sz="863">
                <a:solidFill>
                  <a:srgbClr val="F2F3F5"/>
                </a:solidFill>
                <a:latin typeface="Consolas"/>
              </a:rPr>
              <a:t>    edgecolor='black'</a:t>
            </a:r>
          </a:p>
          <a:p>
            <a:pPr>
              <a:lnSpc>
                <a:spcPct val="100000"/>
              </a:lnSpc>
              <a:spcBef>
                <a:spcPts val="0"/>
              </a:spcBef>
              <a:spcAft>
                <a:spcPts val="0"/>
              </a:spcAft>
            </a:pPr>
            <a:r>
              <a:rPr sz="863">
                <a:solidFill>
                  <a:srgbClr val="F2F3F5"/>
                </a:solidFill>
                <a:latin typeface="Consolas"/>
              </a:rPr>
              <a:t>)</a:t>
            </a:r>
          </a:p>
          <a:p>
            <a:pPr>
              <a:lnSpc>
                <a:spcPct val="100000"/>
              </a:lnSpc>
              <a:spcBef>
                <a:spcPts val="0"/>
              </a:spcBef>
              <a:spcAft>
                <a:spcPts val="0"/>
              </a:spcAft>
            </a:pPr>
            <a:r>
              <a:rPr sz="863">
                <a:solidFill>
                  <a:srgbClr val="F2F3F5"/>
                </a:solidFill>
                <a:latin typeface="Consolas"/>
              </a:rPr>
              <a:t> </a:t>
            </a:r>
          </a:p>
          <a:p>
            <a:pPr>
              <a:lnSpc>
                <a:spcPct val="100000"/>
              </a:lnSpc>
              <a:spcBef>
                <a:spcPts val="0"/>
              </a:spcBef>
              <a:spcAft>
                <a:spcPts val="0"/>
              </a:spcAft>
            </a:pPr>
            <a:r>
              <a:rPr sz="863">
                <a:solidFill>
                  <a:srgbClr val="F2F3F5"/>
                </a:solidFill>
                <a:latin typeface="Consolas"/>
              </a:rPr>
              <a:t>plt.axvline(</a:t>
            </a:r>
          </a:p>
          <a:p>
            <a:pPr>
              <a:lnSpc>
                <a:spcPct val="100000"/>
              </a:lnSpc>
              <a:spcBef>
                <a:spcPts val="0"/>
              </a:spcBef>
              <a:spcAft>
                <a:spcPts val="0"/>
              </a:spcAft>
            </a:pPr>
            <a:r>
              <a:rPr sz="863">
                <a:solidFill>
                  <a:srgbClr val="F2F3F5"/>
                </a:solidFill>
                <a:latin typeface="Consolas"/>
              </a:rPr>
              <a:t>    df['Age'].median(),</a:t>
            </a:r>
          </a:p>
          <a:p>
            <a:pPr>
              <a:lnSpc>
                <a:spcPct val="100000"/>
              </a:lnSpc>
              <a:spcBef>
                <a:spcPts val="0"/>
              </a:spcBef>
              <a:spcAft>
                <a:spcPts val="0"/>
              </a:spcAft>
            </a:pPr>
            <a:r>
              <a:rPr sz="863">
                <a:solidFill>
                  <a:srgbClr val="F2F3F5"/>
                </a:solidFill>
                <a:latin typeface="Consolas"/>
              </a:rPr>
              <a:t>    color='red',</a:t>
            </a:r>
          </a:p>
          <a:p>
            <a:pPr>
              <a:lnSpc>
                <a:spcPct val="100000"/>
              </a:lnSpc>
              <a:spcBef>
                <a:spcPts val="0"/>
              </a:spcBef>
              <a:spcAft>
                <a:spcPts val="0"/>
              </a:spcAft>
            </a:pPr>
            <a:r>
              <a:rPr sz="863">
                <a:solidFill>
                  <a:srgbClr val="F2F3F5"/>
                </a:solidFill>
                <a:latin typeface="Consolas"/>
              </a:rPr>
              <a:t>    linestyle='--',</a:t>
            </a:r>
          </a:p>
          <a:p>
            <a:pPr>
              <a:lnSpc>
                <a:spcPct val="100000"/>
              </a:lnSpc>
              <a:spcBef>
                <a:spcPts val="0"/>
              </a:spcBef>
              <a:spcAft>
                <a:spcPts val="0"/>
              </a:spcAft>
            </a:pPr>
            <a:r>
              <a:rPr sz="863">
                <a:solidFill>
                  <a:srgbClr val="F2F3F5"/>
                </a:solidFill>
                <a:latin typeface="Consolas"/>
              </a:rPr>
              <a:t>    label=f'Median: {df["Age"].median():.0f}'</a:t>
            </a:r>
          </a:p>
          <a:p>
            <a:pPr>
              <a:lnSpc>
                <a:spcPct val="100000"/>
              </a:lnSpc>
              <a:spcBef>
                <a:spcPts val="0"/>
              </a:spcBef>
              <a:spcAft>
                <a:spcPts val="0"/>
              </a:spcAft>
            </a:pPr>
            <a:r>
              <a:rPr sz="863">
                <a:solidFill>
                  <a:srgbClr val="F2F3F5"/>
                </a:solidFill>
                <a:latin typeface="Consolas"/>
              </a:rPr>
              <a:t>)</a:t>
            </a:r>
          </a:p>
          <a:p>
            <a:pPr>
              <a:lnSpc>
                <a:spcPct val="100000"/>
              </a:lnSpc>
              <a:spcBef>
                <a:spcPts val="0"/>
              </a:spcBef>
              <a:spcAft>
                <a:spcPts val="0"/>
              </a:spcAft>
            </a:pPr>
            <a:r>
              <a:rPr sz="863">
                <a:solidFill>
                  <a:srgbClr val="F2F3F5"/>
                </a:solidFill>
                <a:latin typeface="Consolas"/>
              </a:rPr>
              <a:t> </a:t>
            </a:r>
          </a:p>
          <a:p>
            <a:pPr>
              <a:lnSpc>
                <a:spcPct val="100000"/>
              </a:lnSpc>
              <a:spcBef>
                <a:spcPts val="0"/>
              </a:spcBef>
              <a:spcAft>
                <a:spcPts val="0"/>
              </a:spcAft>
            </a:pPr>
            <a:r>
              <a:rPr sz="863">
                <a:solidFill>
                  <a:srgbClr val="F2F3F5"/>
                </a:solidFill>
                <a:latin typeface="Consolas"/>
              </a:rPr>
              <a:t>plt.title('Distribution of Olympic Athlete Ages (1896-2016)')</a:t>
            </a:r>
          </a:p>
          <a:p>
            <a:pPr>
              <a:lnSpc>
                <a:spcPct val="100000"/>
              </a:lnSpc>
              <a:spcBef>
                <a:spcPts val="0"/>
              </a:spcBef>
              <a:spcAft>
                <a:spcPts val="0"/>
              </a:spcAft>
            </a:pPr>
            <a:r>
              <a:rPr sz="863">
                <a:solidFill>
                  <a:srgbClr val="F2F3F5"/>
                </a:solidFill>
                <a:latin typeface="Consolas"/>
              </a:rPr>
              <a:t>plt.xlabel('Age')</a:t>
            </a:r>
          </a:p>
          <a:p>
            <a:pPr>
              <a:lnSpc>
                <a:spcPct val="100000"/>
              </a:lnSpc>
              <a:spcBef>
                <a:spcPts val="0"/>
              </a:spcBef>
              <a:spcAft>
                <a:spcPts val="0"/>
              </a:spcAft>
            </a:pPr>
            <a:r>
              <a:rPr sz="863">
                <a:solidFill>
                  <a:srgbClr val="F2F3F5"/>
                </a:solidFill>
                <a:latin typeface="Consolas"/>
              </a:rPr>
              <a:t>plt.ylabel('Number of Athlete-Events')</a:t>
            </a:r>
          </a:p>
          <a:p>
            <a:pPr>
              <a:lnSpc>
                <a:spcPct val="100000"/>
              </a:lnSpc>
              <a:spcBef>
                <a:spcPts val="0"/>
              </a:spcBef>
              <a:spcAft>
                <a:spcPts val="0"/>
              </a:spcAft>
            </a:pPr>
            <a:r>
              <a:rPr sz="863">
                <a:solidFill>
                  <a:srgbClr val="F2F3F5"/>
                </a:solidFill>
                <a:latin typeface="Consolas"/>
              </a:rPr>
              <a:t>plt.legend()</a:t>
            </a:r>
          </a:p>
          <a:p>
            <a:pPr>
              <a:lnSpc>
                <a:spcPct val="100000"/>
              </a:lnSpc>
              <a:spcBef>
                <a:spcPts val="0"/>
              </a:spcBef>
              <a:spcAft>
                <a:spcPts val="0"/>
              </a:spcAft>
            </a:pPr>
            <a:r>
              <a:rPr sz="863">
                <a:solidFill>
                  <a:srgbClr val="F2F3F5"/>
                </a:solidFill>
                <a:latin typeface="Consolas"/>
              </a:rPr>
              <a:t> </a:t>
            </a:r>
          </a:p>
          <a:p>
            <a:pPr>
              <a:lnSpc>
                <a:spcPct val="100000"/>
              </a:lnSpc>
              <a:spcBef>
                <a:spcPts val="0"/>
              </a:spcBef>
              <a:spcAft>
                <a:spcPts val="0"/>
              </a:spcAft>
            </a:pPr>
            <a:r>
              <a:rPr sz="863">
                <a:solidFill>
                  <a:srgbClr val="F2F3F5"/>
                </a:solidFill>
                <a:latin typeface="Consolas"/>
              </a:rPr>
              <a:t>plt.show()</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02920" y="237744"/>
            <a:ext cx="2926080" cy="274320"/>
          </a:xfrm>
          <a:prstGeom prst="rect">
            <a:avLst/>
          </a:prstGeom>
          <a:noFill/>
          <a:ln/>
        </p:spPr>
        <p:txBody>
          <a:bodyPr wrap="square" lIns="0" tIns="0" rIns="0" bIns="0" rtlCol="0" anchor="ctr"/>
          <a:lstStyle/>
          <a:p>
            <a:pPr marL="0" indent="0">
              <a:buNone/>
            </a:pPr>
            <a:r>
              <a:rPr lang="en-US" sz="1050" b="1" dirty="0">
                <a:solidFill>
                  <a:srgbClr val="0A0A0A"/>
                </a:solidFill>
                <a:latin typeface="Arial" pitchFamily="34" charset="0"/>
                <a:ea typeface="Arial" pitchFamily="34" charset="-122"/>
                <a:cs typeface="Arial" pitchFamily="34" charset="-120"/>
              </a:rPr>
              <a:t>Olympic Athlete Analysis</a:t>
            </a:r>
            <a:endParaRPr lang="en-US" sz="1050" dirty="0"/>
          </a:p>
        </p:txBody>
      </p:sp>
      <p:sp>
        <p:nvSpPr>
          <p:cNvPr id="3" name="Text 1"/>
          <p:cNvSpPr txBox="1"/>
          <p:nvPr/>
        </p:nvSpPr>
        <p:spPr>
          <a:xfrm>
            <a:off x="502920" y="822960"/>
            <a:ext cx="3246120" cy="1188720"/>
          </a:xfrm>
          <a:prstGeom prst="rect">
            <a:avLst/>
          </a:prstGeom>
          <a:noFill/>
          <a:ln/>
        </p:spPr>
        <p:txBody>
          <a:bodyPr wrap="square" lIns="0" tIns="0" rIns="0" bIns="0" rtlCol="0" anchor="t"/>
          <a:lstStyle/>
          <a:p>
            <a:pPr marL="0" indent="0">
              <a:lnSpc>
                <a:spcPts val="2900"/>
              </a:lnSpc>
              <a:buNone/>
            </a:pPr>
            <a:r>
              <a:rPr lang="en-US" sz="2900" kern="0" spc="-50" dirty="0">
                <a:solidFill>
                  <a:srgbClr val="0A0A0A"/>
                </a:solidFill>
                <a:latin typeface="Arial Black" pitchFamily="34" charset="0"/>
                <a:ea typeface="Arial Black" pitchFamily="34" charset="-122"/>
                <a:cs typeface="Arial Black" pitchFamily="34" charset="-120"/>
              </a:rPr>
              <a:t>AGE</a:t>
            </a:r>
            <a:endParaRPr lang="en-US" sz="2900" dirty="0"/>
          </a:p>
          <a:p>
            <a:pPr marL="0" indent="0">
              <a:lnSpc>
                <a:spcPts val="2900"/>
              </a:lnSpc>
              <a:buNone/>
            </a:pPr>
            <a:r>
              <a:rPr lang="en-US" sz="2900" kern="0" spc="-50" dirty="0">
                <a:solidFill>
                  <a:srgbClr val="0A0A0A"/>
                </a:solidFill>
                <a:latin typeface="Arial Black" pitchFamily="34" charset="0"/>
                <a:ea typeface="Arial Black" pitchFamily="34" charset="-122"/>
                <a:cs typeface="Arial Black" pitchFamily="34" charset="-120"/>
              </a:rPr>
              <a:t>PROFILE</a:t>
            </a:r>
            <a:endParaRPr lang="en-US" sz="2900" dirty="0"/>
          </a:p>
        </p:txBody>
      </p:sp>
      <p:sp>
        <p:nvSpPr>
          <p:cNvPr id="4" name="Text 2"/>
          <p:cNvSpPr txBox="1"/>
          <p:nvPr/>
        </p:nvSpPr>
        <p:spPr>
          <a:xfrm>
            <a:off x="502920" y="2011680"/>
            <a:ext cx="2926080" cy="2152357"/>
          </a:xfrm>
          <a:prstGeom prst="rect">
            <a:avLst/>
          </a:prstGeom>
          <a:noFill/>
          <a:ln/>
        </p:spPr>
        <p:txBody>
          <a:bodyPr wrap="square" lIns="0" tIns="0" rIns="0" bIns="0" rtlCol="0" anchor="ctr"/>
          <a:lstStyle/>
          <a:p>
            <a:r>
              <a:rPr lang="en-US" sz="1050" dirty="0">
                <a:solidFill>
                  <a:srgbClr val="5A5A60"/>
                </a:solidFill>
                <a:latin typeface="Arial" pitchFamily="34" charset="0"/>
                <a:ea typeface="Arial" pitchFamily="34" charset="-122"/>
                <a:cs typeface="Arial" pitchFamily="34" charset="-120"/>
              </a:rPr>
              <a:t>Most competitors fall between 18 and 30, peaking around 20 to 23. The distribution is right skewed with a long tail reaching 97, driven by age independent disciplines such as shooting, equestrian, sailing and the historical Art Competitions.</a:t>
            </a:r>
            <a:endParaRPr lang="en-US" sz="1050" dirty="0"/>
          </a:p>
          <a:p>
            <a:endParaRPr lang="en-US" sz="1050" dirty="0">
              <a:solidFill>
                <a:schemeClr val="bg2">
                  <a:lumMod val="50000"/>
                </a:schemeClr>
              </a:solidFill>
              <a:latin typeface="Arial" panose="020B0604020202020204" pitchFamily="34" charset="0"/>
              <a:cs typeface="Arial" panose="020B0604020202020204" pitchFamily="34" charset="0"/>
            </a:endParaRPr>
          </a:p>
        </p:txBody>
      </p:sp>
      <p:sp>
        <p:nvSpPr>
          <p:cNvPr id="5" name="Text 3"/>
          <p:cNvSpPr txBox="1"/>
          <p:nvPr/>
        </p:nvSpPr>
        <p:spPr>
          <a:xfrm>
            <a:off x="502920" y="1828800"/>
            <a:ext cx="3108960" cy="411480"/>
          </a:xfrm>
          <a:prstGeom prst="rect">
            <a:avLst/>
          </a:prstGeom>
          <a:noFill/>
          <a:ln/>
        </p:spPr>
        <p:txBody>
          <a:bodyPr wrap="square" lIns="0" tIns="0" rIns="0" bIns="0" rtlCol="0" anchor="ctr"/>
          <a:lstStyle/>
          <a:p>
            <a:pPr marL="0" indent="0">
              <a:buNone/>
            </a:pPr>
            <a:r>
              <a:rPr lang="en-US" sz="1900" dirty="0">
                <a:solidFill>
                  <a:srgbClr val="C8A45C"/>
                </a:solidFill>
                <a:latin typeface="Arial Black" pitchFamily="34" charset="0"/>
                <a:ea typeface="Arial Black" pitchFamily="34" charset="-122"/>
                <a:cs typeface="Arial Black" pitchFamily="34" charset="-120"/>
              </a:rPr>
              <a:t>Median age 25</a:t>
            </a:r>
            <a:endParaRPr lang="en-US" sz="1900" dirty="0"/>
          </a:p>
        </p:txBody>
      </p:sp>
      <p:pic>
        <p:nvPicPr>
          <p:cNvPr id="8" name="Picture 7">
            <a:extLst>
              <a:ext uri="{FF2B5EF4-FFF2-40B4-BE49-F238E27FC236}">
                <a16:creationId xmlns:a16="http://schemas.microsoft.com/office/drawing/2014/main" id="{F61BBB50-D29A-0EE0-25CD-2D208437DA7E}"/>
              </a:ext>
            </a:extLst>
          </p:cNvPr>
          <p:cNvPicPr>
            <a:picLocks noChangeAspect="1"/>
          </p:cNvPicPr>
          <p:nvPr/>
        </p:nvPicPr>
        <p:blipFill>
          <a:blip r:embed="rId3">
            <a:alphaModFix amt="70000"/>
          </a:blip>
          <a:stretch>
            <a:fillRect/>
          </a:stretch>
        </p:blipFill>
        <p:spPr>
          <a:xfrm>
            <a:off x="3513406" y="1632204"/>
            <a:ext cx="5222631" cy="268833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7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37744"/>
            <a:ext cx="2926080" cy="274320"/>
          </a:xfrm>
          <a:prstGeom prst="rect">
            <a:avLst/>
          </a:prstGeom>
          <a:noFill/>
        </p:spPr>
        <p:txBody>
          <a:bodyPr wrap="square">
            <a:spAutoFit/>
          </a:bodyPr>
          <a:lstStyle/>
          <a:p>
            <a:r>
              <a:rPr sz="1050" b="1">
                <a:solidFill>
                  <a:srgbClr val="0A0A0A"/>
                </a:solidFill>
                <a:latin typeface="Arial"/>
              </a:rPr>
              <a:t>Olympic Athlete Analysis</a:t>
            </a:r>
          </a:p>
        </p:txBody>
      </p:sp>
      <p:sp>
        <p:nvSpPr>
          <p:cNvPr id="3" name="TextBox 2"/>
          <p:cNvSpPr txBox="1"/>
          <p:nvPr/>
        </p:nvSpPr>
        <p:spPr>
          <a:xfrm>
            <a:off x="502920" y="600000"/>
            <a:ext cx="8138160" cy="500000"/>
          </a:xfrm>
          <a:prstGeom prst="rect">
            <a:avLst/>
          </a:prstGeom>
          <a:noFill/>
        </p:spPr>
        <p:txBody>
          <a:bodyPr wrap="square">
            <a:spAutoFit/>
          </a:bodyPr>
          <a:lstStyle/>
          <a:p>
            <a:r>
              <a:rPr sz="2200" b="1">
                <a:solidFill>
                  <a:srgbClr val="0A0A0A"/>
                </a:solidFill>
                <a:latin typeface="Arial Black"/>
              </a:rPr>
              <a:t>PHYSIQUE BY SPORT</a:t>
            </a:r>
          </a:p>
        </p:txBody>
      </p:sp>
      <p:sp>
        <p:nvSpPr>
          <p:cNvPr id="4" name="TextBox 3"/>
          <p:cNvSpPr txBox="1"/>
          <p:nvPr/>
        </p:nvSpPr>
        <p:spPr>
          <a:xfrm>
            <a:off x="502920" y="1060000"/>
            <a:ext cx="8138160" cy="320000"/>
          </a:xfrm>
          <a:prstGeom prst="rect">
            <a:avLst/>
          </a:prstGeom>
          <a:noFill/>
        </p:spPr>
        <p:txBody>
          <a:bodyPr wrap="square">
            <a:spAutoFit/>
          </a:bodyPr>
          <a:lstStyle/>
          <a:p>
            <a:r>
              <a:rPr sz="1300" b="1">
                <a:solidFill>
                  <a:srgbClr val="C8A45C"/>
                </a:solidFill>
                <a:latin typeface="Arial"/>
              </a:rPr>
              <a:t>PYTHON — SOURCE CODE</a:t>
            </a:r>
          </a:p>
        </p:txBody>
      </p:sp>
      <p:sp>
        <p:nvSpPr>
          <p:cNvPr id="5" name="Rounded Rectangle 4"/>
          <p:cNvSpPr/>
          <p:nvPr/>
        </p:nvSpPr>
        <p:spPr>
          <a:xfrm>
            <a:off x="502920" y="1420000"/>
            <a:ext cx="3979080" cy="3480000"/>
          </a:xfrm>
          <a:prstGeom prst="roundRect">
            <a:avLst>
              <a:gd name="adj" fmla="val 5000"/>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17220" y="1580000"/>
            <a:ext cx="3750480" cy="3160000"/>
          </a:xfrm>
          <a:prstGeom prst="rect">
            <a:avLst/>
          </a:prstGeom>
          <a:noFill/>
        </p:spPr>
        <p:txBody>
          <a:bodyPr wrap="square">
            <a:noAutofit/>
          </a:bodyPr>
          <a:lstStyle/>
          <a:p>
            <a:pPr>
              <a:lnSpc>
                <a:spcPct val="100000"/>
              </a:lnSpc>
              <a:spcBef>
                <a:spcPts val="0"/>
              </a:spcBef>
              <a:spcAft>
                <a:spcPts val="0"/>
              </a:spcAft>
            </a:pPr>
            <a:r>
              <a:rPr sz="850" dirty="0">
                <a:solidFill>
                  <a:srgbClr val="F2F3F5"/>
                </a:solidFill>
                <a:latin typeface="Consolas"/>
              </a:rPr>
              <a:t> </a:t>
            </a:r>
          </a:p>
          <a:p>
            <a:pPr>
              <a:lnSpc>
                <a:spcPct val="100000"/>
              </a:lnSpc>
              <a:spcBef>
                <a:spcPts val="0"/>
              </a:spcBef>
              <a:spcAft>
                <a:spcPts val="0"/>
              </a:spcAft>
            </a:pPr>
            <a:r>
              <a:rPr sz="850" dirty="0" err="1">
                <a:solidFill>
                  <a:srgbClr val="F2F3F5"/>
                </a:solidFill>
                <a:latin typeface="Consolas"/>
              </a:rPr>
              <a:t>sport_counts</a:t>
            </a:r>
            <a:r>
              <a:rPr sz="850" dirty="0">
                <a:solidFill>
                  <a:srgbClr val="F2F3F5"/>
                </a:solidFill>
                <a:latin typeface="Consolas"/>
              </a:rPr>
              <a:t> = </a:t>
            </a:r>
            <a:r>
              <a:rPr sz="850" dirty="0" err="1">
                <a:solidFill>
                  <a:srgbClr val="F2F3F5"/>
                </a:solidFill>
                <a:latin typeface="Consolas"/>
              </a:rPr>
              <a:t>df</a:t>
            </a:r>
            <a:r>
              <a:rPr sz="850" dirty="0">
                <a:solidFill>
                  <a:srgbClr val="F2F3F5"/>
                </a:solidFill>
                <a:latin typeface="Consolas"/>
              </a:rPr>
              <a:t>['Sport'].</a:t>
            </a:r>
            <a:r>
              <a:rPr sz="850" dirty="0" err="1">
                <a:solidFill>
                  <a:srgbClr val="F2F3F5"/>
                </a:solidFill>
                <a:latin typeface="Consolas"/>
              </a:rPr>
              <a:t>value_counts</a:t>
            </a:r>
            <a:r>
              <a:rPr sz="850" dirty="0">
                <a:solidFill>
                  <a:srgbClr val="F2F3F5"/>
                </a:solidFill>
                <a:latin typeface="Consolas"/>
              </a:rPr>
              <a:t>()</a:t>
            </a:r>
          </a:p>
          <a:p>
            <a:pPr>
              <a:lnSpc>
                <a:spcPct val="100000"/>
              </a:lnSpc>
              <a:spcBef>
                <a:spcPts val="0"/>
              </a:spcBef>
              <a:spcAft>
                <a:spcPts val="0"/>
              </a:spcAft>
            </a:pPr>
            <a:r>
              <a:rPr sz="850" dirty="0">
                <a:solidFill>
                  <a:srgbClr val="F2F3F5"/>
                </a:solidFill>
                <a:latin typeface="Consolas"/>
              </a:rPr>
              <a:t> </a:t>
            </a:r>
          </a:p>
          <a:p>
            <a:pPr>
              <a:lnSpc>
                <a:spcPct val="100000"/>
              </a:lnSpc>
              <a:spcBef>
                <a:spcPts val="0"/>
              </a:spcBef>
              <a:spcAft>
                <a:spcPts val="0"/>
              </a:spcAft>
            </a:pPr>
            <a:r>
              <a:rPr sz="850" dirty="0" err="1">
                <a:solidFill>
                  <a:srgbClr val="F2F3F5"/>
                </a:solidFill>
                <a:latin typeface="Consolas"/>
              </a:rPr>
              <a:t>big_sports</a:t>
            </a:r>
            <a:r>
              <a:rPr sz="850" dirty="0">
                <a:solidFill>
                  <a:srgbClr val="F2F3F5"/>
                </a:solidFill>
                <a:latin typeface="Consolas"/>
              </a:rPr>
              <a:t> = </a:t>
            </a:r>
            <a:r>
              <a:rPr sz="850" dirty="0" err="1">
                <a:solidFill>
                  <a:srgbClr val="F2F3F5"/>
                </a:solidFill>
                <a:latin typeface="Consolas"/>
              </a:rPr>
              <a:t>sport_counts</a:t>
            </a:r>
            <a:r>
              <a:rPr sz="850" dirty="0">
                <a:solidFill>
                  <a:srgbClr val="F2F3F5"/>
                </a:solidFill>
                <a:latin typeface="Consolas"/>
              </a:rPr>
              <a:t>[</a:t>
            </a:r>
          </a:p>
          <a:p>
            <a:pPr>
              <a:lnSpc>
                <a:spcPct val="100000"/>
              </a:lnSpc>
              <a:spcBef>
                <a:spcPts val="0"/>
              </a:spcBef>
              <a:spcAft>
                <a:spcPts val="0"/>
              </a:spcAft>
            </a:pPr>
            <a:r>
              <a:rPr sz="850" dirty="0">
                <a:solidFill>
                  <a:srgbClr val="F2F3F5"/>
                </a:solidFill>
                <a:latin typeface="Consolas"/>
              </a:rPr>
              <a:t>    </a:t>
            </a:r>
            <a:r>
              <a:rPr sz="850" dirty="0" err="1">
                <a:solidFill>
                  <a:srgbClr val="F2F3F5"/>
                </a:solidFill>
                <a:latin typeface="Consolas"/>
              </a:rPr>
              <a:t>sport_counts</a:t>
            </a:r>
            <a:r>
              <a:rPr sz="850" dirty="0">
                <a:solidFill>
                  <a:srgbClr val="F2F3F5"/>
                </a:solidFill>
                <a:latin typeface="Consolas"/>
              </a:rPr>
              <a:t> &gt; 1000</a:t>
            </a:r>
          </a:p>
          <a:p>
            <a:pPr>
              <a:lnSpc>
                <a:spcPct val="100000"/>
              </a:lnSpc>
              <a:spcBef>
                <a:spcPts val="0"/>
              </a:spcBef>
              <a:spcAft>
                <a:spcPts val="0"/>
              </a:spcAft>
            </a:pPr>
            <a:r>
              <a:rPr sz="850" dirty="0">
                <a:solidFill>
                  <a:srgbClr val="F2F3F5"/>
                </a:solidFill>
                <a:latin typeface="Consolas"/>
              </a:rPr>
              <a:t>].index</a:t>
            </a:r>
          </a:p>
          <a:p>
            <a:pPr>
              <a:lnSpc>
                <a:spcPct val="100000"/>
              </a:lnSpc>
              <a:spcBef>
                <a:spcPts val="0"/>
              </a:spcBef>
              <a:spcAft>
                <a:spcPts val="0"/>
              </a:spcAft>
            </a:pPr>
            <a:r>
              <a:rPr sz="850" dirty="0">
                <a:solidFill>
                  <a:srgbClr val="F2F3F5"/>
                </a:solidFill>
                <a:latin typeface="Consolas"/>
              </a:rPr>
              <a:t> </a:t>
            </a:r>
          </a:p>
          <a:p>
            <a:pPr>
              <a:lnSpc>
                <a:spcPct val="100000"/>
              </a:lnSpc>
              <a:spcBef>
                <a:spcPts val="0"/>
              </a:spcBef>
              <a:spcAft>
                <a:spcPts val="0"/>
              </a:spcAft>
            </a:pPr>
            <a:r>
              <a:rPr sz="850" dirty="0" err="1">
                <a:solidFill>
                  <a:srgbClr val="F2F3F5"/>
                </a:solidFill>
                <a:latin typeface="Consolas"/>
              </a:rPr>
              <a:t>avg_height</a:t>
            </a:r>
            <a:r>
              <a:rPr sz="850" dirty="0">
                <a:solidFill>
                  <a:srgbClr val="F2F3F5"/>
                </a:solidFill>
                <a:latin typeface="Consolas"/>
              </a:rPr>
              <a:t> = (</a:t>
            </a:r>
          </a:p>
          <a:p>
            <a:pPr>
              <a:lnSpc>
                <a:spcPct val="100000"/>
              </a:lnSpc>
              <a:spcBef>
                <a:spcPts val="0"/>
              </a:spcBef>
              <a:spcAft>
                <a:spcPts val="0"/>
              </a:spcAft>
            </a:pPr>
            <a:r>
              <a:rPr sz="850" dirty="0">
                <a:solidFill>
                  <a:srgbClr val="F2F3F5"/>
                </a:solidFill>
                <a:latin typeface="Consolas"/>
              </a:rPr>
              <a:t>    </a:t>
            </a:r>
            <a:r>
              <a:rPr sz="850" dirty="0" err="1">
                <a:solidFill>
                  <a:srgbClr val="F2F3F5"/>
                </a:solidFill>
                <a:latin typeface="Consolas"/>
              </a:rPr>
              <a:t>df</a:t>
            </a:r>
            <a:r>
              <a:rPr sz="850" dirty="0">
                <a:solidFill>
                  <a:srgbClr val="F2F3F5"/>
                </a:solidFill>
                <a:latin typeface="Consolas"/>
              </a:rPr>
              <a:t>[</a:t>
            </a:r>
            <a:r>
              <a:rPr sz="850" dirty="0" err="1">
                <a:solidFill>
                  <a:srgbClr val="F2F3F5"/>
                </a:solidFill>
                <a:latin typeface="Consolas"/>
              </a:rPr>
              <a:t>df</a:t>
            </a:r>
            <a:r>
              <a:rPr sz="850" dirty="0">
                <a:solidFill>
                  <a:srgbClr val="F2F3F5"/>
                </a:solidFill>
                <a:latin typeface="Consolas"/>
              </a:rPr>
              <a:t>['Sport'].</a:t>
            </a:r>
            <a:r>
              <a:rPr sz="850" dirty="0" err="1">
                <a:solidFill>
                  <a:srgbClr val="F2F3F5"/>
                </a:solidFill>
                <a:latin typeface="Consolas"/>
              </a:rPr>
              <a:t>isin</a:t>
            </a:r>
            <a:r>
              <a:rPr sz="850" dirty="0">
                <a:solidFill>
                  <a:srgbClr val="F2F3F5"/>
                </a:solidFill>
                <a:latin typeface="Consolas"/>
              </a:rPr>
              <a:t>(</a:t>
            </a:r>
            <a:r>
              <a:rPr sz="850" dirty="0" err="1">
                <a:solidFill>
                  <a:srgbClr val="F2F3F5"/>
                </a:solidFill>
                <a:latin typeface="Consolas"/>
              </a:rPr>
              <a:t>big_sports</a:t>
            </a:r>
            <a:r>
              <a:rPr sz="850" dirty="0">
                <a:solidFill>
                  <a:srgbClr val="F2F3F5"/>
                </a:solidFill>
                <a:latin typeface="Consolas"/>
              </a:rPr>
              <a:t>)]</a:t>
            </a:r>
          </a:p>
          <a:p>
            <a:pPr>
              <a:lnSpc>
                <a:spcPct val="100000"/>
              </a:lnSpc>
              <a:spcBef>
                <a:spcPts val="0"/>
              </a:spcBef>
              <a:spcAft>
                <a:spcPts val="0"/>
              </a:spcAft>
            </a:pPr>
            <a:r>
              <a:rPr sz="850" dirty="0">
                <a:solidFill>
                  <a:srgbClr val="F2F3F5"/>
                </a:solidFill>
                <a:latin typeface="Consolas"/>
              </a:rPr>
              <a:t>    .</a:t>
            </a:r>
            <a:r>
              <a:rPr sz="850" dirty="0" err="1">
                <a:solidFill>
                  <a:srgbClr val="F2F3F5"/>
                </a:solidFill>
                <a:latin typeface="Consolas"/>
              </a:rPr>
              <a:t>groupby</a:t>
            </a:r>
            <a:r>
              <a:rPr sz="850" dirty="0">
                <a:solidFill>
                  <a:srgbClr val="F2F3F5"/>
                </a:solidFill>
                <a:latin typeface="Consolas"/>
              </a:rPr>
              <a:t>('Sport')['Height']</a:t>
            </a:r>
          </a:p>
          <a:p>
            <a:pPr>
              <a:lnSpc>
                <a:spcPct val="100000"/>
              </a:lnSpc>
              <a:spcBef>
                <a:spcPts val="0"/>
              </a:spcBef>
              <a:spcAft>
                <a:spcPts val="0"/>
              </a:spcAft>
            </a:pPr>
            <a:r>
              <a:rPr sz="850" dirty="0">
                <a:solidFill>
                  <a:srgbClr val="F2F3F5"/>
                </a:solidFill>
                <a:latin typeface="Consolas"/>
              </a:rPr>
              <a:t>    .mean()</a:t>
            </a:r>
          </a:p>
          <a:p>
            <a:pPr>
              <a:lnSpc>
                <a:spcPct val="100000"/>
              </a:lnSpc>
              <a:spcBef>
                <a:spcPts val="0"/>
              </a:spcBef>
              <a:spcAft>
                <a:spcPts val="0"/>
              </a:spcAft>
            </a:pPr>
            <a:r>
              <a:rPr sz="850" dirty="0">
                <a:solidFill>
                  <a:srgbClr val="F2F3F5"/>
                </a:solidFill>
                <a:latin typeface="Consolas"/>
              </a:rPr>
              <a:t>    .</a:t>
            </a:r>
            <a:r>
              <a:rPr sz="850" dirty="0" err="1">
                <a:solidFill>
                  <a:srgbClr val="F2F3F5"/>
                </a:solidFill>
                <a:latin typeface="Consolas"/>
              </a:rPr>
              <a:t>sort_values</a:t>
            </a:r>
            <a:r>
              <a:rPr sz="850" dirty="0">
                <a:solidFill>
                  <a:srgbClr val="F2F3F5"/>
                </a:solidFill>
                <a:latin typeface="Consolas"/>
              </a:rPr>
              <a:t>()</a:t>
            </a:r>
          </a:p>
          <a:p>
            <a:pPr>
              <a:lnSpc>
                <a:spcPct val="100000"/>
              </a:lnSpc>
              <a:spcBef>
                <a:spcPts val="0"/>
              </a:spcBef>
              <a:spcAft>
                <a:spcPts val="0"/>
              </a:spcAft>
            </a:pPr>
            <a:r>
              <a:rPr sz="850" dirty="0">
                <a:solidFill>
                  <a:srgbClr val="F2F3F5"/>
                </a:solidFill>
                <a:latin typeface="Consolas"/>
              </a:rPr>
              <a:t>)</a:t>
            </a:r>
          </a:p>
          <a:p>
            <a:pPr>
              <a:lnSpc>
                <a:spcPct val="100000"/>
              </a:lnSpc>
              <a:spcBef>
                <a:spcPts val="0"/>
              </a:spcBef>
              <a:spcAft>
                <a:spcPts val="0"/>
              </a:spcAft>
            </a:pPr>
            <a:r>
              <a:rPr sz="850" dirty="0">
                <a:solidFill>
                  <a:srgbClr val="F2F3F5"/>
                </a:solidFill>
                <a:latin typeface="Consolas"/>
              </a:rPr>
              <a:t> </a:t>
            </a:r>
          </a:p>
          <a:p>
            <a:pPr>
              <a:lnSpc>
                <a:spcPct val="100000"/>
              </a:lnSpc>
              <a:spcBef>
                <a:spcPts val="0"/>
              </a:spcBef>
              <a:spcAft>
                <a:spcPts val="0"/>
              </a:spcAft>
            </a:pPr>
            <a:r>
              <a:rPr sz="850" dirty="0" err="1">
                <a:solidFill>
                  <a:srgbClr val="F2F3F5"/>
                </a:solidFill>
                <a:latin typeface="Consolas"/>
              </a:rPr>
              <a:t>top_bottom</a:t>
            </a:r>
            <a:r>
              <a:rPr sz="850" dirty="0">
                <a:solidFill>
                  <a:srgbClr val="F2F3F5"/>
                </a:solidFill>
                <a:latin typeface="Consolas"/>
              </a:rPr>
              <a:t> = </a:t>
            </a:r>
            <a:r>
              <a:rPr sz="850" dirty="0" err="1">
                <a:solidFill>
                  <a:srgbClr val="F2F3F5"/>
                </a:solidFill>
                <a:latin typeface="Consolas"/>
              </a:rPr>
              <a:t>pd.concat</a:t>
            </a:r>
            <a:r>
              <a:rPr sz="850" dirty="0">
                <a:solidFill>
                  <a:srgbClr val="F2F3F5"/>
                </a:solidFill>
                <a:latin typeface="Consolas"/>
              </a:rPr>
              <a:t>([</a:t>
            </a:r>
          </a:p>
          <a:p>
            <a:pPr>
              <a:lnSpc>
                <a:spcPct val="100000"/>
              </a:lnSpc>
              <a:spcBef>
                <a:spcPts val="0"/>
              </a:spcBef>
              <a:spcAft>
                <a:spcPts val="0"/>
              </a:spcAft>
            </a:pPr>
            <a:r>
              <a:rPr sz="850" dirty="0">
                <a:solidFill>
                  <a:srgbClr val="F2F3F5"/>
                </a:solidFill>
                <a:latin typeface="Consolas"/>
              </a:rPr>
              <a:t>    </a:t>
            </a:r>
            <a:r>
              <a:rPr sz="850" dirty="0" err="1">
                <a:solidFill>
                  <a:srgbClr val="F2F3F5"/>
                </a:solidFill>
                <a:latin typeface="Consolas"/>
              </a:rPr>
              <a:t>avg_height.head</a:t>
            </a:r>
            <a:r>
              <a:rPr sz="850" dirty="0">
                <a:solidFill>
                  <a:srgbClr val="F2F3F5"/>
                </a:solidFill>
                <a:latin typeface="Consolas"/>
              </a:rPr>
              <a:t>(5),</a:t>
            </a:r>
          </a:p>
          <a:p>
            <a:pPr>
              <a:lnSpc>
                <a:spcPct val="100000"/>
              </a:lnSpc>
              <a:spcBef>
                <a:spcPts val="0"/>
              </a:spcBef>
              <a:spcAft>
                <a:spcPts val="0"/>
              </a:spcAft>
            </a:pPr>
            <a:r>
              <a:rPr sz="850" dirty="0">
                <a:solidFill>
                  <a:srgbClr val="F2F3F5"/>
                </a:solidFill>
                <a:latin typeface="Consolas"/>
              </a:rPr>
              <a:t>    </a:t>
            </a:r>
            <a:r>
              <a:rPr sz="850" dirty="0" err="1">
                <a:solidFill>
                  <a:srgbClr val="F2F3F5"/>
                </a:solidFill>
                <a:latin typeface="Consolas"/>
              </a:rPr>
              <a:t>avg_height.tail</a:t>
            </a:r>
            <a:r>
              <a:rPr sz="850" dirty="0">
                <a:solidFill>
                  <a:srgbClr val="F2F3F5"/>
                </a:solidFill>
                <a:latin typeface="Consolas"/>
              </a:rPr>
              <a:t>(5)</a:t>
            </a:r>
          </a:p>
          <a:p>
            <a:pPr>
              <a:lnSpc>
                <a:spcPct val="100000"/>
              </a:lnSpc>
              <a:spcBef>
                <a:spcPts val="0"/>
              </a:spcBef>
              <a:spcAft>
                <a:spcPts val="0"/>
              </a:spcAft>
            </a:pPr>
            <a:r>
              <a:rPr sz="850" dirty="0">
                <a:solidFill>
                  <a:srgbClr val="F2F3F5"/>
                </a:solidFill>
                <a:latin typeface="Consolas"/>
              </a:rPr>
              <a:t>])</a:t>
            </a:r>
          </a:p>
        </p:txBody>
      </p:sp>
      <p:sp>
        <p:nvSpPr>
          <p:cNvPr id="7" name="Rounded Rectangle 6"/>
          <p:cNvSpPr/>
          <p:nvPr/>
        </p:nvSpPr>
        <p:spPr>
          <a:xfrm>
            <a:off x="4662000" y="1420000"/>
            <a:ext cx="3979080" cy="3480000"/>
          </a:xfrm>
          <a:prstGeom prst="roundRect">
            <a:avLst>
              <a:gd name="adj" fmla="val 5000"/>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776300" y="1580000"/>
            <a:ext cx="3750480" cy="3160000"/>
          </a:xfrm>
          <a:prstGeom prst="rect">
            <a:avLst/>
          </a:prstGeom>
          <a:noFill/>
        </p:spPr>
        <p:txBody>
          <a:bodyPr wrap="square">
            <a:noAutofit/>
          </a:bodyPr>
          <a:lstStyle/>
          <a:p>
            <a:pPr>
              <a:lnSpc>
                <a:spcPct val="100000"/>
              </a:lnSpc>
              <a:spcBef>
                <a:spcPts val="0"/>
              </a:spcBef>
              <a:spcAft>
                <a:spcPts val="0"/>
              </a:spcAft>
            </a:pPr>
            <a:r>
              <a:rPr sz="850">
                <a:solidFill>
                  <a:srgbClr val="F2F3F5"/>
                </a:solidFill>
                <a:latin typeface="Consolas"/>
              </a:rPr>
              <a:t> </a:t>
            </a:r>
          </a:p>
          <a:p>
            <a:pPr>
              <a:lnSpc>
                <a:spcPct val="100000"/>
              </a:lnSpc>
              <a:spcBef>
                <a:spcPts val="0"/>
              </a:spcBef>
              <a:spcAft>
                <a:spcPts val="0"/>
              </a:spcAft>
            </a:pPr>
            <a:r>
              <a:rPr sz="850">
                <a:solidFill>
                  <a:srgbClr val="F2F3F5"/>
                </a:solidFill>
                <a:latin typeface="Consolas"/>
              </a:rPr>
              <a:t>plt.figure(figsize=(10, 7))</a:t>
            </a:r>
          </a:p>
          <a:p>
            <a:pPr>
              <a:lnSpc>
                <a:spcPct val="100000"/>
              </a:lnSpc>
              <a:spcBef>
                <a:spcPts val="0"/>
              </a:spcBef>
              <a:spcAft>
                <a:spcPts val="0"/>
              </a:spcAft>
            </a:pPr>
            <a:r>
              <a:rPr sz="850">
                <a:solidFill>
                  <a:srgbClr val="F2F3F5"/>
                </a:solidFill>
                <a:latin typeface="Consolas"/>
              </a:rPr>
              <a:t> </a:t>
            </a:r>
          </a:p>
          <a:p>
            <a:pPr>
              <a:lnSpc>
                <a:spcPct val="100000"/>
              </a:lnSpc>
              <a:spcBef>
                <a:spcPts val="0"/>
              </a:spcBef>
              <a:spcAft>
                <a:spcPts val="0"/>
              </a:spcAft>
            </a:pPr>
            <a:r>
              <a:rPr sz="850">
                <a:solidFill>
                  <a:srgbClr val="F2F3F5"/>
                </a:solidFill>
                <a:latin typeface="Consolas"/>
              </a:rPr>
              <a:t>plt.barh(</a:t>
            </a:r>
          </a:p>
          <a:p>
            <a:pPr>
              <a:lnSpc>
                <a:spcPct val="100000"/>
              </a:lnSpc>
              <a:spcBef>
                <a:spcPts val="0"/>
              </a:spcBef>
              <a:spcAft>
                <a:spcPts val="0"/>
              </a:spcAft>
            </a:pPr>
            <a:r>
              <a:rPr sz="850">
                <a:solidFill>
                  <a:srgbClr val="F2F3F5"/>
                </a:solidFill>
                <a:latin typeface="Consolas"/>
              </a:rPr>
              <a:t>    top_bottom.index,</a:t>
            </a:r>
          </a:p>
          <a:p>
            <a:pPr>
              <a:lnSpc>
                <a:spcPct val="100000"/>
              </a:lnSpc>
              <a:spcBef>
                <a:spcPts val="0"/>
              </a:spcBef>
              <a:spcAft>
                <a:spcPts val="0"/>
              </a:spcAft>
            </a:pPr>
            <a:r>
              <a:rPr sz="850">
                <a:solidFill>
                  <a:srgbClr val="F2F3F5"/>
                </a:solidFill>
                <a:latin typeface="Consolas"/>
              </a:rPr>
              <a:t>    top_bottom.values</a:t>
            </a:r>
          </a:p>
          <a:p>
            <a:pPr>
              <a:lnSpc>
                <a:spcPct val="100000"/>
              </a:lnSpc>
              <a:spcBef>
                <a:spcPts val="0"/>
              </a:spcBef>
              <a:spcAft>
                <a:spcPts val="0"/>
              </a:spcAft>
            </a:pPr>
            <a:r>
              <a:rPr sz="850">
                <a:solidFill>
                  <a:srgbClr val="F2F3F5"/>
                </a:solidFill>
                <a:latin typeface="Consolas"/>
              </a:rPr>
              <a:t>)</a:t>
            </a:r>
          </a:p>
          <a:p>
            <a:pPr>
              <a:lnSpc>
                <a:spcPct val="100000"/>
              </a:lnSpc>
              <a:spcBef>
                <a:spcPts val="0"/>
              </a:spcBef>
              <a:spcAft>
                <a:spcPts val="0"/>
              </a:spcAft>
            </a:pPr>
            <a:r>
              <a:rPr sz="850">
                <a:solidFill>
                  <a:srgbClr val="F2F3F5"/>
                </a:solidFill>
                <a:latin typeface="Consolas"/>
              </a:rPr>
              <a:t> </a:t>
            </a:r>
          </a:p>
          <a:p>
            <a:pPr>
              <a:lnSpc>
                <a:spcPct val="100000"/>
              </a:lnSpc>
              <a:spcBef>
                <a:spcPts val="0"/>
              </a:spcBef>
              <a:spcAft>
                <a:spcPts val="0"/>
              </a:spcAft>
            </a:pPr>
            <a:r>
              <a:rPr sz="850">
                <a:solidFill>
                  <a:srgbClr val="F2F3F5"/>
                </a:solidFill>
                <a:latin typeface="Consolas"/>
              </a:rPr>
              <a:t>plt.axvline(</a:t>
            </a:r>
          </a:p>
          <a:p>
            <a:pPr>
              <a:lnSpc>
                <a:spcPct val="100000"/>
              </a:lnSpc>
              <a:spcBef>
                <a:spcPts val="0"/>
              </a:spcBef>
              <a:spcAft>
                <a:spcPts val="0"/>
              </a:spcAft>
            </a:pPr>
            <a:r>
              <a:rPr sz="850">
                <a:solidFill>
                  <a:srgbClr val="F2F3F5"/>
                </a:solidFill>
                <a:latin typeface="Consolas"/>
              </a:rPr>
              <a:t>    df['Height'].mean(),</a:t>
            </a:r>
          </a:p>
          <a:p>
            <a:pPr>
              <a:lnSpc>
                <a:spcPct val="100000"/>
              </a:lnSpc>
              <a:spcBef>
                <a:spcPts val="0"/>
              </a:spcBef>
              <a:spcAft>
                <a:spcPts val="0"/>
              </a:spcAft>
            </a:pPr>
            <a:r>
              <a:rPr sz="850">
                <a:solidFill>
                  <a:srgbClr val="F2F3F5"/>
                </a:solidFill>
                <a:latin typeface="Consolas"/>
              </a:rPr>
              <a:t>    linestyle='--',</a:t>
            </a:r>
          </a:p>
          <a:p>
            <a:pPr>
              <a:lnSpc>
                <a:spcPct val="100000"/>
              </a:lnSpc>
              <a:spcBef>
                <a:spcPts val="0"/>
              </a:spcBef>
              <a:spcAft>
                <a:spcPts val="0"/>
              </a:spcAft>
            </a:pPr>
            <a:r>
              <a:rPr sz="850">
                <a:solidFill>
                  <a:srgbClr val="F2F3F5"/>
                </a:solidFill>
                <a:latin typeface="Consolas"/>
              </a:rPr>
              <a:t>    label=f'Overall Average: {df["Height"].mean():.0f} cm'</a:t>
            </a:r>
          </a:p>
          <a:p>
            <a:pPr>
              <a:lnSpc>
                <a:spcPct val="100000"/>
              </a:lnSpc>
              <a:spcBef>
                <a:spcPts val="0"/>
              </a:spcBef>
              <a:spcAft>
                <a:spcPts val="0"/>
              </a:spcAft>
            </a:pPr>
            <a:r>
              <a:rPr sz="850">
                <a:solidFill>
                  <a:srgbClr val="F2F3F5"/>
                </a:solidFill>
                <a:latin typeface="Consolas"/>
              </a:rPr>
              <a:t>)</a:t>
            </a:r>
          </a:p>
          <a:p>
            <a:pPr>
              <a:lnSpc>
                <a:spcPct val="100000"/>
              </a:lnSpc>
              <a:spcBef>
                <a:spcPts val="0"/>
              </a:spcBef>
              <a:spcAft>
                <a:spcPts val="0"/>
              </a:spcAft>
            </a:pPr>
            <a:r>
              <a:rPr sz="850">
                <a:solidFill>
                  <a:srgbClr val="F2F3F5"/>
                </a:solidFill>
                <a:latin typeface="Consolas"/>
              </a:rPr>
              <a:t> </a:t>
            </a:r>
          </a:p>
          <a:p>
            <a:pPr>
              <a:lnSpc>
                <a:spcPct val="100000"/>
              </a:lnSpc>
              <a:spcBef>
                <a:spcPts val="0"/>
              </a:spcBef>
              <a:spcAft>
                <a:spcPts val="0"/>
              </a:spcAft>
            </a:pPr>
            <a:r>
              <a:rPr sz="850">
                <a:solidFill>
                  <a:srgbClr val="F2F3F5"/>
                </a:solidFill>
                <a:latin typeface="Consolas"/>
              </a:rPr>
              <a:t>plt.xlabel('Average Height (cm)')</a:t>
            </a:r>
          </a:p>
          <a:p>
            <a:pPr>
              <a:lnSpc>
                <a:spcPct val="100000"/>
              </a:lnSpc>
              <a:spcBef>
                <a:spcPts val="0"/>
              </a:spcBef>
              <a:spcAft>
                <a:spcPts val="0"/>
              </a:spcAft>
            </a:pPr>
            <a:r>
              <a:rPr sz="850">
                <a:solidFill>
                  <a:srgbClr val="F2F3F5"/>
                </a:solidFill>
                <a:latin typeface="Consolas"/>
              </a:rPr>
              <a:t>plt.title('Shortest vs Tallest Average Height by Sport')</a:t>
            </a:r>
          </a:p>
          <a:p>
            <a:pPr>
              <a:lnSpc>
                <a:spcPct val="100000"/>
              </a:lnSpc>
              <a:spcBef>
                <a:spcPts val="0"/>
              </a:spcBef>
              <a:spcAft>
                <a:spcPts val="0"/>
              </a:spcAft>
            </a:pPr>
            <a:r>
              <a:rPr sz="850">
                <a:solidFill>
                  <a:srgbClr val="F2F3F5"/>
                </a:solidFill>
                <a:latin typeface="Consolas"/>
              </a:rPr>
              <a:t> </a:t>
            </a:r>
          </a:p>
          <a:p>
            <a:pPr>
              <a:lnSpc>
                <a:spcPct val="100000"/>
              </a:lnSpc>
              <a:spcBef>
                <a:spcPts val="0"/>
              </a:spcBef>
              <a:spcAft>
                <a:spcPts val="0"/>
              </a:spcAft>
            </a:pPr>
            <a:r>
              <a:rPr sz="850">
                <a:solidFill>
                  <a:srgbClr val="F2F3F5"/>
                </a:solidFill>
                <a:latin typeface="Consolas"/>
              </a:rPr>
              <a:t>plt.legend()</a:t>
            </a:r>
          </a:p>
          <a:p>
            <a:pPr>
              <a:lnSpc>
                <a:spcPct val="100000"/>
              </a:lnSpc>
              <a:spcBef>
                <a:spcPts val="0"/>
              </a:spcBef>
              <a:spcAft>
                <a:spcPts val="0"/>
              </a:spcAft>
            </a:pPr>
            <a:r>
              <a:rPr sz="850">
                <a:solidFill>
                  <a:srgbClr val="F2F3F5"/>
                </a:solidFill>
                <a:latin typeface="Consolas"/>
              </a:rPr>
              <a:t>plt.tight_layout()</a:t>
            </a:r>
          </a:p>
          <a:p>
            <a:pPr>
              <a:lnSpc>
                <a:spcPct val="100000"/>
              </a:lnSpc>
              <a:spcBef>
                <a:spcPts val="0"/>
              </a:spcBef>
              <a:spcAft>
                <a:spcPts val="0"/>
              </a:spcAft>
            </a:pPr>
            <a:r>
              <a:rPr sz="850">
                <a:solidFill>
                  <a:srgbClr val="F2F3F5"/>
                </a:solidFill>
                <a:latin typeface="Consolas"/>
              </a:rPr>
              <a:t>plt.show()</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02920" y="237744"/>
            <a:ext cx="2926080" cy="274320"/>
          </a:xfrm>
          <a:prstGeom prst="rect">
            <a:avLst/>
          </a:prstGeom>
          <a:noFill/>
          <a:ln/>
        </p:spPr>
        <p:txBody>
          <a:bodyPr wrap="square" lIns="0" tIns="0" rIns="0" bIns="0" rtlCol="0" anchor="ctr"/>
          <a:lstStyle/>
          <a:p>
            <a:pPr marL="0" indent="0">
              <a:buNone/>
            </a:pPr>
            <a:r>
              <a:rPr lang="en-US" sz="1050" b="1" dirty="0">
                <a:solidFill>
                  <a:srgbClr val="0A0A0A"/>
                </a:solidFill>
                <a:latin typeface="Arial" pitchFamily="34" charset="0"/>
                <a:ea typeface="Arial" pitchFamily="34" charset="-122"/>
                <a:cs typeface="Arial" pitchFamily="34" charset="-120"/>
              </a:rPr>
              <a:t>Olympic Athlete Analysis</a:t>
            </a:r>
            <a:endParaRPr lang="en-US" sz="1050" dirty="0"/>
          </a:p>
        </p:txBody>
      </p:sp>
      <p:sp>
        <p:nvSpPr>
          <p:cNvPr id="3" name="Text 1"/>
          <p:cNvSpPr txBox="1"/>
          <p:nvPr/>
        </p:nvSpPr>
        <p:spPr>
          <a:xfrm>
            <a:off x="502920" y="822960"/>
            <a:ext cx="3246120" cy="1188720"/>
          </a:xfrm>
          <a:prstGeom prst="rect">
            <a:avLst/>
          </a:prstGeom>
          <a:noFill/>
          <a:ln/>
        </p:spPr>
        <p:txBody>
          <a:bodyPr wrap="square" lIns="0" tIns="0" rIns="0" bIns="0" rtlCol="0" anchor="t"/>
          <a:lstStyle/>
          <a:p>
            <a:pPr marL="0" indent="0">
              <a:lnSpc>
                <a:spcPts val="2900"/>
              </a:lnSpc>
              <a:buNone/>
            </a:pPr>
            <a:r>
              <a:rPr lang="en-US" sz="2900" kern="0" spc="-50" dirty="0">
                <a:solidFill>
                  <a:srgbClr val="0A0A0A"/>
                </a:solidFill>
                <a:latin typeface="Arial Black" pitchFamily="34" charset="0"/>
                <a:ea typeface="Arial Black" pitchFamily="34" charset="-122"/>
                <a:cs typeface="Arial Black" pitchFamily="34" charset="-120"/>
              </a:rPr>
              <a:t>PHYSIQUE BY</a:t>
            </a:r>
            <a:endParaRPr lang="en-US" sz="2900" dirty="0"/>
          </a:p>
          <a:p>
            <a:pPr marL="0" indent="0">
              <a:lnSpc>
                <a:spcPts val="2900"/>
              </a:lnSpc>
              <a:buNone/>
            </a:pPr>
            <a:r>
              <a:rPr lang="en-US" sz="2900" kern="0" spc="-50" dirty="0">
                <a:solidFill>
                  <a:srgbClr val="0A0A0A"/>
                </a:solidFill>
                <a:latin typeface="Arial Black" pitchFamily="34" charset="0"/>
                <a:ea typeface="Arial Black" pitchFamily="34" charset="-122"/>
                <a:cs typeface="Arial Black" pitchFamily="34" charset="-120"/>
              </a:rPr>
              <a:t>SPORT</a:t>
            </a:r>
            <a:endParaRPr lang="en-US" sz="2900" dirty="0"/>
          </a:p>
        </p:txBody>
      </p:sp>
      <p:sp>
        <p:nvSpPr>
          <p:cNvPr id="4" name="Text 2"/>
          <p:cNvSpPr txBox="1"/>
          <p:nvPr/>
        </p:nvSpPr>
        <p:spPr>
          <a:xfrm>
            <a:off x="502920" y="2286000"/>
            <a:ext cx="3108960" cy="2103120"/>
          </a:xfrm>
          <a:prstGeom prst="rect">
            <a:avLst/>
          </a:prstGeom>
          <a:noFill/>
          <a:ln/>
        </p:spPr>
        <p:txBody>
          <a:bodyPr wrap="square" lIns="0" tIns="0" rIns="0" bIns="0" rtlCol="0" anchor="ctr"/>
          <a:lstStyle/>
          <a:p>
            <a:r>
              <a:rPr lang="en-IN" sz="1050" dirty="0">
                <a:solidFill>
                  <a:schemeClr val="bg2">
                    <a:lumMod val="50000"/>
                  </a:schemeClr>
                </a:solidFill>
                <a:latin typeface="Arial" panose="020B0604020202020204" pitchFamily="34" charset="0"/>
                <a:cs typeface="Arial" panose="020B0604020202020204" pitchFamily="34" charset="0"/>
              </a:rPr>
              <a:t>Average height varies by 27.6 cm across sports, from Gymnastics (163.8 cm) at the low end to Basketball (191.5 cm) at the high end, against an overall average of 175.6 cm. The pattern tracks each sport's physical demands: compact, low-centre-of-gravity builds for gymnastics vs. height-driven advantages in basketball and volleyball.</a:t>
            </a:r>
          </a:p>
        </p:txBody>
      </p:sp>
      <p:sp>
        <p:nvSpPr>
          <p:cNvPr id="5" name="Text 3"/>
          <p:cNvSpPr txBox="1"/>
          <p:nvPr/>
        </p:nvSpPr>
        <p:spPr>
          <a:xfrm>
            <a:off x="502920" y="1828800"/>
            <a:ext cx="3108960" cy="411480"/>
          </a:xfrm>
          <a:prstGeom prst="rect">
            <a:avLst/>
          </a:prstGeom>
          <a:noFill/>
          <a:ln/>
        </p:spPr>
        <p:txBody>
          <a:bodyPr wrap="square" lIns="0" tIns="0" rIns="0" bIns="0" rtlCol="0" anchor="ctr"/>
          <a:lstStyle/>
          <a:p>
            <a:pPr marL="0" indent="0">
              <a:buNone/>
            </a:pPr>
            <a:r>
              <a:rPr lang="en-US" sz="1900" dirty="0">
                <a:solidFill>
                  <a:srgbClr val="C8A45C"/>
                </a:solidFill>
                <a:latin typeface="Arial Black" pitchFamily="34" charset="0"/>
                <a:ea typeface="Arial Black" pitchFamily="34" charset="-122"/>
                <a:cs typeface="Arial Black" pitchFamily="34" charset="-120"/>
              </a:rPr>
              <a:t>A 27 cm spread</a:t>
            </a:r>
            <a:endParaRPr lang="en-US" sz="1900" dirty="0"/>
          </a:p>
        </p:txBody>
      </p:sp>
      <p:pic>
        <p:nvPicPr>
          <p:cNvPr id="8" name="Picture 7">
            <a:extLst>
              <a:ext uri="{FF2B5EF4-FFF2-40B4-BE49-F238E27FC236}">
                <a16:creationId xmlns:a16="http://schemas.microsoft.com/office/drawing/2014/main" id="{B99F9E66-6061-C64F-81E5-949B87CB85A4}"/>
              </a:ext>
            </a:extLst>
          </p:cNvPr>
          <p:cNvPicPr>
            <a:picLocks noChangeAspect="1"/>
          </p:cNvPicPr>
          <p:nvPr/>
        </p:nvPicPr>
        <p:blipFill>
          <a:blip r:embed="rId3">
            <a:alphaModFix amt="70000"/>
          </a:blip>
          <a:stretch>
            <a:fillRect/>
          </a:stretch>
        </p:blipFill>
        <p:spPr>
          <a:xfrm>
            <a:off x="3749040" y="1572768"/>
            <a:ext cx="5029200" cy="281635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right)">
                                      <p:cBhvr>
                                        <p:cTn id="7" dur="7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37744"/>
            <a:ext cx="2926080" cy="274320"/>
          </a:xfrm>
          <a:prstGeom prst="rect">
            <a:avLst/>
          </a:prstGeom>
          <a:noFill/>
        </p:spPr>
        <p:txBody>
          <a:bodyPr wrap="square">
            <a:spAutoFit/>
          </a:bodyPr>
          <a:lstStyle/>
          <a:p>
            <a:r>
              <a:rPr sz="1050" b="1">
                <a:solidFill>
                  <a:srgbClr val="0A0A0A"/>
                </a:solidFill>
                <a:latin typeface="Arial"/>
              </a:rPr>
              <a:t>Olympic Athlete Analysis</a:t>
            </a:r>
          </a:p>
        </p:txBody>
      </p:sp>
      <p:sp>
        <p:nvSpPr>
          <p:cNvPr id="3" name="TextBox 2"/>
          <p:cNvSpPr txBox="1"/>
          <p:nvPr/>
        </p:nvSpPr>
        <p:spPr>
          <a:xfrm>
            <a:off x="502920" y="600000"/>
            <a:ext cx="8138160" cy="500000"/>
          </a:xfrm>
          <a:prstGeom prst="rect">
            <a:avLst/>
          </a:prstGeom>
          <a:noFill/>
        </p:spPr>
        <p:txBody>
          <a:bodyPr wrap="square">
            <a:spAutoFit/>
          </a:bodyPr>
          <a:lstStyle/>
          <a:p>
            <a:r>
              <a:rPr sz="2200" b="1">
                <a:solidFill>
                  <a:srgbClr val="0A0A0A"/>
                </a:solidFill>
                <a:latin typeface="Arial Black"/>
              </a:rPr>
              <a:t>SPORT POPULARITY</a:t>
            </a:r>
          </a:p>
        </p:txBody>
      </p:sp>
      <p:sp>
        <p:nvSpPr>
          <p:cNvPr id="4" name="TextBox 3"/>
          <p:cNvSpPr txBox="1"/>
          <p:nvPr/>
        </p:nvSpPr>
        <p:spPr>
          <a:xfrm>
            <a:off x="502920" y="1060000"/>
            <a:ext cx="8138160" cy="320000"/>
          </a:xfrm>
          <a:prstGeom prst="rect">
            <a:avLst/>
          </a:prstGeom>
          <a:noFill/>
        </p:spPr>
        <p:txBody>
          <a:bodyPr wrap="square">
            <a:spAutoFit/>
          </a:bodyPr>
          <a:lstStyle/>
          <a:p>
            <a:r>
              <a:rPr sz="1300" b="1">
                <a:solidFill>
                  <a:srgbClr val="C8A45C"/>
                </a:solidFill>
                <a:latin typeface="Arial"/>
              </a:rPr>
              <a:t>PYTHON — SOURCE CODE</a:t>
            </a:r>
          </a:p>
        </p:txBody>
      </p:sp>
      <p:sp>
        <p:nvSpPr>
          <p:cNvPr id="5" name="Rounded Rectangle 4"/>
          <p:cNvSpPr/>
          <p:nvPr/>
        </p:nvSpPr>
        <p:spPr>
          <a:xfrm>
            <a:off x="502920" y="1420000"/>
            <a:ext cx="8138160" cy="3480000"/>
          </a:xfrm>
          <a:prstGeom prst="roundRect">
            <a:avLst>
              <a:gd name="adj" fmla="val 3500"/>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580000"/>
            <a:ext cx="7680960" cy="3160000"/>
          </a:xfrm>
          <a:prstGeom prst="rect">
            <a:avLst/>
          </a:prstGeom>
          <a:noFill/>
        </p:spPr>
        <p:txBody>
          <a:bodyPr wrap="square">
            <a:noAutofit/>
          </a:bodyPr>
          <a:lstStyle/>
          <a:p>
            <a:pPr>
              <a:lnSpc>
                <a:spcPct val="100000"/>
              </a:lnSpc>
              <a:spcBef>
                <a:spcPts val="0"/>
              </a:spcBef>
              <a:spcAft>
                <a:spcPts val="0"/>
              </a:spcAft>
            </a:pPr>
            <a:r>
              <a:rPr sz="1300" dirty="0">
                <a:solidFill>
                  <a:srgbClr val="F2F3F5"/>
                </a:solidFill>
                <a:latin typeface="Consolas"/>
              </a:rPr>
              <a:t>top5_sports = </a:t>
            </a:r>
            <a:r>
              <a:rPr sz="1300" dirty="0" err="1">
                <a:solidFill>
                  <a:srgbClr val="F2F3F5"/>
                </a:solidFill>
                <a:latin typeface="Consolas"/>
              </a:rPr>
              <a:t>df</a:t>
            </a:r>
            <a:r>
              <a:rPr sz="1300" dirty="0">
                <a:solidFill>
                  <a:srgbClr val="F2F3F5"/>
                </a:solidFill>
                <a:latin typeface="Consolas"/>
              </a:rPr>
              <a:t>['Sport'].</a:t>
            </a:r>
            <a:r>
              <a:rPr sz="1300" dirty="0" err="1">
                <a:solidFill>
                  <a:srgbClr val="F2F3F5"/>
                </a:solidFill>
                <a:latin typeface="Consolas"/>
              </a:rPr>
              <a:t>value_counts</a:t>
            </a:r>
            <a:r>
              <a:rPr sz="1300" dirty="0">
                <a:solidFill>
                  <a:srgbClr val="F2F3F5"/>
                </a:solidFill>
                <a:latin typeface="Consolas"/>
              </a:rPr>
              <a:t>().head(5).</a:t>
            </a:r>
            <a:r>
              <a:rPr sz="1300" dirty="0" err="1">
                <a:solidFill>
                  <a:srgbClr val="F2F3F5"/>
                </a:solidFill>
                <a:latin typeface="Consolas"/>
              </a:rPr>
              <a:t>index.tolist</a:t>
            </a:r>
            <a:r>
              <a:rPr sz="1300" dirty="0">
                <a:solidFill>
                  <a:srgbClr val="F2F3F5"/>
                </a:solidFill>
                <a:latin typeface="Consolas"/>
              </a:rPr>
              <a:t>()</a:t>
            </a:r>
          </a:p>
          <a:p>
            <a:pPr>
              <a:lnSpc>
                <a:spcPct val="100000"/>
              </a:lnSpc>
              <a:spcBef>
                <a:spcPts val="0"/>
              </a:spcBef>
              <a:spcAft>
                <a:spcPts val="0"/>
              </a:spcAft>
            </a:pPr>
            <a:r>
              <a:rPr sz="1300" dirty="0">
                <a:solidFill>
                  <a:srgbClr val="F2F3F5"/>
                </a:solidFill>
                <a:latin typeface="Consolas"/>
              </a:rPr>
              <a:t> </a:t>
            </a:r>
          </a:p>
          <a:p>
            <a:pPr>
              <a:lnSpc>
                <a:spcPct val="100000"/>
              </a:lnSpc>
              <a:spcBef>
                <a:spcPts val="0"/>
              </a:spcBef>
              <a:spcAft>
                <a:spcPts val="0"/>
              </a:spcAft>
            </a:pPr>
            <a:r>
              <a:rPr sz="1300" dirty="0">
                <a:solidFill>
                  <a:srgbClr val="F2F3F5"/>
                </a:solidFill>
                <a:latin typeface="Consolas"/>
              </a:rPr>
              <a:t>trend = </a:t>
            </a:r>
            <a:r>
              <a:rPr sz="1300" dirty="0" err="1">
                <a:solidFill>
                  <a:srgbClr val="F2F3F5"/>
                </a:solidFill>
                <a:latin typeface="Consolas"/>
              </a:rPr>
              <a:t>df</a:t>
            </a:r>
            <a:r>
              <a:rPr sz="1300" dirty="0">
                <a:solidFill>
                  <a:srgbClr val="F2F3F5"/>
                </a:solidFill>
                <a:latin typeface="Consolas"/>
              </a:rPr>
              <a:t>[</a:t>
            </a:r>
            <a:r>
              <a:rPr sz="1300" dirty="0" err="1">
                <a:solidFill>
                  <a:srgbClr val="F2F3F5"/>
                </a:solidFill>
                <a:latin typeface="Consolas"/>
              </a:rPr>
              <a:t>df</a:t>
            </a:r>
            <a:r>
              <a:rPr sz="1300" dirty="0">
                <a:solidFill>
                  <a:srgbClr val="F2F3F5"/>
                </a:solidFill>
                <a:latin typeface="Consolas"/>
              </a:rPr>
              <a:t>['Sport'].</a:t>
            </a:r>
            <a:r>
              <a:rPr sz="1300" dirty="0" err="1">
                <a:solidFill>
                  <a:srgbClr val="F2F3F5"/>
                </a:solidFill>
                <a:latin typeface="Consolas"/>
              </a:rPr>
              <a:t>isin</a:t>
            </a:r>
            <a:r>
              <a:rPr sz="1300" dirty="0">
                <a:solidFill>
                  <a:srgbClr val="F2F3F5"/>
                </a:solidFill>
                <a:latin typeface="Consolas"/>
              </a:rPr>
              <a:t>(top5_sports)].</a:t>
            </a:r>
            <a:r>
              <a:rPr sz="1300" dirty="0" err="1">
                <a:solidFill>
                  <a:srgbClr val="F2F3F5"/>
                </a:solidFill>
                <a:latin typeface="Consolas"/>
              </a:rPr>
              <a:t>groupby</a:t>
            </a:r>
            <a:r>
              <a:rPr sz="1300" dirty="0">
                <a:solidFill>
                  <a:srgbClr val="F2F3F5"/>
                </a:solidFill>
                <a:latin typeface="Consolas"/>
              </a:rPr>
              <a:t>(['</a:t>
            </a:r>
            <a:r>
              <a:rPr sz="1300" dirty="0" err="1">
                <a:solidFill>
                  <a:srgbClr val="F2F3F5"/>
                </a:solidFill>
                <a:latin typeface="Consolas"/>
              </a:rPr>
              <a:t>Year','Sport</a:t>
            </a:r>
            <a:r>
              <a:rPr sz="1300" dirty="0">
                <a:solidFill>
                  <a:srgbClr val="F2F3F5"/>
                </a:solidFill>
                <a:latin typeface="Consolas"/>
              </a:rPr>
              <a:t>']).size().unstack(</a:t>
            </a:r>
            <a:r>
              <a:rPr sz="1300" dirty="0" err="1">
                <a:solidFill>
                  <a:srgbClr val="F2F3F5"/>
                </a:solidFill>
                <a:latin typeface="Consolas"/>
              </a:rPr>
              <a:t>fill_value</a:t>
            </a:r>
            <a:r>
              <a:rPr sz="1300" dirty="0">
                <a:solidFill>
                  <a:srgbClr val="F2F3F5"/>
                </a:solidFill>
                <a:latin typeface="Consolas"/>
              </a:rPr>
              <a:t>=0)</a:t>
            </a:r>
          </a:p>
          <a:p>
            <a:pPr>
              <a:lnSpc>
                <a:spcPct val="100000"/>
              </a:lnSpc>
              <a:spcBef>
                <a:spcPts val="0"/>
              </a:spcBef>
              <a:spcAft>
                <a:spcPts val="0"/>
              </a:spcAft>
            </a:pPr>
            <a:r>
              <a:rPr sz="1300" dirty="0">
                <a:solidFill>
                  <a:srgbClr val="F2F3F5"/>
                </a:solidFill>
                <a:latin typeface="Consolas"/>
              </a:rPr>
              <a:t>trend = trend[top5_sports]</a:t>
            </a:r>
          </a:p>
          <a:p>
            <a:pPr>
              <a:lnSpc>
                <a:spcPct val="100000"/>
              </a:lnSpc>
              <a:spcBef>
                <a:spcPts val="0"/>
              </a:spcBef>
              <a:spcAft>
                <a:spcPts val="0"/>
              </a:spcAft>
            </a:pPr>
            <a:r>
              <a:rPr sz="1300" dirty="0">
                <a:solidFill>
                  <a:srgbClr val="F2F3F5"/>
                </a:solidFill>
                <a:latin typeface="Consolas"/>
              </a:rPr>
              <a:t> </a:t>
            </a:r>
          </a:p>
          <a:p>
            <a:pPr>
              <a:lnSpc>
                <a:spcPct val="100000"/>
              </a:lnSpc>
              <a:spcBef>
                <a:spcPts val="0"/>
              </a:spcBef>
              <a:spcAft>
                <a:spcPts val="0"/>
              </a:spcAft>
            </a:pPr>
            <a:r>
              <a:rPr sz="1300" dirty="0" err="1">
                <a:solidFill>
                  <a:srgbClr val="F2F3F5"/>
                </a:solidFill>
                <a:latin typeface="Consolas"/>
              </a:rPr>
              <a:t>plt.figure</a:t>
            </a:r>
            <a:r>
              <a:rPr sz="1300" dirty="0">
                <a:solidFill>
                  <a:srgbClr val="F2F3F5"/>
                </a:solidFill>
                <a:latin typeface="Consolas"/>
              </a:rPr>
              <a:t>(</a:t>
            </a:r>
            <a:r>
              <a:rPr sz="1300" dirty="0" err="1">
                <a:solidFill>
                  <a:srgbClr val="F2F3F5"/>
                </a:solidFill>
                <a:latin typeface="Consolas"/>
              </a:rPr>
              <a:t>figsize</a:t>
            </a:r>
            <a:r>
              <a:rPr sz="1300" dirty="0">
                <a:solidFill>
                  <a:srgbClr val="F2F3F5"/>
                </a:solidFill>
                <a:latin typeface="Consolas"/>
              </a:rPr>
              <a:t>=(12,6))</a:t>
            </a:r>
          </a:p>
          <a:p>
            <a:pPr>
              <a:lnSpc>
                <a:spcPct val="100000"/>
              </a:lnSpc>
              <a:spcBef>
                <a:spcPts val="0"/>
              </a:spcBef>
              <a:spcAft>
                <a:spcPts val="0"/>
              </a:spcAft>
            </a:pPr>
            <a:r>
              <a:rPr sz="1300" dirty="0">
                <a:solidFill>
                  <a:srgbClr val="F2F3F5"/>
                </a:solidFill>
                <a:latin typeface="Consolas"/>
              </a:rPr>
              <a:t>for sport in top5_sports:</a:t>
            </a:r>
          </a:p>
          <a:p>
            <a:pPr>
              <a:lnSpc>
                <a:spcPct val="100000"/>
              </a:lnSpc>
              <a:spcBef>
                <a:spcPts val="0"/>
              </a:spcBef>
              <a:spcAft>
                <a:spcPts val="0"/>
              </a:spcAft>
            </a:pPr>
            <a:r>
              <a:rPr lang="en-IN" sz="1300" dirty="0">
                <a:solidFill>
                  <a:srgbClr val="F2F3F5"/>
                </a:solidFill>
                <a:latin typeface="Consolas"/>
              </a:rPr>
              <a:t>    </a:t>
            </a:r>
            <a:r>
              <a:rPr sz="1300" dirty="0" err="1">
                <a:solidFill>
                  <a:srgbClr val="F2F3F5"/>
                </a:solidFill>
                <a:latin typeface="Consolas"/>
              </a:rPr>
              <a:t>plt.plot</a:t>
            </a:r>
            <a:r>
              <a:rPr sz="1300" dirty="0">
                <a:solidFill>
                  <a:srgbClr val="F2F3F5"/>
                </a:solidFill>
                <a:latin typeface="Consolas"/>
              </a:rPr>
              <a:t>(</a:t>
            </a:r>
            <a:r>
              <a:rPr sz="1300" dirty="0" err="1">
                <a:solidFill>
                  <a:srgbClr val="F2F3F5"/>
                </a:solidFill>
                <a:latin typeface="Consolas"/>
              </a:rPr>
              <a:t>trend.index</a:t>
            </a:r>
            <a:r>
              <a:rPr sz="1300" dirty="0">
                <a:solidFill>
                  <a:srgbClr val="F2F3F5"/>
                </a:solidFill>
                <a:latin typeface="Consolas"/>
              </a:rPr>
              <a:t>, trend[sport], marker='o', </a:t>
            </a:r>
            <a:r>
              <a:rPr sz="1300" dirty="0" err="1">
                <a:solidFill>
                  <a:srgbClr val="F2F3F5"/>
                </a:solidFill>
                <a:latin typeface="Consolas"/>
              </a:rPr>
              <a:t>markersize</a:t>
            </a:r>
            <a:r>
              <a:rPr sz="1300" dirty="0">
                <a:solidFill>
                  <a:srgbClr val="F2F3F5"/>
                </a:solidFill>
                <a:latin typeface="Consolas"/>
              </a:rPr>
              <a:t>=3, label=sport)</a:t>
            </a:r>
          </a:p>
          <a:p>
            <a:pPr>
              <a:lnSpc>
                <a:spcPct val="100000"/>
              </a:lnSpc>
              <a:spcBef>
                <a:spcPts val="0"/>
              </a:spcBef>
              <a:spcAft>
                <a:spcPts val="0"/>
              </a:spcAft>
            </a:pPr>
            <a:r>
              <a:rPr sz="1300" dirty="0" err="1">
                <a:solidFill>
                  <a:srgbClr val="F2F3F5"/>
                </a:solidFill>
                <a:latin typeface="Consolas"/>
              </a:rPr>
              <a:t>plt.title</a:t>
            </a:r>
            <a:r>
              <a:rPr sz="1300" dirty="0">
                <a:solidFill>
                  <a:srgbClr val="F2F3F5"/>
                </a:solidFill>
                <a:latin typeface="Consolas"/>
              </a:rPr>
              <a:t>('Participation Trend: Top 5 Sports Over Time')</a:t>
            </a:r>
          </a:p>
          <a:p>
            <a:pPr>
              <a:lnSpc>
                <a:spcPct val="100000"/>
              </a:lnSpc>
              <a:spcBef>
                <a:spcPts val="0"/>
              </a:spcBef>
              <a:spcAft>
                <a:spcPts val="0"/>
              </a:spcAft>
            </a:pPr>
            <a:r>
              <a:rPr sz="1300" dirty="0" err="1">
                <a:solidFill>
                  <a:srgbClr val="F2F3F5"/>
                </a:solidFill>
                <a:latin typeface="Consolas"/>
              </a:rPr>
              <a:t>plt.xlabel</a:t>
            </a:r>
            <a:r>
              <a:rPr sz="1300" dirty="0">
                <a:solidFill>
                  <a:srgbClr val="F2F3F5"/>
                </a:solidFill>
                <a:latin typeface="Consolas"/>
              </a:rPr>
              <a:t>('Year')</a:t>
            </a:r>
          </a:p>
          <a:p>
            <a:pPr>
              <a:lnSpc>
                <a:spcPct val="100000"/>
              </a:lnSpc>
              <a:spcBef>
                <a:spcPts val="0"/>
              </a:spcBef>
              <a:spcAft>
                <a:spcPts val="0"/>
              </a:spcAft>
            </a:pPr>
            <a:r>
              <a:rPr sz="1300" dirty="0" err="1">
                <a:solidFill>
                  <a:srgbClr val="F2F3F5"/>
                </a:solidFill>
                <a:latin typeface="Consolas"/>
              </a:rPr>
              <a:t>plt.ylabel</a:t>
            </a:r>
            <a:r>
              <a:rPr sz="1300" dirty="0">
                <a:solidFill>
                  <a:srgbClr val="F2F3F5"/>
                </a:solidFill>
                <a:latin typeface="Consolas"/>
              </a:rPr>
              <a:t>('Number of Athlete-Events')</a:t>
            </a:r>
          </a:p>
          <a:p>
            <a:pPr>
              <a:lnSpc>
                <a:spcPct val="100000"/>
              </a:lnSpc>
              <a:spcBef>
                <a:spcPts val="0"/>
              </a:spcBef>
              <a:spcAft>
                <a:spcPts val="0"/>
              </a:spcAft>
            </a:pPr>
            <a:r>
              <a:rPr sz="1300" dirty="0" err="1">
                <a:solidFill>
                  <a:srgbClr val="F2F3F5"/>
                </a:solidFill>
                <a:latin typeface="Consolas"/>
              </a:rPr>
              <a:t>plt.legend</a:t>
            </a:r>
            <a:r>
              <a:rPr sz="1300" dirty="0">
                <a:solidFill>
                  <a:srgbClr val="F2F3F5"/>
                </a:solidFill>
                <a:latin typeface="Consolas"/>
              </a:rPr>
              <a:t>()</a:t>
            </a:r>
          </a:p>
          <a:p>
            <a:pPr>
              <a:lnSpc>
                <a:spcPct val="100000"/>
              </a:lnSpc>
              <a:spcBef>
                <a:spcPts val="0"/>
              </a:spcBef>
              <a:spcAft>
                <a:spcPts val="0"/>
              </a:spcAft>
            </a:pPr>
            <a:r>
              <a:rPr sz="1300" dirty="0" err="1">
                <a:solidFill>
                  <a:srgbClr val="F2F3F5"/>
                </a:solidFill>
                <a:latin typeface="Consolas"/>
              </a:rPr>
              <a:t>plt.grid</a:t>
            </a:r>
            <a:r>
              <a:rPr sz="1300" dirty="0">
                <a:solidFill>
                  <a:srgbClr val="F2F3F5"/>
                </a:solidFill>
                <a:latin typeface="Consolas"/>
              </a:rPr>
              <a:t>(alpha=0.3)</a:t>
            </a:r>
          </a:p>
          <a:p>
            <a:pPr>
              <a:lnSpc>
                <a:spcPct val="100000"/>
              </a:lnSpc>
              <a:spcBef>
                <a:spcPts val="0"/>
              </a:spcBef>
              <a:spcAft>
                <a:spcPts val="0"/>
              </a:spcAft>
            </a:pPr>
            <a:r>
              <a:rPr sz="1300" dirty="0" err="1">
                <a:solidFill>
                  <a:srgbClr val="F2F3F5"/>
                </a:solidFill>
                <a:latin typeface="Consolas"/>
              </a:rPr>
              <a:t>plt.show</a:t>
            </a:r>
            <a:r>
              <a:rPr sz="1300" dirty="0">
                <a:solidFill>
                  <a:srgbClr val="F2F3F5"/>
                </a:solidFill>
                <a:latin typeface="Consolas"/>
              </a:rPr>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02920" y="237744"/>
            <a:ext cx="2926080" cy="274320"/>
          </a:xfrm>
          <a:prstGeom prst="rect">
            <a:avLst/>
          </a:prstGeom>
          <a:noFill/>
          <a:ln/>
        </p:spPr>
        <p:txBody>
          <a:bodyPr wrap="square" lIns="0" tIns="0" rIns="0" bIns="0" rtlCol="0" anchor="ctr"/>
          <a:lstStyle/>
          <a:p>
            <a:pPr marL="0" indent="0">
              <a:buNone/>
            </a:pPr>
            <a:r>
              <a:rPr lang="en-US" sz="1050" b="1" dirty="0">
                <a:solidFill>
                  <a:srgbClr val="0A0A0A"/>
                </a:solidFill>
                <a:latin typeface="Arial" pitchFamily="34" charset="0"/>
                <a:ea typeface="Arial" pitchFamily="34" charset="-122"/>
                <a:cs typeface="Arial" pitchFamily="34" charset="-120"/>
              </a:rPr>
              <a:t>Olympic Athlete Analysis</a:t>
            </a:r>
            <a:endParaRPr lang="en-US" sz="1050" dirty="0"/>
          </a:p>
        </p:txBody>
      </p:sp>
      <p:sp>
        <p:nvSpPr>
          <p:cNvPr id="3" name="Text 1"/>
          <p:cNvSpPr txBox="1"/>
          <p:nvPr/>
        </p:nvSpPr>
        <p:spPr>
          <a:xfrm>
            <a:off x="502920" y="822960"/>
            <a:ext cx="3246120" cy="1188720"/>
          </a:xfrm>
          <a:prstGeom prst="rect">
            <a:avLst/>
          </a:prstGeom>
          <a:noFill/>
          <a:ln/>
        </p:spPr>
        <p:txBody>
          <a:bodyPr wrap="square" lIns="0" tIns="0" rIns="0" bIns="0" rtlCol="0" anchor="t"/>
          <a:lstStyle/>
          <a:p>
            <a:pPr marL="0" indent="0">
              <a:lnSpc>
                <a:spcPts val="2900"/>
              </a:lnSpc>
              <a:buNone/>
            </a:pPr>
            <a:r>
              <a:rPr lang="en-US" sz="2900" kern="0" spc="-50" dirty="0">
                <a:solidFill>
                  <a:srgbClr val="0A0A0A"/>
                </a:solidFill>
                <a:latin typeface="Arial Black" pitchFamily="34" charset="0"/>
                <a:ea typeface="Arial Black" pitchFamily="34" charset="-122"/>
                <a:cs typeface="Arial Black" pitchFamily="34" charset="-120"/>
              </a:rPr>
              <a:t>SPORT</a:t>
            </a:r>
            <a:endParaRPr lang="en-US" sz="2900" dirty="0"/>
          </a:p>
          <a:p>
            <a:pPr marL="0" indent="0">
              <a:lnSpc>
                <a:spcPts val="2900"/>
              </a:lnSpc>
              <a:buNone/>
            </a:pPr>
            <a:r>
              <a:rPr lang="en-US" sz="2900" kern="0" spc="-50" dirty="0">
                <a:solidFill>
                  <a:srgbClr val="0A0A0A"/>
                </a:solidFill>
                <a:latin typeface="Arial Black" pitchFamily="34" charset="0"/>
                <a:ea typeface="Arial Black" pitchFamily="34" charset="-122"/>
                <a:cs typeface="Arial Black" pitchFamily="34" charset="-120"/>
              </a:rPr>
              <a:t>POPULARITY</a:t>
            </a:r>
            <a:endParaRPr lang="en-US" sz="2900" dirty="0"/>
          </a:p>
        </p:txBody>
      </p:sp>
      <p:sp>
        <p:nvSpPr>
          <p:cNvPr id="4" name="Text 2"/>
          <p:cNvSpPr txBox="1"/>
          <p:nvPr/>
        </p:nvSpPr>
        <p:spPr>
          <a:xfrm>
            <a:off x="502920" y="2034540"/>
            <a:ext cx="3108960" cy="2103120"/>
          </a:xfrm>
          <a:prstGeom prst="rect">
            <a:avLst/>
          </a:prstGeom>
          <a:noFill/>
          <a:ln/>
        </p:spPr>
        <p:txBody>
          <a:bodyPr wrap="square" lIns="0" tIns="0" rIns="0" bIns="0" rtlCol="0" anchor="ctr"/>
          <a:lstStyle/>
          <a:p>
            <a:r>
              <a:rPr lang="en-IN" sz="1050" dirty="0">
                <a:solidFill>
                  <a:schemeClr val="bg2">
                    <a:lumMod val="50000"/>
                  </a:schemeClr>
                </a:solidFill>
                <a:latin typeface="Arial" panose="020B0604020202020204" pitchFamily="34" charset="0"/>
                <a:cs typeface="Arial" panose="020B0604020202020204" pitchFamily="34" charset="0"/>
              </a:rPr>
              <a:t>Athletics is the most-recorded sport with 38,624 athlete-events, well ahead of Gymnastics (26,707) and Swimming (23,195). It also stays the largest sport in nearly every individual Games, showing consistent dominance rather than a one-time spike.</a:t>
            </a:r>
            <a:endParaRPr lang="en-US" sz="1050" dirty="0">
              <a:solidFill>
                <a:schemeClr val="bg2">
                  <a:lumMod val="50000"/>
                </a:schemeClr>
              </a:solidFill>
              <a:latin typeface="Arial" panose="020B0604020202020204" pitchFamily="34" charset="0"/>
              <a:cs typeface="Arial" panose="020B0604020202020204" pitchFamily="34" charset="0"/>
            </a:endParaRPr>
          </a:p>
        </p:txBody>
      </p:sp>
      <p:sp>
        <p:nvSpPr>
          <p:cNvPr id="5" name="Text 3"/>
          <p:cNvSpPr txBox="1"/>
          <p:nvPr/>
        </p:nvSpPr>
        <p:spPr>
          <a:xfrm>
            <a:off x="502920" y="1828800"/>
            <a:ext cx="3108960" cy="411480"/>
          </a:xfrm>
          <a:prstGeom prst="rect">
            <a:avLst/>
          </a:prstGeom>
          <a:noFill/>
          <a:ln/>
        </p:spPr>
        <p:txBody>
          <a:bodyPr wrap="square" lIns="0" tIns="0" rIns="0" bIns="0" rtlCol="0" anchor="ctr"/>
          <a:lstStyle/>
          <a:p>
            <a:pPr marL="0" indent="0">
              <a:buNone/>
            </a:pPr>
            <a:r>
              <a:rPr lang="en-US" sz="1900" dirty="0">
                <a:solidFill>
                  <a:srgbClr val="C8A45C"/>
                </a:solidFill>
                <a:latin typeface="Arial Black" pitchFamily="34" charset="0"/>
                <a:ea typeface="Arial Black" pitchFamily="34" charset="-122"/>
                <a:cs typeface="Arial Black" pitchFamily="34" charset="-120"/>
              </a:rPr>
              <a:t>Athletics pulls away</a:t>
            </a:r>
            <a:endParaRPr lang="en-US" sz="1900" dirty="0"/>
          </a:p>
        </p:txBody>
      </p:sp>
      <p:pic>
        <p:nvPicPr>
          <p:cNvPr id="8" name="Picture 7">
            <a:extLst>
              <a:ext uri="{FF2B5EF4-FFF2-40B4-BE49-F238E27FC236}">
                <a16:creationId xmlns:a16="http://schemas.microsoft.com/office/drawing/2014/main" id="{2267CF5D-7FA4-9B10-E602-7C9850C5C3B4}"/>
              </a:ext>
            </a:extLst>
          </p:cNvPr>
          <p:cNvPicPr>
            <a:picLocks noChangeAspect="1"/>
          </p:cNvPicPr>
          <p:nvPr/>
        </p:nvPicPr>
        <p:blipFill>
          <a:blip r:embed="rId3">
            <a:alphaModFix amt="70000"/>
          </a:blip>
          <a:stretch>
            <a:fillRect/>
          </a:stretch>
        </p:blipFill>
        <p:spPr>
          <a:xfrm>
            <a:off x="3749040" y="1485900"/>
            <a:ext cx="5080784" cy="290322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right)">
                                      <p:cBhvr>
                                        <p:cTn id="7" dur="7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37744"/>
            <a:ext cx="2926080" cy="274320"/>
          </a:xfrm>
          <a:prstGeom prst="rect">
            <a:avLst/>
          </a:prstGeom>
          <a:noFill/>
        </p:spPr>
        <p:txBody>
          <a:bodyPr wrap="square">
            <a:spAutoFit/>
          </a:bodyPr>
          <a:lstStyle/>
          <a:p>
            <a:r>
              <a:rPr sz="1050" b="1">
                <a:solidFill>
                  <a:srgbClr val="0A0A0A"/>
                </a:solidFill>
                <a:latin typeface="Arial"/>
              </a:rPr>
              <a:t>Olympic Athlete Analysis</a:t>
            </a:r>
          </a:p>
        </p:txBody>
      </p:sp>
      <p:sp>
        <p:nvSpPr>
          <p:cNvPr id="3" name="TextBox 2"/>
          <p:cNvSpPr txBox="1"/>
          <p:nvPr/>
        </p:nvSpPr>
        <p:spPr>
          <a:xfrm>
            <a:off x="502920" y="600000"/>
            <a:ext cx="8138160" cy="500000"/>
          </a:xfrm>
          <a:prstGeom prst="rect">
            <a:avLst/>
          </a:prstGeom>
          <a:noFill/>
        </p:spPr>
        <p:txBody>
          <a:bodyPr wrap="square">
            <a:spAutoFit/>
          </a:bodyPr>
          <a:lstStyle/>
          <a:p>
            <a:r>
              <a:rPr sz="2200" b="1">
                <a:solidFill>
                  <a:srgbClr val="0A0A0A"/>
                </a:solidFill>
                <a:latin typeface="Arial Black"/>
              </a:rPr>
              <a:t>GLOBAL EXPANSION</a:t>
            </a:r>
          </a:p>
        </p:txBody>
      </p:sp>
      <p:sp>
        <p:nvSpPr>
          <p:cNvPr id="4" name="TextBox 3"/>
          <p:cNvSpPr txBox="1"/>
          <p:nvPr/>
        </p:nvSpPr>
        <p:spPr>
          <a:xfrm>
            <a:off x="502920" y="1060000"/>
            <a:ext cx="8138160" cy="320000"/>
          </a:xfrm>
          <a:prstGeom prst="rect">
            <a:avLst/>
          </a:prstGeom>
          <a:noFill/>
        </p:spPr>
        <p:txBody>
          <a:bodyPr wrap="square">
            <a:spAutoFit/>
          </a:bodyPr>
          <a:lstStyle/>
          <a:p>
            <a:r>
              <a:rPr sz="1300" b="1">
                <a:solidFill>
                  <a:srgbClr val="C8A45C"/>
                </a:solidFill>
                <a:latin typeface="Arial"/>
              </a:rPr>
              <a:t>PYTHON — SOURCE CODE</a:t>
            </a:r>
          </a:p>
        </p:txBody>
      </p:sp>
      <p:sp>
        <p:nvSpPr>
          <p:cNvPr id="5" name="Rounded Rectangle 4"/>
          <p:cNvSpPr/>
          <p:nvPr/>
        </p:nvSpPr>
        <p:spPr>
          <a:xfrm>
            <a:off x="502920" y="1420000"/>
            <a:ext cx="8138160" cy="3480000"/>
          </a:xfrm>
          <a:prstGeom prst="roundRect">
            <a:avLst>
              <a:gd name="adj" fmla="val 3500"/>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580000"/>
            <a:ext cx="7680960" cy="3160000"/>
          </a:xfrm>
          <a:prstGeom prst="rect">
            <a:avLst/>
          </a:prstGeom>
          <a:noFill/>
        </p:spPr>
        <p:txBody>
          <a:bodyPr wrap="square">
            <a:noAutofit/>
          </a:bodyPr>
          <a:lstStyle/>
          <a:p>
            <a:pPr>
              <a:lnSpc>
                <a:spcPct val="100000"/>
              </a:lnSpc>
              <a:spcBef>
                <a:spcPts val="0"/>
              </a:spcBef>
              <a:spcAft>
                <a:spcPts val="0"/>
              </a:spcAft>
            </a:pPr>
            <a:r>
              <a:rPr sz="987" dirty="0">
                <a:solidFill>
                  <a:srgbClr val="F2F3F5"/>
                </a:solidFill>
                <a:latin typeface="Consolas"/>
              </a:rPr>
              <a:t> </a:t>
            </a:r>
          </a:p>
          <a:p>
            <a:pPr>
              <a:lnSpc>
                <a:spcPct val="100000"/>
              </a:lnSpc>
              <a:spcBef>
                <a:spcPts val="0"/>
              </a:spcBef>
              <a:spcAft>
                <a:spcPts val="0"/>
              </a:spcAft>
            </a:pPr>
            <a:r>
              <a:rPr sz="987" dirty="0" err="1">
                <a:solidFill>
                  <a:srgbClr val="F2F3F5"/>
                </a:solidFill>
                <a:latin typeface="Consolas"/>
              </a:rPr>
              <a:t>yearly_nocs</a:t>
            </a:r>
            <a:r>
              <a:rPr sz="987" dirty="0">
                <a:solidFill>
                  <a:srgbClr val="F2F3F5"/>
                </a:solidFill>
                <a:latin typeface="Consolas"/>
              </a:rPr>
              <a:t> = </a:t>
            </a:r>
            <a:r>
              <a:rPr sz="987" dirty="0" err="1">
                <a:solidFill>
                  <a:srgbClr val="F2F3F5"/>
                </a:solidFill>
                <a:latin typeface="Consolas"/>
              </a:rPr>
              <a:t>df.groupby</a:t>
            </a:r>
            <a:r>
              <a:rPr sz="987" dirty="0">
                <a:solidFill>
                  <a:srgbClr val="F2F3F5"/>
                </a:solidFill>
                <a:latin typeface="Consolas"/>
              </a:rPr>
              <a:t>('Year')['NOC'].</a:t>
            </a:r>
            <a:r>
              <a:rPr sz="987" dirty="0" err="1">
                <a:solidFill>
                  <a:srgbClr val="F2F3F5"/>
                </a:solidFill>
                <a:latin typeface="Consolas"/>
              </a:rPr>
              <a:t>nunique</a:t>
            </a:r>
            <a:r>
              <a:rPr sz="987" dirty="0">
                <a:solidFill>
                  <a:srgbClr val="F2F3F5"/>
                </a:solidFill>
                <a:latin typeface="Consolas"/>
              </a:rPr>
              <a:t>()</a:t>
            </a:r>
          </a:p>
          <a:p>
            <a:pPr>
              <a:lnSpc>
                <a:spcPct val="100000"/>
              </a:lnSpc>
              <a:spcBef>
                <a:spcPts val="0"/>
              </a:spcBef>
              <a:spcAft>
                <a:spcPts val="0"/>
              </a:spcAft>
            </a:pPr>
            <a:r>
              <a:rPr sz="987" dirty="0">
                <a:solidFill>
                  <a:srgbClr val="F2F3F5"/>
                </a:solidFill>
                <a:latin typeface="Consolas"/>
              </a:rPr>
              <a:t> </a:t>
            </a:r>
          </a:p>
          <a:p>
            <a:pPr>
              <a:lnSpc>
                <a:spcPct val="100000"/>
              </a:lnSpc>
              <a:spcBef>
                <a:spcPts val="0"/>
              </a:spcBef>
              <a:spcAft>
                <a:spcPts val="0"/>
              </a:spcAft>
            </a:pPr>
            <a:r>
              <a:rPr sz="987" dirty="0" err="1">
                <a:solidFill>
                  <a:srgbClr val="F2F3F5"/>
                </a:solidFill>
                <a:latin typeface="Consolas"/>
              </a:rPr>
              <a:t>plt.figure</a:t>
            </a:r>
            <a:r>
              <a:rPr sz="987" dirty="0">
                <a:solidFill>
                  <a:srgbClr val="F2F3F5"/>
                </a:solidFill>
                <a:latin typeface="Consolas"/>
              </a:rPr>
              <a:t>(</a:t>
            </a:r>
            <a:r>
              <a:rPr sz="987" dirty="0" err="1">
                <a:solidFill>
                  <a:srgbClr val="F2F3F5"/>
                </a:solidFill>
                <a:latin typeface="Consolas"/>
              </a:rPr>
              <a:t>figsize</a:t>
            </a:r>
            <a:r>
              <a:rPr sz="987" dirty="0">
                <a:solidFill>
                  <a:srgbClr val="F2F3F5"/>
                </a:solidFill>
                <a:latin typeface="Consolas"/>
              </a:rPr>
              <a:t>=(12, 6))</a:t>
            </a:r>
          </a:p>
          <a:p>
            <a:pPr>
              <a:lnSpc>
                <a:spcPct val="100000"/>
              </a:lnSpc>
              <a:spcBef>
                <a:spcPts val="0"/>
              </a:spcBef>
              <a:spcAft>
                <a:spcPts val="0"/>
              </a:spcAft>
            </a:pPr>
            <a:r>
              <a:rPr sz="987" dirty="0">
                <a:solidFill>
                  <a:srgbClr val="F2F3F5"/>
                </a:solidFill>
                <a:latin typeface="Consolas"/>
              </a:rPr>
              <a:t> </a:t>
            </a:r>
          </a:p>
          <a:p>
            <a:pPr>
              <a:lnSpc>
                <a:spcPct val="100000"/>
              </a:lnSpc>
              <a:spcBef>
                <a:spcPts val="0"/>
              </a:spcBef>
              <a:spcAft>
                <a:spcPts val="0"/>
              </a:spcAft>
            </a:pPr>
            <a:r>
              <a:rPr sz="987" dirty="0" err="1">
                <a:solidFill>
                  <a:srgbClr val="F2F3F5"/>
                </a:solidFill>
                <a:latin typeface="Consolas"/>
              </a:rPr>
              <a:t>sns.lineplot</a:t>
            </a:r>
            <a:r>
              <a:rPr sz="987" dirty="0">
                <a:solidFill>
                  <a:srgbClr val="F2F3F5"/>
                </a:solidFill>
                <a:latin typeface="Consolas"/>
              </a:rPr>
              <a:t>(</a:t>
            </a:r>
          </a:p>
          <a:p>
            <a:pPr>
              <a:lnSpc>
                <a:spcPct val="100000"/>
              </a:lnSpc>
              <a:spcBef>
                <a:spcPts val="0"/>
              </a:spcBef>
              <a:spcAft>
                <a:spcPts val="0"/>
              </a:spcAft>
            </a:pPr>
            <a:r>
              <a:rPr sz="987" dirty="0">
                <a:solidFill>
                  <a:srgbClr val="F2F3F5"/>
                </a:solidFill>
                <a:latin typeface="Consolas"/>
              </a:rPr>
              <a:t>    x=</a:t>
            </a:r>
            <a:r>
              <a:rPr sz="987" dirty="0" err="1">
                <a:solidFill>
                  <a:srgbClr val="F2F3F5"/>
                </a:solidFill>
                <a:latin typeface="Consolas"/>
              </a:rPr>
              <a:t>yearly_nocs.index</a:t>
            </a:r>
            <a:r>
              <a:rPr sz="987" dirty="0">
                <a:solidFill>
                  <a:srgbClr val="F2F3F5"/>
                </a:solidFill>
                <a:latin typeface="Consolas"/>
              </a:rPr>
              <a:t>,</a:t>
            </a:r>
          </a:p>
          <a:p>
            <a:pPr>
              <a:lnSpc>
                <a:spcPct val="100000"/>
              </a:lnSpc>
              <a:spcBef>
                <a:spcPts val="0"/>
              </a:spcBef>
              <a:spcAft>
                <a:spcPts val="0"/>
              </a:spcAft>
            </a:pPr>
            <a:r>
              <a:rPr sz="987" dirty="0">
                <a:solidFill>
                  <a:srgbClr val="F2F3F5"/>
                </a:solidFill>
                <a:latin typeface="Consolas"/>
              </a:rPr>
              <a:t>    y=</a:t>
            </a:r>
            <a:r>
              <a:rPr sz="987" dirty="0" err="1">
                <a:solidFill>
                  <a:srgbClr val="F2F3F5"/>
                </a:solidFill>
                <a:latin typeface="Consolas"/>
              </a:rPr>
              <a:t>yearly_nocs.values</a:t>
            </a:r>
            <a:r>
              <a:rPr sz="987" dirty="0">
                <a:solidFill>
                  <a:srgbClr val="F2F3F5"/>
                </a:solidFill>
                <a:latin typeface="Consolas"/>
              </a:rPr>
              <a:t>,</a:t>
            </a:r>
          </a:p>
          <a:p>
            <a:pPr>
              <a:lnSpc>
                <a:spcPct val="100000"/>
              </a:lnSpc>
              <a:spcBef>
                <a:spcPts val="0"/>
              </a:spcBef>
              <a:spcAft>
                <a:spcPts val="0"/>
              </a:spcAft>
            </a:pPr>
            <a:r>
              <a:rPr sz="987" dirty="0">
                <a:solidFill>
                  <a:srgbClr val="F2F3F5"/>
                </a:solidFill>
                <a:latin typeface="Consolas"/>
              </a:rPr>
              <a:t>    marker='o'</a:t>
            </a:r>
          </a:p>
          <a:p>
            <a:pPr>
              <a:lnSpc>
                <a:spcPct val="100000"/>
              </a:lnSpc>
              <a:spcBef>
                <a:spcPts val="0"/>
              </a:spcBef>
              <a:spcAft>
                <a:spcPts val="0"/>
              </a:spcAft>
            </a:pPr>
            <a:r>
              <a:rPr sz="987" dirty="0">
                <a:solidFill>
                  <a:srgbClr val="F2F3F5"/>
                </a:solidFill>
                <a:latin typeface="Consolas"/>
              </a:rPr>
              <a:t>)</a:t>
            </a:r>
          </a:p>
          <a:p>
            <a:pPr>
              <a:lnSpc>
                <a:spcPct val="100000"/>
              </a:lnSpc>
              <a:spcBef>
                <a:spcPts val="0"/>
              </a:spcBef>
              <a:spcAft>
                <a:spcPts val="0"/>
              </a:spcAft>
            </a:pPr>
            <a:r>
              <a:rPr sz="987" dirty="0">
                <a:solidFill>
                  <a:srgbClr val="F2F3F5"/>
                </a:solidFill>
                <a:latin typeface="Consolas"/>
              </a:rPr>
              <a:t> </a:t>
            </a:r>
          </a:p>
          <a:p>
            <a:pPr>
              <a:lnSpc>
                <a:spcPct val="100000"/>
              </a:lnSpc>
              <a:spcBef>
                <a:spcPts val="0"/>
              </a:spcBef>
              <a:spcAft>
                <a:spcPts val="0"/>
              </a:spcAft>
            </a:pPr>
            <a:r>
              <a:rPr sz="987" dirty="0" err="1">
                <a:solidFill>
                  <a:srgbClr val="F2F3F5"/>
                </a:solidFill>
                <a:latin typeface="Consolas"/>
              </a:rPr>
              <a:t>plt.title</a:t>
            </a:r>
            <a:r>
              <a:rPr sz="987" dirty="0">
                <a:solidFill>
                  <a:srgbClr val="F2F3F5"/>
                </a:solidFill>
                <a:latin typeface="Consolas"/>
              </a:rPr>
              <a:t>('Growth of Olympic Globalization')</a:t>
            </a:r>
          </a:p>
          <a:p>
            <a:pPr>
              <a:lnSpc>
                <a:spcPct val="100000"/>
              </a:lnSpc>
              <a:spcBef>
                <a:spcPts val="0"/>
              </a:spcBef>
              <a:spcAft>
                <a:spcPts val="0"/>
              </a:spcAft>
            </a:pPr>
            <a:r>
              <a:rPr sz="987" dirty="0" err="1">
                <a:solidFill>
                  <a:srgbClr val="F2F3F5"/>
                </a:solidFill>
                <a:latin typeface="Consolas"/>
              </a:rPr>
              <a:t>plt.xlabel</a:t>
            </a:r>
            <a:r>
              <a:rPr sz="987" dirty="0">
                <a:solidFill>
                  <a:srgbClr val="F2F3F5"/>
                </a:solidFill>
                <a:latin typeface="Consolas"/>
              </a:rPr>
              <a:t>('Year')</a:t>
            </a:r>
          </a:p>
          <a:p>
            <a:pPr>
              <a:lnSpc>
                <a:spcPct val="100000"/>
              </a:lnSpc>
              <a:spcBef>
                <a:spcPts val="0"/>
              </a:spcBef>
              <a:spcAft>
                <a:spcPts val="0"/>
              </a:spcAft>
            </a:pPr>
            <a:r>
              <a:rPr sz="987" dirty="0" err="1">
                <a:solidFill>
                  <a:srgbClr val="F2F3F5"/>
                </a:solidFill>
                <a:latin typeface="Consolas"/>
              </a:rPr>
              <a:t>plt.ylabel</a:t>
            </a:r>
            <a:r>
              <a:rPr sz="987" dirty="0">
                <a:solidFill>
                  <a:srgbClr val="F2F3F5"/>
                </a:solidFill>
                <a:latin typeface="Consolas"/>
              </a:rPr>
              <a:t>('Number of Participating NOCs')</a:t>
            </a:r>
          </a:p>
          <a:p>
            <a:pPr>
              <a:lnSpc>
                <a:spcPct val="100000"/>
              </a:lnSpc>
              <a:spcBef>
                <a:spcPts val="0"/>
              </a:spcBef>
              <a:spcAft>
                <a:spcPts val="0"/>
              </a:spcAft>
            </a:pPr>
            <a:r>
              <a:rPr sz="987" dirty="0">
                <a:solidFill>
                  <a:srgbClr val="F2F3F5"/>
                </a:solidFill>
                <a:latin typeface="Consolas"/>
              </a:rPr>
              <a:t> </a:t>
            </a:r>
          </a:p>
          <a:p>
            <a:pPr>
              <a:lnSpc>
                <a:spcPct val="100000"/>
              </a:lnSpc>
              <a:spcBef>
                <a:spcPts val="0"/>
              </a:spcBef>
              <a:spcAft>
                <a:spcPts val="0"/>
              </a:spcAft>
            </a:pPr>
            <a:r>
              <a:rPr sz="987" dirty="0" err="1">
                <a:solidFill>
                  <a:srgbClr val="F2F3F5"/>
                </a:solidFill>
                <a:latin typeface="Consolas"/>
              </a:rPr>
              <a:t>plt.xticks</a:t>
            </a:r>
            <a:r>
              <a:rPr sz="987" dirty="0">
                <a:solidFill>
                  <a:srgbClr val="F2F3F5"/>
                </a:solidFill>
                <a:latin typeface="Consolas"/>
              </a:rPr>
              <a:t>(rotation=45)</a:t>
            </a:r>
          </a:p>
          <a:p>
            <a:pPr>
              <a:lnSpc>
                <a:spcPct val="100000"/>
              </a:lnSpc>
              <a:spcBef>
                <a:spcPts val="0"/>
              </a:spcBef>
              <a:spcAft>
                <a:spcPts val="0"/>
              </a:spcAft>
            </a:pPr>
            <a:r>
              <a:rPr sz="987" dirty="0" err="1">
                <a:solidFill>
                  <a:srgbClr val="F2F3F5"/>
                </a:solidFill>
                <a:latin typeface="Consolas"/>
              </a:rPr>
              <a:t>plt.grid</a:t>
            </a:r>
            <a:r>
              <a:rPr sz="987" dirty="0">
                <a:solidFill>
                  <a:srgbClr val="F2F3F5"/>
                </a:solidFill>
                <a:latin typeface="Consolas"/>
              </a:rPr>
              <a:t>(axis='y', </a:t>
            </a:r>
            <a:r>
              <a:rPr sz="987" dirty="0" err="1">
                <a:solidFill>
                  <a:srgbClr val="F2F3F5"/>
                </a:solidFill>
                <a:latin typeface="Consolas"/>
              </a:rPr>
              <a:t>linestyle</a:t>
            </a:r>
            <a:r>
              <a:rPr sz="987" dirty="0">
                <a:solidFill>
                  <a:srgbClr val="F2F3F5"/>
                </a:solidFill>
                <a:latin typeface="Consolas"/>
              </a:rPr>
              <a:t>='--', alpha=0.4)</a:t>
            </a:r>
          </a:p>
          <a:p>
            <a:pPr>
              <a:lnSpc>
                <a:spcPct val="100000"/>
              </a:lnSpc>
              <a:spcBef>
                <a:spcPts val="0"/>
              </a:spcBef>
              <a:spcAft>
                <a:spcPts val="0"/>
              </a:spcAft>
            </a:pPr>
            <a:r>
              <a:rPr sz="987" dirty="0">
                <a:solidFill>
                  <a:srgbClr val="F2F3F5"/>
                </a:solidFill>
                <a:latin typeface="Consolas"/>
              </a:rPr>
              <a:t> </a:t>
            </a:r>
          </a:p>
          <a:p>
            <a:pPr>
              <a:lnSpc>
                <a:spcPct val="100000"/>
              </a:lnSpc>
              <a:spcBef>
                <a:spcPts val="0"/>
              </a:spcBef>
              <a:spcAft>
                <a:spcPts val="0"/>
              </a:spcAft>
            </a:pPr>
            <a:r>
              <a:rPr sz="987" dirty="0" err="1">
                <a:solidFill>
                  <a:srgbClr val="F2F3F5"/>
                </a:solidFill>
                <a:latin typeface="Consolas"/>
              </a:rPr>
              <a:t>plt.tight_layout</a:t>
            </a:r>
            <a:r>
              <a:rPr sz="987" dirty="0">
                <a:solidFill>
                  <a:srgbClr val="F2F3F5"/>
                </a:solidFill>
                <a:latin typeface="Consolas"/>
              </a:rPr>
              <a:t>()</a:t>
            </a:r>
          </a:p>
          <a:p>
            <a:pPr>
              <a:lnSpc>
                <a:spcPct val="100000"/>
              </a:lnSpc>
              <a:spcBef>
                <a:spcPts val="0"/>
              </a:spcBef>
              <a:spcAft>
                <a:spcPts val="0"/>
              </a:spcAft>
            </a:pPr>
            <a:r>
              <a:rPr sz="987" dirty="0" err="1">
                <a:solidFill>
                  <a:srgbClr val="F2F3F5"/>
                </a:solidFill>
                <a:latin typeface="Consolas"/>
              </a:rPr>
              <a:t>plt.show</a:t>
            </a:r>
            <a:r>
              <a:rPr sz="987" dirty="0">
                <a:solidFill>
                  <a:srgbClr val="F2F3F5"/>
                </a:solidFill>
                <a:latin typeface="Consolas"/>
              </a:rPr>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02920" y="237744"/>
            <a:ext cx="2926080" cy="274320"/>
          </a:xfrm>
          <a:prstGeom prst="rect">
            <a:avLst/>
          </a:prstGeom>
          <a:noFill/>
          <a:ln/>
        </p:spPr>
        <p:txBody>
          <a:bodyPr wrap="square" lIns="0" tIns="0" rIns="0" bIns="0" rtlCol="0" anchor="ctr"/>
          <a:lstStyle/>
          <a:p>
            <a:pPr marL="0" indent="0">
              <a:buNone/>
            </a:pPr>
            <a:r>
              <a:rPr lang="en-US" sz="1050" b="1" dirty="0">
                <a:solidFill>
                  <a:srgbClr val="0A0A0A"/>
                </a:solidFill>
                <a:latin typeface="Arial" pitchFamily="34" charset="0"/>
                <a:ea typeface="Arial" pitchFamily="34" charset="-122"/>
                <a:cs typeface="Arial" pitchFamily="34" charset="-120"/>
              </a:rPr>
              <a:t>Olympic Athlete Analysis</a:t>
            </a:r>
            <a:endParaRPr lang="en-US" sz="1050" dirty="0"/>
          </a:p>
        </p:txBody>
      </p:sp>
      <p:sp>
        <p:nvSpPr>
          <p:cNvPr id="3" name="Text 1"/>
          <p:cNvSpPr txBox="1"/>
          <p:nvPr/>
        </p:nvSpPr>
        <p:spPr>
          <a:xfrm>
            <a:off x="502920" y="822960"/>
            <a:ext cx="3246120" cy="1188720"/>
          </a:xfrm>
          <a:prstGeom prst="rect">
            <a:avLst/>
          </a:prstGeom>
          <a:noFill/>
          <a:ln/>
        </p:spPr>
        <p:txBody>
          <a:bodyPr wrap="square" lIns="0" tIns="0" rIns="0" bIns="0" rtlCol="0" anchor="t"/>
          <a:lstStyle/>
          <a:p>
            <a:pPr marL="0" indent="0">
              <a:lnSpc>
                <a:spcPts val="2900"/>
              </a:lnSpc>
              <a:buNone/>
            </a:pPr>
            <a:r>
              <a:rPr lang="en-US" sz="2900" kern="0" spc="-50">
                <a:solidFill>
                  <a:srgbClr val="0A0A0A"/>
                </a:solidFill>
                <a:latin typeface="Arial Black" pitchFamily="34" charset="0"/>
                <a:ea typeface="Arial Black" pitchFamily="34" charset="-122"/>
                <a:cs typeface="Arial Black" pitchFamily="34" charset="-120"/>
              </a:rPr>
              <a:t>GLOBAL</a:t>
            </a:r>
            <a:endParaRPr lang="en-US" sz="2900"/>
          </a:p>
          <a:p>
            <a:pPr marL="0" indent="0">
              <a:lnSpc>
                <a:spcPts val="2900"/>
              </a:lnSpc>
              <a:buNone/>
            </a:pPr>
            <a:r>
              <a:rPr lang="en-US" sz="2900" kern="0" spc="-50">
                <a:solidFill>
                  <a:srgbClr val="0A0A0A"/>
                </a:solidFill>
                <a:latin typeface="Arial Black" pitchFamily="34" charset="0"/>
                <a:ea typeface="Arial Black" pitchFamily="34" charset="-122"/>
                <a:cs typeface="Arial Black" pitchFamily="34" charset="-120"/>
              </a:rPr>
              <a:t>EXPANSION</a:t>
            </a:r>
            <a:endParaRPr lang="en-US" sz="2900" dirty="0"/>
          </a:p>
        </p:txBody>
      </p:sp>
      <p:sp>
        <p:nvSpPr>
          <p:cNvPr id="4" name="Text 2"/>
          <p:cNvSpPr txBox="1"/>
          <p:nvPr/>
        </p:nvSpPr>
        <p:spPr>
          <a:xfrm>
            <a:off x="502920" y="1927274"/>
            <a:ext cx="3108960" cy="2461846"/>
          </a:xfrm>
          <a:prstGeom prst="rect">
            <a:avLst/>
          </a:prstGeom>
          <a:noFill/>
          <a:ln/>
        </p:spPr>
        <p:txBody>
          <a:bodyPr wrap="square" lIns="0" tIns="0" rIns="0" bIns="0" rtlCol="0" anchor="ctr"/>
          <a:lstStyle/>
          <a:p>
            <a:r>
              <a:rPr lang="en-IN" sz="1050" dirty="0">
                <a:solidFill>
                  <a:schemeClr val="bg2">
                    <a:lumMod val="50000"/>
                  </a:schemeClr>
                </a:solidFill>
                <a:latin typeface="Arial" panose="020B0604020202020204" pitchFamily="34" charset="0"/>
                <a:cs typeface="Arial" panose="020B0604020202020204" pitchFamily="34" charset="0"/>
              </a:rPr>
              <a:t>Participating NOCs grew from just 12 in 1896 to a peak of 207 in 2016 — a roughly 17-fold increase — tracking the 20th century's wave of decolonization and new nations joining the international community.</a:t>
            </a:r>
            <a:endParaRPr lang="en-US" sz="1050" dirty="0">
              <a:solidFill>
                <a:schemeClr val="bg2">
                  <a:lumMod val="50000"/>
                </a:schemeClr>
              </a:solidFill>
              <a:latin typeface="Arial" panose="020B0604020202020204" pitchFamily="34" charset="0"/>
              <a:cs typeface="Arial" panose="020B0604020202020204" pitchFamily="34" charset="0"/>
            </a:endParaRPr>
          </a:p>
        </p:txBody>
      </p:sp>
      <p:sp>
        <p:nvSpPr>
          <p:cNvPr id="5" name="Text 3"/>
          <p:cNvSpPr txBox="1"/>
          <p:nvPr/>
        </p:nvSpPr>
        <p:spPr>
          <a:xfrm>
            <a:off x="502920" y="1828800"/>
            <a:ext cx="3108960" cy="411480"/>
          </a:xfrm>
          <a:prstGeom prst="rect">
            <a:avLst/>
          </a:prstGeom>
          <a:noFill/>
          <a:ln/>
        </p:spPr>
        <p:txBody>
          <a:bodyPr wrap="square" lIns="0" tIns="0" rIns="0" bIns="0" rtlCol="0" anchor="ctr"/>
          <a:lstStyle/>
          <a:p>
            <a:r>
              <a:rPr lang="en-US" sz="1900" dirty="0">
                <a:solidFill>
                  <a:srgbClr val="C8A45C"/>
                </a:solidFill>
                <a:latin typeface="Arial Black" pitchFamily="34" charset="0"/>
                <a:ea typeface="Arial Black" pitchFamily="34" charset="-122"/>
                <a:cs typeface="Arial Black" pitchFamily="34" charset="-120"/>
              </a:rPr>
              <a:t>12 → 207 Participating NOCs</a:t>
            </a:r>
            <a:endParaRPr lang="en-US" sz="1900" dirty="0"/>
          </a:p>
        </p:txBody>
      </p:sp>
      <p:pic>
        <p:nvPicPr>
          <p:cNvPr id="8" name="Picture 7">
            <a:extLst>
              <a:ext uri="{FF2B5EF4-FFF2-40B4-BE49-F238E27FC236}">
                <a16:creationId xmlns:a16="http://schemas.microsoft.com/office/drawing/2014/main" id="{6F522885-53F1-BD18-4472-A249BEC585B8}"/>
              </a:ext>
            </a:extLst>
          </p:cNvPr>
          <p:cNvPicPr>
            <a:picLocks noChangeAspect="1"/>
          </p:cNvPicPr>
          <p:nvPr/>
        </p:nvPicPr>
        <p:blipFill>
          <a:blip r:embed="rId3">
            <a:alphaModFix amt="70000"/>
          </a:blip>
          <a:stretch>
            <a:fillRect/>
          </a:stretch>
        </p:blipFill>
        <p:spPr>
          <a:xfrm>
            <a:off x="3852672" y="1499616"/>
            <a:ext cx="4788408" cy="288950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right)">
                                      <p:cBhvr>
                                        <p:cTn id="7" dur="7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37744"/>
            <a:ext cx="2926080" cy="274320"/>
          </a:xfrm>
          <a:prstGeom prst="rect">
            <a:avLst/>
          </a:prstGeom>
          <a:noFill/>
        </p:spPr>
        <p:txBody>
          <a:bodyPr wrap="square">
            <a:spAutoFit/>
          </a:bodyPr>
          <a:lstStyle/>
          <a:p>
            <a:r>
              <a:rPr sz="1050" b="1">
                <a:solidFill>
                  <a:srgbClr val="0A0A0A"/>
                </a:solidFill>
                <a:latin typeface="Arial"/>
              </a:rPr>
              <a:t>Olympic Athlete Analysis</a:t>
            </a:r>
          </a:p>
        </p:txBody>
      </p:sp>
      <p:sp>
        <p:nvSpPr>
          <p:cNvPr id="3" name="TextBox 2"/>
          <p:cNvSpPr txBox="1"/>
          <p:nvPr/>
        </p:nvSpPr>
        <p:spPr>
          <a:xfrm>
            <a:off x="502920" y="600000"/>
            <a:ext cx="8138160" cy="500000"/>
          </a:xfrm>
          <a:prstGeom prst="rect">
            <a:avLst/>
          </a:prstGeom>
          <a:noFill/>
        </p:spPr>
        <p:txBody>
          <a:bodyPr wrap="square">
            <a:spAutoFit/>
          </a:bodyPr>
          <a:lstStyle/>
          <a:p>
            <a:r>
              <a:rPr sz="2200" b="1">
                <a:solidFill>
                  <a:srgbClr val="0A0A0A"/>
                </a:solidFill>
                <a:latin typeface="Arial Black"/>
              </a:rPr>
              <a:t>AGE DISTRIBUTION BY MEDAL STATUS</a:t>
            </a:r>
          </a:p>
        </p:txBody>
      </p:sp>
      <p:sp>
        <p:nvSpPr>
          <p:cNvPr id="4" name="TextBox 3"/>
          <p:cNvSpPr txBox="1"/>
          <p:nvPr/>
        </p:nvSpPr>
        <p:spPr>
          <a:xfrm>
            <a:off x="502920" y="1060000"/>
            <a:ext cx="8138160" cy="320000"/>
          </a:xfrm>
          <a:prstGeom prst="rect">
            <a:avLst/>
          </a:prstGeom>
          <a:noFill/>
        </p:spPr>
        <p:txBody>
          <a:bodyPr wrap="square">
            <a:spAutoFit/>
          </a:bodyPr>
          <a:lstStyle/>
          <a:p>
            <a:r>
              <a:rPr sz="1300" b="1">
                <a:solidFill>
                  <a:srgbClr val="C8A45C"/>
                </a:solidFill>
                <a:latin typeface="Arial"/>
              </a:rPr>
              <a:t>PYTHON — SOURCE CODE</a:t>
            </a:r>
          </a:p>
        </p:txBody>
      </p:sp>
      <p:sp>
        <p:nvSpPr>
          <p:cNvPr id="5" name="Rounded Rectangle 4"/>
          <p:cNvSpPr/>
          <p:nvPr/>
        </p:nvSpPr>
        <p:spPr>
          <a:xfrm>
            <a:off x="502920" y="1420000"/>
            <a:ext cx="8138160" cy="3480000"/>
          </a:xfrm>
          <a:prstGeom prst="roundRect">
            <a:avLst>
              <a:gd name="adj" fmla="val 3500"/>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580000"/>
            <a:ext cx="7680960" cy="3160000"/>
          </a:xfrm>
          <a:prstGeom prst="rect">
            <a:avLst/>
          </a:prstGeom>
          <a:noFill/>
        </p:spPr>
        <p:txBody>
          <a:bodyPr wrap="square">
            <a:noAutofit/>
          </a:bodyPr>
          <a:lstStyle/>
          <a:p>
            <a:pPr>
              <a:lnSpc>
                <a:spcPct val="100000"/>
              </a:lnSpc>
              <a:spcBef>
                <a:spcPts val="0"/>
              </a:spcBef>
              <a:spcAft>
                <a:spcPts val="0"/>
              </a:spcAft>
            </a:pPr>
            <a:endParaRPr sz="1300" dirty="0">
              <a:solidFill>
                <a:srgbClr val="C8A45C"/>
              </a:solidFill>
              <a:latin typeface="Consolas"/>
            </a:endParaRPr>
          </a:p>
          <a:p>
            <a:pPr>
              <a:lnSpc>
                <a:spcPct val="100000"/>
              </a:lnSpc>
              <a:spcBef>
                <a:spcPts val="0"/>
              </a:spcBef>
              <a:spcAft>
                <a:spcPts val="0"/>
              </a:spcAft>
            </a:pPr>
            <a:r>
              <a:rPr sz="1300" dirty="0" err="1">
                <a:solidFill>
                  <a:srgbClr val="F2F3F5"/>
                </a:solidFill>
                <a:latin typeface="Consolas"/>
              </a:rPr>
              <a:t>df</a:t>
            </a:r>
            <a:r>
              <a:rPr sz="1300" dirty="0">
                <a:solidFill>
                  <a:srgbClr val="F2F3F5"/>
                </a:solidFill>
                <a:latin typeface="Consolas"/>
              </a:rPr>
              <a:t>['Medalist'] = </a:t>
            </a:r>
            <a:r>
              <a:rPr sz="1300" dirty="0" err="1">
                <a:solidFill>
                  <a:srgbClr val="F2F3F5"/>
                </a:solidFill>
                <a:latin typeface="Consolas"/>
              </a:rPr>
              <a:t>df</a:t>
            </a:r>
            <a:r>
              <a:rPr sz="1300" dirty="0">
                <a:solidFill>
                  <a:srgbClr val="F2F3F5"/>
                </a:solidFill>
                <a:latin typeface="Consolas"/>
              </a:rPr>
              <a:t>['Medal'] != 'No Medal'</a:t>
            </a:r>
          </a:p>
          <a:p>
            <a:pPr>
              <a:lnSpc>
                <a:spcPct val="100000"/>
              </a:lnSpc>
              <a:spcBef>
                <a:spcPts val="0"/>
              </a:spcBef>
              <a:spcAft>
                <a:spcPts val="0"/>
              </a:spcAft>
            </a:pPr>
            <a:r>
              <a:rPr sz="1300" dirty="0" err="1">
                <a:solidFill>
                  <a:srgbClr val="F2F3F5"/>
                </a:solidFill>
                <a:latin typeface="Consolas"/>
              </a:rPr>
              <a:t>medalist_age</a:t>
            </a:r>
            <a:r>
              <a:rPr sz="1300" dirty="0">
                <a:solidFill>
                  <a:srgbClr val="F2F3F5"/>
                </a:solidFill>
                <a:latin typeface="Consolas"/>
              </a:rPr>
              <a:t> = </a:t>
            </a:r>
            <a:r>
              <a:rPr sz="1300" dirty="0" err="1">
                <a:solidFill>
                  <a:srgbClr val="F2F3F5"/>
                </a:solidFill>
                <a:latin typeface="Consolas"/>
              </a:rPr>
              <a:t>df</a:t>
            </a:r>
            <a:r>
              <a:rPr sz="1300" dirty="0">
                <a:solidFill>
                  <a:srgbClr val="F2F3F5"/>
                </a:solidFill>
                <a:latin typeface="Consolas"/>
              </a:rPr>
              <a:t>[</a:t>
            </a:r>
            <a:r>
              <a:rPr sz="1300" dirty="0" err="1">
                <a:solidFill>
                  <a:srgbClr val="F2F3F5"/>
                </a:solidFill>
                <a:latin typeface="Consolas"/>
              </a:rPr>
              <a:t>df</a:t>
            </a:r>
            <a:r>
              <a:rPr sz="1300" dirty="0">
                <a:solidFill>
                  <a:srgbClr val="F2F3F5"/>
                </a:solidFill>
                <a:latin typeface="Consolas"/>
              </a:rPr>
              <a:t>['Medalist']]['Age']</a:t>
            </a:r>
          </a:p>
          <a:p>
            <a:pPr>
              <a:lnSpc>
                <a:spcPct val="100000"/>
              </a:lnSpc>
              <a:spcBef>
                <a:spcPts val="0"/>
              </a:spcBef>
              <a:spcAft>
                <a:spcPts val="0"/>
              </a:spcAft>
            </a:pPr>
            <a:r>
              <a:rPr sz="1300" dirty="0" err="1">
                <a:solidFill>
                  <a:srgbClr val="F2F3F5"/>
                </a:solidFill>
                <a:latin typeface="Consolas"/>
              </a:rPr>
              <a:t>non_medalist_age</a:t>
            </a:r>
            <a:r>
              <a:rPr sz="1300" dirty="0">
                <a:solidFill>
                  <a:srgbClr val="F2F3F5"/>
                </a:solidFill>
                <a:latin typeface="Consolas"/>
              </a:rPr>
              <a:t> = </a:t>
            </a:r>
            <a:r>
              <a:rPr sz="1300" dirty="0" err="1">
                <a:solidFill>
                  <a:srgbClr val="F2F3F5"/>
                </a:solidFill>
                <a:latin typeface="Consolas"/>
              </a:rPr>
              <a:t>df</a:t>
            </a:r>
            <a:r>
              <a:rPr sz="1300" dirty="0">
                <a:solidFill>
                  <a:srgbClr val="F2F3F5"/>
                </a:solidFill>
                <a:latin typeface="Consolas"/>
              </a:rPr>
              <a:t>[~</a:t>
            </a:r>
            <a:r>
              <a:rPr sz="1300" dirty="0" err="1">
                <a:solidFill>
                  <a:srgbClr val="F2F3F5"/>
                </a:solidFill>
                <a:latin typeface="Consolas"/>
              </a:rPr>
              <a:t>df</a:t>
            </a:r>
            <a:r>
              <a:rPr sz="1300" dirty="0">
                <a:solidFill>
                  <a:srgbClr val="F2F3F5"/>
                </a:solidFill>
                <a:latin typeface="Consolas"/>
              </a:rPr>
              <a:t>['Medalist']]['Age']</a:t>
            </a:r>
          </a:p>
          <a:p>
            <a:pPr>
              <a:lnSpc>
                <a:spcPct val="100000"/>
              </a:lnSpc>
              <a:spcBef>
                <a:spcPts val="0"/>
              </a:spcBef>
              <a:spcAft>
                <a:spcPts val="0"/>
              </a:spcAft>
            </a:pPr>
            <a:r>
              <a:rPr sz="1300" dirty="0">
                <a:solidFill>
                  <a:srgbClr val="F2F3F5"/>
                </a:solidFill>
                <a:latin typeface="Consolas"/>
              </a:rPr>
              <a:t> </a:t>
            </a:r>
          </a:p>
          <a:p>
            <a:pPr>
              <a:lnSpc>
                <a:spcPct val="100000"/>
              </a:lnSpc>
              <a:spcBef>
                <a:spcPts val="0"/>
              </a:spcBef>
              <a:spcAft>
                <a:spcPts val="0"/>
              </a:spcAft>
            </a:pPr>
            <a:r>
              <a:rPr sz="1300" dirty="0" err="1">
                <a:solidFill>
                  <a:srgbClr val="F2F3F5"/>
                </a:solidFill>
                <a:latin typeface="Consolas"/>
              </a:rPr>
              <a:t>plt.figure</a:t>
            </a:r>
            <a:r>
              <a:rPr sz="1300" dirty="0">
                <a:solidFill>
                  <a:srgbClr val="F2F3F5"/>
                </a:solidFill>
                <a:latin typeface="Consolas"/>
              </a:rPr>
              <a:t>(</a:t>
            </a:r>
            <a:r>
              <a:rPr sz="1300" dirty="0" err="1">
                <a:solidFill>
                  <a:srgbClr val="F2F3F5"/>
                </a:solidFill>
                <a:latin typeface="Consolas"/>
              </a:rPr>
              <a:t>figsize</a:t>
            </a:r>
            <a:r>
              <a:rPr sz="1300" dirty="0">
                <a:solidFill>
                  <a:srgbClr val="F2F3F5"/>
                </a:solidFill>
                <a:latin typeface="Consolas"/>
              </a:rPr>
              <a:t>=(10,6))</a:t>
            </a:r>
          </a:p>
          <a:p>
            <a:pPr>
              <a:lnSpc>
                <a:spcPct val="100000"/>
              </a:lnSpc>
              <a:spcBef>
                <a:spcPts val="0"/>
              </a:spcBef>
              <a:spcAft>
                <a:spcPts val="0"/>
              </a:spcAft>
            </a:pPr>
            <a:r>
              <a:rPr sz="1300" dirty="0" err="1">
                <a:solidFill>
                  <a:srgbClr val="F2F3F5"/>
                </a:solidFill>
                <a:latin typeface="Consolas"/>
              </a:rPr>
              <a:t>plt.hist</a:t>
            </a:r>
            <a:r>
              <a:rPr sz="1300" dirty="0">
                <a:solidFill>
                  <a:srgbClr val="F2F3F5"/>
                </a:solidFill>
                <a:latin typeface="Consolas"/>
              </a:rPr>
              <a:t>(</a:t>
            </a:r>
            <a:r>
              <a:rPr sz="1300" dirty="0" err="1">
                <a:solidFill>
                  <a:srgbClr val="F2F3F5"/>
                </a:solidFill>
                <a:latin typeface="Consolas"/>
              </a:rPr>
              <a:t>non_medalist_age</a:t>
            </a:r>
            <a:r>
              <a:rPr sz="1300" dirty="0">
                <a:solidFill>
                  <a:srgbClr val="F2F3F5"/>
                </a:solidFill>
                <a:latin typeface="Consolas"/>
              </a:rPr>
              <a:t>, bins=40, alpha=0.5, label='No Medal', color='gray', density=True)</a:t>
            </a:r>
          </a:p>
          <a:p>
            <a:pPr>
              <a:lnSpc>
                <a:spcPct val="100000"/>
              </a:lnSpc>
              <a:spcBef>
                <a:spcPts val="0"/>
              </a:spcBef>
              <a:spcAft>
                <a:spcPts val="0"/>
              </a:spcAft>
            </a:pPr>
            <a:r>
              <a:rPr sz="1300" dirty="0" err="1">
                <a:solidFill>
                  <a:srgbClr val="F2F3F5"/>
                </a:solidFill>
                <a:latin typeface="Consolas"/>
              </a:rPr>
              <a:t>plt.hist</a:t>
            </a:r>
            <a:r>
              <a:rPr sz="1300" dirty="0">
                <a:solidFill>
                  <a:srgbClr val="F2F3F5"/>
                </a:solidFill>
                <a:latin typeface="Consolas"/>
              </a:rPr>
              <a:t>(</a:t>
            </a:r>
            <a:r>
              <a:rPr sz="1300" dirty="0" err="1">
                <a:solidFill>
                  <a:srgbClr val="F2F3F5"/>
                </a:solidFill>
                <a:latin typeface="Consolas"/>
              </a:rPr>
              <a:t>medalist_age</a:t>
            </a:r>
            <a:r>
              <a:rPr sz="1300" dirty="0">
                <a:solidFill>
                  <a:srgbClr val="F2F3F5"/>
                </a:solidFill>
                <a:latin typeface="Consolas"/>
              </a:rPr>
              <a:t>, bins=40, alpha=0.6, label='Medalist', color='gold', density=True)</a:t>
            </a:r>
          </a:p>
          <a:p>
            <a:pPr>
              <a:lnSpc>
                <a:spcPct val="100000"/>
              </a:lnSpc>
              <a:spcBef>
                <a:spcPts val="0"/>
              </a:spcBef>
              <a:spcAft>
                <a:spcPts val="0"/>
              </a:spcAft>
            </a:pPr>
            <a:r>
              <a:rPr sz="1300" dirty="0" err="1">
                <a:solidFill>
                  <a:srgbClr val="F2F3F5"/>
                </a:solidFill>
                <a:latin typeface="Consolas"/>
              </a:rPr>
              <a:t>plt.title</a:t>
            </a:r>
            <a:r>
              <a:rPr sz="1300" dirty="0">
                <a:solidFill>
                  <a:srgbClr val="F2F3F5"/>
                </a:solidFill>
                <a:latin typeface="Consolas"/>
              </a:rPr>
              <a:t>('Age Distribution</a:t>
            </a:r>
            <a:r>
              <a:rPr lang="en-IN" sz="1300" dirty="0">
                <a:solidFill>
                  <a:srgbClr val="F2F3F5"/>
                </a:solidFill>
                <a:latin typeface="Consolas"/>
              </a:rPr>
              <a:t> by Medal Status</a:t>
            </a:r>
            <a:r>
              <a:rPr sz="1300" dirty="0">
                <a:solidFill>
                  <a:srgbClr val="F2F3F5"/>
                </a:solidFill>
                <a:latin typeface="Consolas"/>
              </a:rPr>
              <a:t>')</a:t>
            </a:r>
          </a:p>
          <a:p>
            <a:pPr>
              <a:lnSpc>
                <a:spcPct val="100000"/>
              </a:lnSpc>
              <a:spcBef>
                <a:spcPts val="0"/>
              </a:spcBef>
              <a:spcAft>
                <a:spcPts val="0"/>
              </a:spcAft>
            </a:pPr>
            <a:r>
              <a:rPr sz="1300" dirty="0" err="1">
                <a:solidFill>
                  <a:srgbClr val="F2F3F5"/>
                </a:solidFill>
                <a:latin typeface="Consolas"/>
              </a:rPr>
              <a:t>plt.xlabel</a:t>
            </a:r>
            <a:r>
              <a:rPr sz="1300" dirty="0">
                <a:solidFill>
                  <a:srgbClr val="F2F3F5"/>
                </a:solidFill>
                <a:latin typeface="Consolas"/>
              </a:rPr>
              <a:t>('Age')</a:t>
            </a:r>
          </a:p>
          <a:p>
            <a:pPr>
              <a:lnSpc>
                <a:spcPct val="100000"/>
              </a:lnSpc>
              <a:spcBef>
                <a:spcPts val="0"/>
              </a:spcBef>
              <a:spcAft>
                <a:spcPts val="0"/>
              </a:spcAft>
            </a:pPr>
            <a:r>
              <a:rPr sz="1300" dirty="0" err="1">
                <a:solidFill>
                  <a:srgbClr val="F2F3F5"/>
                </a:solidFill>
                <a:latin typeface="Consolas"/>
              </a:rPr>
              <a:t>plt.ylabel</a:t>
            </a:r>
            <a:r>
              <a:rPr sz="1300" dirty="0">
                <a:solidFill>
                  <a:srgbClr val="F2F3F5"/>
                </a:solidFill>
                <a:latin typeface="Consolas"/>
              </a:rPr>
              <a:t>('Density (normalized)')</a:t>
            </a:r>
          </a:p>
          <a:p>
            <a:pPr>
              <a:lnSpc>
                <a:spcPct val="100000"/>
              </a:lnSpc>
              <a:spcBef>
                <a:spcPts val="0"/>
              </a:spcBef>
              <a:spcAft>
                <a:spcPts val="0"/>
              </a:spcAft>
            </a:pPr>
            <a:r>
              <a:rPr sz="1300" dirty="0" err="1">
                <a:solidFill>
                  <a:srgbClr val="F2F3F5"/>
                </a:solidFill>
                <a:latin typeface="Consolas"/>
              </a:rPr>
              <a:t>plt.legend</a:t>
            </a:r>
            <a:r>
              <a:rPr sz="1300" dirty="0">
                <a:solidFill>
                  <a:srgbClr val="F2F3F5"/>
                </a:solidFill>
                <a:latin typeface="Consolas"/>
              </a:rPr>
              <a:t>()</a:t>
            </a:r>
          </a:p>
          <a:p>
            <a:pPr>
              <a:lnSpc>
                <a:spcPct val="100000"/>
              </a:lnSpc>
              <a:spcBef>
                <a:spcPts val="0"/>
              </a:spcBef>
              <a:spcAft>
                <a:spcPts val="0"/>
              </a:spcAft>
            </a:pPr>
            <a:r>
              <a:rPr sz="1300" dirty="0" err="1">
                <a:solidFill>
                  <a:srgbClr val="F2F3F5"/>
                </a:solidFill>
                <a:latin typeface="Consolas"/>
              </a:rPr>
              <a:t>plt.show</a:t>
            </a:r>
            <a:r>
              <a:rPr sz="1300" dirty="0">
                <a:solidFill>
                  <a:srgbClr val="F2F3F5"/>
                </a:solidFill>
                <a:latin typeface="Consolas"/>
              </a:rPr>
              <a: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02920" y="237744"/>
            <a:ext cx="2926080" cy="274320"/>
          </a:xfrm>
          <a:prstGeom prst="rect">
            <a:avLst/>
          </a:prstGeom>
          <a:noFill/>
          <a:ln/>
        </p:spPr>
        <p:txBody>
          <a:bodyPr wrap="square" lIns="0" tIns="0" rIns="0" bIns="0" rtlCol="0" anchor="ctr"/>
          <a:lstStyle/>
          <a:p>
            <a:pPr marL="0" indent="0">
              <a:buNone/>
            </a:pPr>
            <a:r>
              <a:rPr lang="en-US" sz="1050" b="1" dirty="0">
                <a:solidFill>
                  <a:srgbClr val="0A0A0A"/>
                </a:solidFill>
                <a:latin typeface="Arial" pitchFamily="34" charset="0"/>
                <a:ea typeface="Arial" pitchFamily="34" charset="-122"/>
                <a:cs typeface="Arial" pitchFamily="34" charset="-120"/>
              </a:rPr>
              <a:t>Olympic Athlete Analysis</a:t>
            </a:r>
            <a:endParaRPr lang="en-US" sz="1050" dirty="0"/>
          </a:p>
        </p:txBody>
      </p:sp>
      <p:sp>
        <p:nvSpPr>
          <p:cNvPr id="3" name="Text 1"/>
          <p:cNvSpPr txBox="1"/>
          <p:nvPr/>
        </p:nvSpPr>
        <p:spPr>
          <a:xfrm>
            <a:off x="502920" y="640080"/>
            <a:ext cx="3761350" cy="1188720"/>
          </a:xfrm>
          <a:prstGeom prst="rect">
            <a:avLst/>
          </a:prstGeom>
          <a:noFill/>
          <a:ln/>
        </p:spPr>
        <p:txBody>
          <a:bodyPr wrap="square" lIns="0" tIns="0" rIns="0" bIns="0" rtlCol="0" anchor="t"/>
          <a:lstStyle/>
          <a:p>
            <a:pPr marL="0" indent="0">
              <a:lnSpc>
                <a:spcPts val="2900"/>
              </a:lnSpc>
              <a:buNone/>
            </a:pPr>
            <a:r>
              <a:rPr lang="en-US" sz="2900" kern="0" spc="-50" dirty="0">
                <a:solidFill>
                  <a:srgbClr val="0A0A0A"/>
                </a:solidFill>
                <a:latin typeface="Arial Black" pitchFamily="34" charset="0"/>
                <a:ea typeface="Arial Black" pitchFamily="34" charset="-122"/>
                <a:cs typeface="Arial Black" pitchFamily="34" charset="-120"/>
              </a:rPr>
              <a:t>AGE DISTRIBUTION BY MEDAL STATUS</a:t>
            </a:r>
            <a:endParaRPr lang="en-US" sz="2900" dirty="0"/>
          </a:p>
          <a:p>
            <a:endParaRPr lang="en-US" sz="2900" dirty="0"/>
          </a:p>
        </p:txBody>
      </p:sp>
      <p:sp>
        <p:nvSpPr>
          <p:cNvPr id="4" name="Text 2"/>
          <p:cNvSpPr txBox="1"/>
          <p:nvPr/>
        </p:nvSpPr>
        <p:spPr>
          <a:xfrm>
            <a:off x="411480" y="2263141"/>
            <a:ext cx="3108960" cy="2103120"/>
          </a:xfrm>
          <a:prstGeom prst="rect">
            <a:avLst/>
          </a:prstGeom>
          <a:noFill/>
          <a:ln/>
        </p:spPr>
        <p:txBody>
          <a:bodyPr wrap="square" lIns="0" tIns="0" rIns="0" bIns="0" rtlCol="0" anchor="ctr"/>
          <a:lstStyle/>
          <a:p>
            <a:r>
              <a:rPr lang="en-IN" sz="1050" dirty="0" err="1">
                <a:solidFill>
                  <a:schemeClr val="bg2">
                    <a:lumMod val="50000"/>
                  </a:schemeClr>
                </a:solidFill>
                <a:latin typeface="Arial" panose="020B0604020202020204" pitchFamily="34" charset="0"/>
                <a:cs typeface="Arial" panose="020B0604020202020204" pitchFamily="34" charset="0"/>
              </a:rPr>
              <a:t>Medalists</a:t>
            </a:r>
            <a:r>
              <a:rPr lang="en-IN" sz="1050" dirty="0">
                <a:solidFill>
                  <a:schemeClr val="bg2">
                    <a:lumMod val="50000"/>
                  </a:schemeClr>
                </a:solidFill>
                <a:latin typeface="Arial" panose="020B0604020202020204" pitchFamily="34" charset="0"/>
                <a:cs typeface="Arial" panose="020B0604020202020204" pitchFamily="34" charset="0"/>
              </a:rPr>
              <a:t> average 25.9 years vs. 25.4 for non-</a:t>
            </a:r>
            <a:r>
              <a:rPr lang="en-IN" sz="1050" dirty="0" err="1">
                <a:solidFill>
                  <a:schemeClr val="bg2">
                    <a:lumMod val="50000"/>
                  </a:schemeClr>
                </a:solidFill>
                <a:latin typeface="Arial" panose="020B0604020202020204" pitchFamily="34" charset="0"/>
                <a:cs typeface="Arial" panose="020B0604020202020204" pitchFamily="34" charset="0"/>
              </a:rPr>
              <a:t>medalists</a:t>
            </a:r>
            <a:r>
              <a:rPr lang="en-IN" sz="1050" dirty="0">
                <a:solidFill>
                  <a:schemeClr val="bg2">
                    <a:lumMod val="50000"/>
                  </a:schemeClr>
                </a:solidFill>
                <a:latin typeface="Arial" panose="020B0604020202020204" pitchFamily="34" charset="0"/>
                <a:cs typeface="Arial" panose="020B0604020202020204" pitchFamily="34" charset="0"/>
              </a:rPr>
              <a:t> (median 25 vs. 24). The gap is statistically significant (t-test, p &lt; 0.001) given the huge sample size, but substantively tiny — under a year — so age has almost no real predictive power over who medals.</a:t>
            </a:r>
            <a:endParaRPr lang="en-US" sz="1050" dirty="0">
              <a:solidFill>
                <a:schemeClr val="bg2">
                  <a:lumMod val="50000"/>
                </a:schemeClr>
              </a:solidFill>
              <a:latin typeface="Arial" panose="020B0604020202020204" pitchFamily="34" charset="0"/>
              <a:cs typeface="Arial" panose="020B0604020202020204" pitchFamily="34" charset="0"/>
            </a:endParaRPr>
          </a:p>
        </p:txBody>
      </p:sp>
      <p:sp>
        <p:nvSpPr>
          <p:cNvPr id="5" name="Text 3"/>
          <p:cNvSpPr txBox="1"/>
          <p:nvPr/>
        </p:nvSpPr>
        <p:spPr>
          <a:xfrm>
            <a:off x="502920" y="1828800"/>
            <a:ext cx="3108960" cy="411480"/>
          </a:xfrm>
          <a:prstGeom prst="rect">
            <a:avLst/>
          </a:prstGeom>
          <a:noFill/>
          <a:ln/>
        </p:spPr>
        <p:txBody>
          <a:bodyPr wrap="square" lIns="0" tIns="0" rIns="0" bIns="0" rtlCol="0" anchor="ctr"/>
          <a:lstStyle/>
          <a:p>
            <a:pPr marL="0" indent="0">
              <a:buNone/>
            </a:pPr>
            <a:r>
              <a:rPr lang="en-US" sz="1900" dirty="0">
                <a:solidFill>
                  <a:srgbClr val="C8A45C"/>
                </a:solidFill>
                <a:latin typeface="Arial Black" pitchFamily="34" charset="0"/>
                <a:ea typeface="Arial Black" pitchFamily="34" charset="-122"/>
                <a:cs typeface="Arial Black" pitchFamily="34" charset="-120"/>
              </a:rPr>
              <a:t>25.9 vs 25.4 years</a:t>
            </a:r>
            <a:endParaRPr lang="en-US" sz="1900" dirty="0"/>
          </a:p>
        </p:txBody>
      </p:sp>
      <p:pic>
        <p:nvPicPr>
          <p:cNvPr id="8" name="Picture 7">
            <a:extLst>
              <a:ext uri="{FF2B5EF4-FFF2-40B4-BE49-F238E27FC236}">
                <a16:creationId xmlns:a16="http://schemas.microsoft.com/office/drawing/2014/main" id="{A6739BFA-96B5-7E37-F9FE-15A7711E9654}"/>
              </a:ext>
            </a:extLst>
          </p:cNvPr>
          <p:cNvPicPr>
            <a:picLocks noChangeAspect="1"/>
          </p:cNvPicPr>
          <p:nvPr/>
        </p:nvPicPr>
        <p:blipFill>
          <a:blip r:embed="rId3">
            <a:alphaModFix amt="70000"/>
          </a:blip>
          <a:stretch>
            <a:fillRect/>
          </a:stretch>
        </p:blipFill>
        <p:spPr>
          <a:xfrm>
            <a:off x="3847806" y="1828801"/>
            <a:ext cx="4793274" cy="267462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7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37744"/>
            <a:ext cx="2926080" cy="274320"/>
          </a:xfrm>
          <a:prstGeom prst="rect">
            <a:avLst/>
          </a:prstGeom>
          <a:noFill/>
        </p:spPr>
        <p:txBody>
          <a:bodyPr wrap="square">
            <a:spAutoFit/>
          </a:bodyPr>
          <a:lstStyle/>
          <a:p>
            <a:r>
              <a:rPr sz="1050" b="1">
                <a:solidFill>
                  <a:srgbClr val="0A0A0A"/>
                </a:solidFill>
                <a:latin typeface="Arial"/>
              </a:rPr>
              <a:t>Olympic Athlete Analysis</a:t>
            </a:r>
          </a:p>
        </p:txBody>
      </p:sp>
      <p:sp>
        <p:nvSpPr>
          <p:cNvPr id="3" name="TextBox 2"/>
          <p:cNvSpPr txBox="1"/>
          <p:nvPr/>
        </p:nvSpPr>
        <p:spPr>
          <a:xfrm>
            <a:off x="502920" y="600000"/>
            <a:ext cx="8138160" cy="500000"/>
          </a:xfrm>
          <a:prstGeom prst="rect">
            <a:avLst/>
          </a:prstGeom>
          <a:noFill/>
        </p:spPr>
        <p:txBody>
          <a:bodyPr wrap="square">
            <a:spAutoFit/>
          </a:bodyPr>
          <a:lstStyle/>
          <a:p>
            <a:r>
              <a:rPr sz="2200" b="1">
                <a:solidFill>
                  <a:srgbClr val="0A0A0A"/>
                </a:solidFill>
                <a:latin typeface="Arial Black"/>
              </a:rPr>
              <a:t>HEIGHT AND WEIGHT</a:t>
            </a:r>
          </a:p>
        </p:txBody>
      </p:sp>
      <p:sp>
        <p:nvSpPr>
          <p:cNvPr id="4" name="TextBox 3"/>
          <p:cNvSpPr txBox="1"/>
          <p:nvPr/>
        </p:nvSpPr>
        <p:spPr>
          <a:xfrm>
            <a:off x="502920" y="1060000"/>
            <a:ext cx="8138160" cy="320000"/>
          </a:xfrm>
          <a:prstGeom prst="rect">
            <a:avLst/>
          </a:prstGeom>
          <a:noFill/>
        </p:spPr>
        <p:txBody>
          <a:bodyPr wrap="square">
            <a:spAutoFit/>
          </a:bodyPr>
          <a:lstStyle/>
          <a:p>
            <a:r>
              <a:rPr sz="1300" b="1">
                <a:solidFill>
                  <a:srgbClr val="C8A45C"/>
                </a:solidFill>
                <a:latin typeface="Arial"/>
              </a:rPr>
              <a:t>PYTHON — SOURCE CODE</a:t>
            </a:r>
          </a:p>
        </p:txBody>
      </p:sp>
      <p:sp>
        <p:nvSpPr>
          <p:cNvPr id="5" name="Rounded Rectangle 4"/>
          <p:cNvSpPr/>
          <p:nvPr/>
        </p:nvSpPr>
        <p:spPr>
          <a:xfrm>
            <a:off x="502920" y="1420000"/>
            <a:ext cx="8138160" cy="3480000"/>
          </a:xfrm>
          <a:prstGeom prst="roundRect">
            <a:avLst>
              <a:gd name="adj" fmla="val 3500"/>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580000"/>
            <a:ext cx="7680960" cy="3160000"/>
          </a:xfrm>
          <a:prstGeom prst="rect">
            <a:avLst/>
          </a:prstGeom>
          <a:noFill/>
        </p:spPr>
        <p:txBody>
          <a:bodyPr wrap="square">
            <a:noAutofit/>
          </a:bodyPr>
          <a:lstStyle/>
          <a:p>
            <a:pPr>
              <a:lnSpc>
                <a:spcPct val="100000"/>
              </a:lnSpc>
              <a:spcBef>
                <a:spcPts val="0"/>
              </a:spcBef>
              <a:spcAft>
                <a:spcPts val="0"/>
              </a:spcAft>
            </a:pPr>
            <a:r>
              <a:rPr sz="1295">
                <a:solidFill>
                  <a:srgbClr val="C8A45C"/>
                </a:solidFill>
                <a:latin typeface="Consolas"/>
              </a:rPr>
              <a:t>#Relationship Between Height and Weight (Correlation)</a:t>
            </a:r>
          </a:p>
          <a:p>
            <a:pPr>
              <a:lnSpc>
                <a:spcPct val="100000"/>
              </a:lnSpc>
              <a:spcBef>
                <a:spcPts val="0"/>
              </a:spcBef>
              <a:spcAft>
                <a:spcPts val="0"/>
              </a:spcAft>
            </a:pPr>
            <a:r>
              <a:rPr sz="1295">
                <a:solidFill>
                  <a:srgbClr val="F2F3F5"/>
                </a:solidFill>
                <a:latin typeface="Consolas"/>
              </a:rPr>
              <a:t>import matplotlib.pyplot as plt</a:t>
            </a:r>
          </a:p>
          <a:p>
            <a:pPr>
              <a:lnSpc>
                <a:spcPct val="100000"/>
              </a:lnSpc>
              <a:spcBef>
                <a:spcPts val="0"/>
              </a:spcBef>
              <a:spcAft>
                <a:spcPts val="0"/>
              </a:spcAft>
            </a:pPr>
            <a:r>
              <a:rPr sz="1295">
                <a:solidFill>
                  <a:srgbClr val="F2F3F5"/>
                </a:solidFill>
                <a:latin typeface="Consolas"/>
              </a:rPr>
              <a:t> </a:t>
            </a:r>
          </a:p>
          <a:p>
            <a:pPr>
              <a:lnSpc>
                <a:spcPct val="100000"/>
              </a:lnSpc>
              <a:spcBef>
                <a:spcPts val="0"/>
              </a:spcBef>
              <a:spcAft>
                <a:spcPts val="0"/>
              </a:spcAft>
            </a:pPr>
            <a:r>
              <a:rPr sz="1295">
                <a:solidFill>
                  <a:srgbClr val="C8A45C"/>
                </a:solidFill>
                <a:latin typeface="Consolas"/>
              </a:rPr>
              <a:t># Step 1: Calculate correlation between Height and Weight</a:t>
            </a:r>
          </a:p>
          <a:p>
            <a:pPr>
              <a:lnSpc>
                <a:spcPct val="100000"/>
              </a:lnSpc>
              <a:spcBef>
                <a:spcPts val="0"/>
              </a:spcBef>
              <a:spcAft>
                <a:spcPts val="0"/>
              </a:spcAft>
            </a:pPr>
            <a:r>
              <a:rPr sz="1295">
                <a:solidFill>
                  <a:srgbClr val="F2F3F5"/>
                </a:solidFill>
                <a:latin typeface="Consolas"/>
              </a:rPr>
              <a:t>correlation = df['Height'].corr(df['Weight'])</a:t>
            </a:r>
          </a:p>
          <a:p>
            <a:pPr>
              <a:lnSpc>
                <a:spcPct val="100000"/>
              </a:lnSpc>
              <a:spcBef>
                <a:spcPts val="0"/>
              </a:spcBef>
              <a:spcAft>
                <a:spcPts val="0"/>
              </a:spcAft>
            </a:pPr>
            <a:r>
              <a:rPr sz="1295">
                <a:solidFill>
                  <a:srgbClr val="F2F3F5"/>
                </a:solidFill>
                <a:latin typeface="Consolas"/>
              </a:rPr>
              <a:t>print("Correlation:", correlation)</a:t>
            </a:r>
          </a:p>
          <a:p>
            <a:pPr>
              <a:lnSpc>
                <a:spcPct val="100000"/>
              </a:lnSpc>
              <a:spcBef>
                <a:spcPts val="0"/>
              </a:spcBef>
              <a:spcAft>
                <a:spcPts val="0"/>
              </a:spcAft>
            </a:pPr>
            <a:r>
              <a:rPr sz="1295">
                <a:solidFill>
                  <a:srgbClr val="F2F3F5"/>
                </a:solidFill>
                <a:latin typeface="Consolas"/>
              </a:rPr>
              <a:t> </a:t>
            </a:r>
          </a:p>
          <a:p>
            <a:pPr>
              <a:lnSpc>
                <a:spcPct val="100000"/>
              </a:lnSpc>
              <a:spcBef>
                <a:spcPts val="0"/>
              </a:spcBef>
              <a:spcAft>
                <a:spcPts val="0"/>
              </a:spcAft>
            </a:pPr>
            <a:r>
              <a:rPr sz="1295">
                <a:solidFill>
                  <a:srgbClr val="C8A45C"/>
                </a:solidFill>
                <a:latin typeface="Consolas"/>
              </a:rPr>
              <a:t># Step 2: Take a small sample so the chart isn't too crowded</a:t>
            </a:r>
          </a:p>
          <a:p>
            <a:pPr>
              <a:lnSpc>
                <a:spcPct val="100000"/>
              </a:lnSpc>
              <a:spcBef>
                <a:spcPts val="0"/>
              </a:spcBef>
              <a:spcAft>
                <a:spcPts val="0"/>
              </a:spcAft>
            </a:pPr>
            <a:r>
              <a:rPr sz="1295">
                <a:solidFill>
                  <a:srgbClr val="F2F3F5"/>
                </a:solidFill>
                <a:latin typeface="Consolas"/>
              </a:rPr>
              <a:t>sample = df.sample(2000)</a:t>
            </a:r>
          </a:p>
          <a:p>
            <a:pPr>
              <a:lnSpc>
                <a:spcPct val="100000"/>
              </a:lnSpc>
              <a:spcBef>
                <a:spcPts val="0"/>
              </a:spcBef>
              <a:spcAft>
                <a:spcPts val="0"/>
              </a:spcAft>
            </a:pPr>
            <a:r>
              <a:rPr sz="1295">
                <a:solidFill>
                  <a:srgbClr val="F2F3F5"/>
                </a:solidFill>
                <a:latin typeface="Consolas"/>
              </a:rPr>
              <a:t> </a:t>
            </a:r>
          </a:p>
          <a:p>
            <a:pPr>
              <a:lnSpc>
                <a:spcPct val="100000"/>
              </a:lnSpc>
              <a:spcBef>
                <a:spcPts val="0"/>
              </a:spcBef>
              <a:spcAft>
                <a:spcPts val="0"/>
              </a:spcAft>
            </a:pPr>
            <a:r>
              <a:rPr sz="1295">
                <a:solidFill>
                  <a:srgbClr val="C8A45C"/>
                </a:solidFill>
                <a:latin typeface="Consolas"/>
              </a:rPr>
              <a:t># Step 3: Plot Height vs Weight</a:t>
            </a:r>
          </a:p>
          <a:p>
            <a:pPr>
              <a:lnSpc>
                <a:spcPct val="100000"/>
              </a:lnSpc>
              <a:spcBef>
                <a:spcPts val="0"/>
              </a:spcBef>
              <a:spcAft>
                <a:spcPts val="0"/>
              </a:spcAft>
            </a:pPr>
            <a:r>
              <a:rPr sz="1295">
                <a:solidFill>
                  <a:srgbClr val="F2F3F5"/>
                </a:solidFill>
                <a:latin typeface="Consolas"/>
              </a:rPr>
              <a:t>plt.scatter(sample['Height'], sample['Weight'])</a:t>
            </a:r>
          </a:p>
          <a:p>
            <a:pPr>
              <a:lnSpc>
                <a:spcPct val="100000"/>
              </a:lnSpc>
              <a:spcBef>
                <a:spcPts val="0"/>
              </a:spcBef>
              <a:spcAft>
                <a:spcPts val="0"/>
              </a:spcAft>
            </a:pPr>
            <a:r>
              <a:rPr sz="1295">
                <a:solidFill>
                  <a:srgbClr val="F2F3F5"/>
                </a:solidFill>
                <a:latin typeface="Consolas"/>
              </a:rPr>
              <a:t>plt.title('Height vs Weight')</a:t>
            </a:r>
          </a:p>
          <a:p>
            <a:pPr>
              <a:lnSpc>
                <a:spcPct val="100000"/>
              </a:lnSpc>
              <a:spcBef>
                <a:spcPts val="0"/>
              </a:spcBef>
              <a:spcAft>
                <a:spcPts val="0"/>
              </a:spcAft>
            </a:pPr>
            <a:r>
              <a:rPr sz="1295">
                <a:solidFill>
                  <a:srgbClr val="F2F3F5"/>
                </a:solidFill>
                <a:latin typeface="Consolas"/>
              </a:rPr>
              <a:t>plt.xlabel('Height (cm)')</a:t>
            </a:r>
          </a:p>
          <a:p>
            <a:pPr>
              <a:lnSpc>
                <a:spcPct val="100000"/>
              </a:lnSpc>
              <a:spcBef>
                <a:spcPts val="0"/>
              </a:spcBef>
              <a:spcAft>
                <a:spcPts val="0"/>
              </a:spcAft>
            </a:pPr>
            <a:r>
              <a:rPr sz="1295">
                <a:solidFill>
                  <a:srgbClr val="F2F3F5"/>
                </a:solidFill>
                <a:latin typeface="Consolas"/>
              </a:rPr>
              <a:t>plt.ylabel('Weight (kg)')</a:t>
            </a:r>
          </a:p>
          <a:p>
            <a:pPr>
              <a:lnSpc>
                <a:spcPct val="100000"/>
              </a:lnSpc>
              <a:spcBef>
                <a:spcPts val="0"/>
              </a:spcBef>
              <a:spcAft>
                <a:spcPts val="0"/>
              </a:spcAft>
            </a:pPr>
            <a:r>
              <a:rPr sz="1295">
                <a:solidFill>
                  <a:srgbClr val="F2F3F5"/>
                </a:solidFill>
                <a:latin typeface="Consolas"/>
              </a:rPr>
              <a:t>plt.show()</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02920" y="237744"/>
            <a:ext cx="2926080" cy="274320"/>
          </a:xfrm>
          <a:prstGeom prst="rect">
            <a:avLst/>
          </a:prstGeom>
          <a:noFill/>
          <a:ln/>
        </p:spPr>
        <p:txBody>
          <a:bodyPr wrap="square" lIns="0" tIns="0" rIns="0" bIns="0" rtlCol="0" anchor="ctr"/>
          <a:lstStyle/>
          <a:p>
            <a:pPr marL="0" indent="0">
              <a:buNone/>
            </a:pPr>
            <a:r>
              <a:rPr lang="en-US" sz="1050" b="1" dirty="0">
                <a:solidFill>
                  <a:srgbClr val="0A0A0A"/>
                </a:solidFill>
                <a:latin typeface="Arial" pitchFamily="34" charset="0"/>
                <a:ea typeface="Arial" pitchFamily="34" charset="-122"/>
                <a:cs typeface="Arial" pitchFamily="34" charset="-120"/>
              </a:rPr>
              <a:t>Olympic Athlete Analysis</a:t>
            </a:r>
            <a:endParaRPr lang="en-US" sz="1050" dirty="0"/>
          </a:p>
        </p:txBody>
      </p:sp>
      <p:sp>
        <p:nvSpPr>
          <p:cNvPr id="3" name="Text 1"/>
          <p:cNvSpPr txBox="1"/>
          <p:nvPr/>
        </p:nvSpPr>
        <p:spPr>
          <a:xfrm>
            <a:off x="502920" y="822960"/>
            <a:ext cx="3246120" cy="1188720"/>
          </a:xfrm>
          <a:prstGeom prst="rect">
            <a:avLst/>
          </a:prstGeom>
          <a:noFill/>
          <a:ln/>
        </p:spPr>
        <p:txBody>
          <a:bodyPr wrap="square" lIns="0" tIns="0" rIns="0" bIns="0" rtlCol="0" anchor="t"/>
          <a:lstStyle/>
          <a:p>
            <a:pPr marL="0" indent="0">
              <a:lnSpc>
                <a:spcPts val="2900"/>
              </a:lnSpc>
              <a:buNone/>
            </a:pPr>
            <a:r>
              <a:rPr lang="en-US" sz="2900" kern="0" spc="-50" dirty="0">
                <a:solidFill>
                  <a:srgbClr val="0A0A0A"/>
                </a:solidFill>
                <a:latin typeface="Arial Black" pitchFamily="34" charset="0"/>
                <a:ea typeface="Arial Black" pitchFamily="34" charset="-122"/>
                <a:cs typeface="Arial Black" pitchFamily="34" charset="-120"/>
              </a:rPr>
              <a:t>HEIGHT AND</a:t>
            </a:r>
            <a:endParaRPr lang="en-US" sz="2900" dirty="0"/>
          </a:p>
          <a:p>
            <a:pPr marL="0" indent="0">
              <a:lnSpc>
                <a:spcPts val="2900"/>
              </a:lnSpc>
              <a:buNone/>
            </a:pPr>
            <a:r>
              <a:rPr lang="en-US" sz="2900" kern="0" spc="-50" dirty="0">
                <a:solidFill>
                  <a:srgbClr val="0A0A0A"/>
                </a:solidFill>
                <a:latin typeface="Arial Black" pitchFamily="34" charset="0"/>
                <a:ea typeface="Arial Black" pitchFamily="34" charset="-122"/>
                <a:cs typeface="Arial Black" pitchFamily="34" charset="-120"/>
              </a:rPr>
              <a:t>WEIGHT</a:t>
            </a:r>
            <a:endParaRPr lang="en-US" sz="2900" dirty="0"/>
          </a:p>
        </p:txBody>
      </p:sp>
      <p:sp>
        <p:nvSpPr>
          <p:cNvPr id="4" name="Text 2"/>
          <p:cNvSpPr txBox="1"/>
          <p:nvPr/>
        </p:nvSpPr>
        <p:spPr>
          <a:xfrm>
            <a:off x="502920" y="2286000"/>
            <a:ext cx="3108960" cy="2103120"/>
          </a:xfrm>
          <a:prstGeom prst="rect">
            <a:avLst/>
          </a:prstGeom>
          <a:noFill/>
          <a:ln/>
        </p:spPr>
        <p:txBody>
          <a:bodyPr wrap="square" lIns="0" tIns="0" rIns="0" bIns="0" rtlCol="0" anchor="ctr"/>
          <a:lstStyle/>
          <a:p>
            <a:r>
              <a:rPr lang="en-IN" sz="1050" dirty="0">
                <a:solidFill>
                  <a:schemeClr val="bg2">
                    <a:lumMod val="50000"/>
                  </a:schemeClr>
                </a:solidFill>
                <a:latin typeface="Arial" panose="020B0604020202020204" pitchFamily="34" charset="0"/>
                <a:cs typeface="Arial" panose="020B0604020202020204" pitchFamily="34" charset="0"/>
              </a:rPr>
              <a:t>Height and Weight correlate at 0.797, a strong positive relationship confirming the expected physiological link: taller athletes are systematically heavier across the dataset, with scatter concentrated in a clear upward band.</a:t>
            </a:r>
            <a:endParaRPr lang="en-US" sz="1050" dirty="0">
              <a:solidFill>
                <a:schemeClr val="bg2">
                  <a:lumMod val="50000"/>
                </a:schemeClr>
              </a:solidFill>
              <a:latin typeface="Arial" panose="020B0604020202020204" pitchFamily="34" charset="0"/>
              <a:cs typeface="Arial" panose="020B0604020202020204" pitchFamily="34" charset="0"/>
            </a:endParaRPr>
          </a:p>
        </p:txBody>
      </p:sp>
      <p:sp>
        <p:nvSpPr>
          <p:cNvPr id="5" name="Text 3"/>
          <p:cNvSpPr txBox="1"/>
          <p:nvPr/>
        </p:nvSpPr>
        <p:spPr>
          <a:xfrm>
            <a:off x="502920" y="1828800"/>
            <a:ext cx="3108960" cy="411480"/>
          </a:xfrm>
          <a:prstGeom prst="rect">
            <a:avLst/>
          </a:prstGeom>
          <a:noFill/>
          <a:ln/>
        </p:spPr>
        <p:txBody>
          <a:bodyPr wrap="square" lIns="0" tIns="0" rIns="0" bIns="0" rtlCol="0" anchor="ctr"/>
          <a:lstStyle/>
          <a:p>
            <a:r>
              <a:rPr lang="en-US" sz="1900" dirty="0">
                <a:solidFill>
                  <a:srgbClr val="C8A45C"/>
                </a:solidFill>
                <a:latin typeface="Arial Black" pitchFamily="34" charset="0"/>
                <a:ea typeface="Arial Black" pitchFamily="34" charset="-122"/>
                <a:cs typeface="Arial Black" pitchFamily="34" charset="-120"/>
              </a:rPr>
              <a:t>Correlation 0.7971</a:t>
            </a:r>
            <a:endParaRPr lang="en-US" sz="1900" dirty="0"/>
          </a:p>
        </p:txBody>
      </p:sp>
      <p:pic>
        <p:nvPicPr>
          <p:cNvPr id="8" name="Picture 7">
            <a:extLst>
              <a:ext uri="{FF2B5EF4-FFF2-40B4-BE49-F238E27FC236}">
                <a16:creationId xmlns:a16="http://schemas.microsoft.com/office/drawing/2014/main" id="{DC449D1C-A9E4-D68A-1C1E-434C532B08A4}"/>
              </a:ext>
            </a:extLst>
          </p:cNvPr>
          <p:cNvPicPr>
            <a:picLocks noChangeAspect="1"/>
          </p:cNvPicPr>
          <p:nvPr/>
        </p:nvPicPr>
        <p:blipFill>
          <a:blip r:embed="rId3">
            <a:alphaModFix amt="70000"/>
          </a:blip>
          <a:stretch>
            <a:fillRect/>
          </a:stretch>
        </p:blipFill>
        <p:spPr>
          <a:xfrm>
            <a:off x="3749041" y="1499616"/>
            <a:ext cx="5029200" cy="2864358"/>
          </a:xfrm>
          <a:prstGeom prst="rect">
            <a:avLst/>
          </a:prstGeom>
          <a:ln>
            <a:solidFill>
              <a:schemeClr val="bg2"/>
            </a:solidFill>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7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02920" y="237744"/>
            <a:ext cx="2926080" cy="274320"/>
          </a:xfrm>
          <a:prstGeom prst="rect">
            <a:avLst/>
          </a:prstGeom>
          <a:noFill/>
          <a:ln/>
        </p:spPr>
        <p:txBody>
          <a:bodyPr wrap="square" lIns="0" tIns="0" rIns="0" bIns="0" rtlCol="0" anchor="ctr"/>
          <a:lstStyle/>
          <a:p>
            <a:pPr marL="0" indent="0">
              <a:buNone/>
            </a:pPr>
            <a:r>
              <a:rPr lang="en-US" sz="1050" b="1" dirty="0">
                <a:solidFill>
                  <a:srgbClr val="0A0A0A"/>
                </a:solidFill>
                <a:latin typeface="Arial" pitchFamily="34" charset="0"/>
                <a:ea typeface="Arial" pitchFamily="34" charset="-122"/>
                <a:cs typeface="Arial" pitchFamily="34" charset="-120"/>
              </a:rPr>
              <a:t>Olympic Athlete Analysis</a:t>
            </a:r>
            <a:endParaRPr lang="en-US" sz="1050" dirty="0"/>
          </a:p>
        </p:txBody>
      </p:sp>
      <p:sp>
        <p:nvSpPr>
          <p:cNvPr id="3" name="Text 1"/>
          <p:cNvSpPr txBox="1"/>
          <p:nvPr/>
        </p:nvSpPr>
        <p:spPr>
          <a:xfrm>
            <a:off x="502920" y="640080"/>
            <a:ext cx="8229600" cy="1188720"/>
          </a:xfrm>
          <a:prstGeom prst="rect">
            <a:avLst/>
          </a:prstGeom>
          <a:noFill/>
          <a:ln/>
        </p:spPr>
        <p:txBody>
          <a:bodyPr wrap="square" lIns="0" tIns="0" rIns="0" bIns="0" rtlCol="0" anchor="t"/>
          <a:lstStyle/>
          <a:p>
            <a:pPr marL="0" indent="0">
              <a:lnSpc>
                <a:spcPts val="3000"/>
              </a:lnSpc>
              <a:buNone/>
            </a:pPr>
            <a:r>
              <a:rPr lang="en-US" sz="3000" kern="0" spc="-50" dirty="0">
                <a:solidFill>
                  <a:srgbClr val="0A0A0A"/>
                </a:solidFill>
                <a:latin typeface="Arial Black" pitchFamily="34" charset="0"/>
                <a:ea typeface="Arial Black" pitchFamily="34" charset="-122"/>
                <a:cs typeface="Arial Black" pitchFamily="34" charset="-120"/>
              </a:rPr>
              <a:t>KEY INSIGHTS</a:t>
            </a:r>
            <a:endParaRPr lang="en-US" sz="3000" dirty="0"/>
          </a:p>
        </p:txBody>
      </p:sp>
      <p:sp>
        <p:nvSpPr>
          <p:cNvPr id="4" name="Text 2"/>
          <p:cNvSpPr txBox="1"/>
          <p:nvPr/>
        </p:nvSpPr>
        <p:spPr>
          <a:xfrm>
            <a:off x="502920" y="1234440"/>
            <a:ext cx="7772400" cy="274320"/>
          </a:xfrm>
          <a:prstGeom prst="rect">
            <a:avLst/>
          </a:prstGeom>
          <a:noFill/>
          <a:ln/>
        </p:spPr>
        <p:txBody>
          <a:bodyPr wrap="square" lIns="0" tIns="0" rIns="0" bIns="0" rtlCol="0" anchor="ctr"/>
          <a:lstStyle/>
          <a:p>
            <a:pPr marL="0" indent="0">
              <a:buNone/>
            </a:pPr>
            <a:r>
              <a:rPr lang="en-US" sz="1100" dirty="0">
                <a:solidFill>
                  <a:srgbClr val="5A5A60"/>
                </a:solidFill>
                <a:latin typeface="Arial" pitchFamily="34" charset="0"/>
                <a:ea typeface="Arial" pitchFamily="34" charset="-122"/>
                <a:cs typeface="Arial" pitchFamily="34" charset="-120"/>
              </a:rPr>
              <a:t>Eight findings that hold up across 120 years of competition.</a:t>
            </a:r>
            <a:endParaRPr lang="en-US" sz="1100" dirty="0"/>
          </a:p>
        </p:txBody>
      </p:sp>
      <p:sp>
        <p:nvSpPr>
          <p:cNvPr id="5" name="Shape 3"/>
          <p:cNvSpPr/>
          <p:nvPr/>
        </p:nvSpPr>
        <p:spPr>
          <a:xfrm>
            <a:off x="502920" y="1691640"/>
            <a:ext cx="365760" cy="365760"/>
          </a:xfrm>
          <a:prstGeom prst="ellipse">
            <a:avLst/>
          </a:prstGeom>
          <a:solidFill>
            <a:srgbClr val="0A0A0A"/>
          </a:solidFill>
          <a:ln w="12700">
            <a:solidFill>
              <a:srgbClr val="0A0A0A"/>
            </a:solidFill>
            <a:prstDash val="solid"/>
          </a:ln>
        </p:spPr>
      </p:sp>
      <p:sp>
        <p:nvSpPr>
          <p:cNvPr id="6" name="Text 4"/>
          <p:cNvSpPr txBox="1"/>
          <p:nvPr/>
        </p:nvSpPr>
        <p:spPr>
          <a:xfrm>
            <a:off x="502920" y="1778508"/>
            <a:ext cx="365760"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01</a:t>
            </a:r>
            <a:endParaRPr lang="en-US" sz="900" dirty="0"/>
          </a:p>
        </p:txBody>
      </p:sp>
      <p:sp>
        <p:nvSpPr>
          <p:cNvPr id="7" name="Text 5"/>
          <p:cNvSpPr txBox="1"/>
          <p:nvPr/>
        </p:nvSpPr>
        <p:spPr>
          <a:xfrm>
            <a:off x="1033272" y="1645920"/>
            <a:ext cx="3447288" cy="237744"/>
          </a:xfrm>
          <a:prstGeom prst="rect">
            <a:avLst/>
          </a:prstGeom>
          <a:noFill/>
          <a:ln/>
        </p:spPr>
        <p:txBody>
          <a:bodyPr wrap="square" lIns="0" tIns="0" rIns="0" bIns="0" rtlCol="0" anchor="ctr"/>
          <a:lstStyle/>
          <a:p>
            <a:pPr marL="0" indent="0">
              <a:buNone/>
            </a:pPr>
            <a:r>
              <a:rPr lang="en-US" sz="1100" b="1" dirty="0">
                <a:solidFill>
                  <a:srgbClr val="0A0A0A"/>
                </a:solidFill>
                <a:latin typeface="Arial" pitchFamily="34" charset="0"/>
                <a:ea typeface="Arial" pitchFamily="34" charset="-122"/>
                <a:cs typeface="Arial" pitchFamily="34" charset="-120"/>
              </a:rPr>
              <a:t>Gender gap nearly closed</a:t>
            </a:r>
            <a:endParaRPr lang="en-US" sz="1100" dirty="0"/>
          </a:p>
        </p:txBody>
      </p:sp>
      <p:sp>
        <p:nvSpPr>
          <p:cNvPr id="8" name="Text 6"/>
          <p:cNvSpPr txBox="1"/>
          <p:nvPr/>
        </p:nvSpPr>
        <p:spPr>
          <a:xfrm>
            <a:off x="1033272" y="1892808"/>
            <a:ext cx="3447288" cy="566928"/>
          </a:xfrm>
          <a:prstGeom prst="rect">
            <a:avLst/>
          </a:prstGeom>
          <a:noFill/>
          <a:ln/>
        </p:spPr>
        <p:txBody>
          <a:bodyPr wrap="square" lIns="0" tIns="0" rIns="0" bIns="0" rtlCol="0" anchor="ctr"/>
          <a:lstStyle/>
          <a:p>
            <a:pPr marL="0" indent="0">
              <a:lnSpc>
                <a:spcPts val="1150"/>
              </a:lnSpc>
              <a:buNone/>
            </a:pPr>
            <a:r>
              <a:rPr lang="en-US" sz="900" dirty="0">
                <a:solidFill>
                  <a:srgbClr val="5A5A60"/>
                </a:solidFill>
                <a:latin typeface="Arial" pitchFamily="34" charset="0"/>
                <a:ea typeface="Arial" pitchFamily="34" charset="-122"/>
                <a:cs typeface="Arial" pitchFamily="34" charset="-120"/>
              </a:rPr>
              <a:t>From no women in 1896 to 45% of the field in 2016.</a:t>
            </a:r>
            <a:endParaRPr lang="en-US" sz="900" dirty="0"/>
          </a:p>
        </p:txBody>
      </p:sp>
      <p:sp>
        <p:nvSpPr>
          <p:cNvPr id="9" name="Shape 7"/>
          <p:cNvSpPr/>
          <p:nvPr/>
        </p:nvSpPr>
        <p:spPr>
          <a:xfrm>
            <a:off x="4754880" y="1691640"/>
            <a:ext cx="365760" cy="365760"/>
          </a:xfrm>
          <a:prstGeom prst="ellipse">
            <a:avLst/>
          </a:prstGeom>
          <a:solidFill>
            <a:srgbClr val="0A0A0A"/>
          </a:solidFill>
          <a:ln w="12700">
            <a:solidFill>
              <a:srgbClr val="0A0A0A"/>
            </a:solidFill>
            <a:prstDash val="solid"/>
          </a:ln>
        </p:spPr>
      </p:sp>
      <p:sp>
        <p:nvSpPr>
          <p:cNvPr id="10" name="Text 8"/>
          <p:cNvSpPr txBox="1"/>
          <p:nvPr/>
        </p:nvSpPr>
        <p:spPr>
          <a:xfrm>
            <a:off x="4754880" y="1778508"/>
            <a:ext cx="365760"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02</a:t>
            </a:r>
            <a:endParaRPr lang="en-US" sz="900" dirty="0"/>
          </a:p>
        </p:txBody>
      </p:sp>
      <p:sp>
        <p:nvSpPr>
          <p:cNvPr id="11" name="Text 9"/>
          <p:cNvSpPr txBox="1"/>
          <p:nvPr/>
        </p:nvSpPr>
        <p:spPr>
          <a:xfrm>
            <a:off x="5285232" y="1645920"/>
            <a:ext cx="3447288" cy="237744"/>
          </a:xfrm>
          <a:prstGeom prst="rect">
            <a:avLst/>
          </a:prstGeom>
          <a:noFill/>
          <a:ln/>
        </p:spPr>
        <p:txBody>
          <a:bodyPr wrap="square" lIns="0" tIns="0" rIns="0" bIns="0" rtlCol="0" anchor="ctr"/>
          <a:lstStyle/>
          <a:p>
            <a:r>
              <a:rPr lang="en-IN" sz="1100" b="1" dirty="0">
                <a:latin typeface="Arial" panose="020B0604020202020204" pitchFamily="34" charset="0"/>
                <a:cs typeface="Arial" panose="020B0604020202020204" pitchFamily="34" charset="0"/>
              </a:rPr>
              <a:t>Medal distribution varies across NOCs</a:t>
            </a:r>
            <a:endParaRPr lang="en-US" sz="1100" b="1" dirty="0">
              <a:latin typeface="Arial" panose="020B0604020202020204" pitchFamily="34" charset="0"/>
              <a:cs typeface="Arial" panose="020B0604020202020204" pitchFamily="34" charset="0"/>
            </a:endParaRPr>
          </a:p>
        </p:txBody>
      </p:sp>
      <p:sp>
        <p:nvSpPr>
          <p:cNvPr id="12" name="Text 10"/>
          <p:cNvSpPr txBox="1"/>
          <p:nvPr/>
        </p:nvSpPr>
        <p:spPr>
          <a:xfrm>
            <a:off x="5285232" y="1892808"/>
            <a:ext cx="3447288" cy="566928"/>
          </a:xfrm>
          <a:prstGeom prst="rect">
            <a:avLst/>
          </a:prstGeom>
          <a:noFill/>
          <a:ln/>
        </p:spPr>
        <p:txBody>
          <a:bodyPr wrap="square" lIns="0" tIns="0" rIns="0" bIns="0" rtlCol="0" anchor="ctr"/>
          <a:lstStyle/>
          <a:p>
            <a:pPr marL="0" indent="0">
              <a:lnSpc>
                <a:spcPts val="1150"/>
              </a:lnSpc>
              <a:buNone/>
            </a:pPr>
            <a:r>
              <a:rPr lang="en-US" sz="900" dirty="0">
                <a:solidFill>
                  <a:srgbClr val="5A5A60"/>
                </a:solidFill>
                <a:latin typeface="Arial" pitchFamily="34" charset="0"/>
                <a:ea typeface="Arial" pitchFamily="34" charset="-122"/>
                <a:cs typeface="Arial" pitchFamily="34" charset="-120"/>
              </a:rPr>
              <a:t>5,637 medals, more than double the next nation, with a higher gold share.</a:t>
            </a:r>
            <a:endParaRPr lang="en-US" sz="900" dirty="0"/>
          </a:p>
        </p:txBody>
      </p:sp>
      <p:sp>
        <p:nvSpPr>
          <p:cNvPr id="13" name="Shape 11"/>
          <p:cNvSpPr/>
          <p:nvPr/>
        </p:nvSpPr>
        <p:spPr>
          <a:xfrm>
            <a:off x="502920" y="2532888"/>
            <a:ext cx="365760" cy="365760"/>
          </a:xfrm>
          <a:prstGeom prst="ellipse">
            <a:avLst/>
          </a:prstGeom>
          <a:solidFill>
            <a:srgbClr val="0A0A0A"/>
          </a:solidFill>
          <a:ln w="12700">
            <a:solidFill>
              <a:srgbClr val="0A0A0A"/>
            </a:solidFill>
            <a:prstDash val="solid"/>
          </a:ln>
        </p:spPr>
      </p:sp>
      <p:sp>
        <p:nvSpPr>
          <p:cNvPr id="14" name="Text 12"/>
          <p:cNvSpPr txBox="1"/>
          <p:nvPr/>
        </p:nvSpPr>
        <p:spPr>
          <a:xfrm>
            <a:off x="502920" y="2619756"/>
            <a:ext cx="365760"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03</a:t>
            </a:r>
            <a:endParaRPr lang="en-US" sz="900" dirty="0"/>
          </a:p>
        </p:txBody>
      </p:sp>
      <p:sp>
        <p:nvSpPr>
          <p:cNvPr id="15" name="Text 13"/>
          <p:cNvSpPr txBox="1"/>
          <p:nvPr/>
        </p:nvSpPr>
        <p:spPr>
          <a:xfrm>
            <a:off x="1033272" y="2487168"/>
            <a:ext cx="3447288" cy="237744"/>
          </a:xfrm>
          <a:prstGeom prst="rect">
            <a:avLst/>
          </a:prstGeom>
          <a:noFill/>
          <a:ln/>
        </p:spPr>
        <p:txBody>
          <a:bodyPr wrap="square" lIns="0" tIns="0" rIns="0" bIns="0" rtlCol="0" anchor="ctr"/>
          <a:lstStyle/>
          <a:p>
            <a:pPr marL="0" indent="0">
              <a:buNone/>
            </a:pPr>
            <a:r>
              <a:rPr lang="en-US" sz="1100" b="1" dirty="0">
                <a:solidFill>
                  <a:srgbClr val="0A0A0A"/>
                </a:solidFill>
                <a:latin typeface="Arial" pitchFamily="34" charset="0"/>
                <a:ea typeface="Arial" pitchFamily="34" charset="-122"/>
                <a:cs typeface="Arial" pitchFamily="34" charset="-120"/>
              </a:rPr>
              <a:t>A young competitor</a:t>
            </a:r>
            <a:endParaRPr lang="en-US" sz="1100" dirty="0"/>
          </a:p>
        </p:txBody>
      </p:sp>
      <p:sp>
        <p:nvSpPr>
          <p:cNvPr id="16" name="Text 14"/>
          <p:cNvSpPr txBox="1"/>
          <p:nvPr/>
        </p:nvSpPr>
        <p:spPr>
          <a:xfrm>
            <a:off x="1033272" y="2734056"/>
            <a:ext cx="3447288" cy="566928"/>
          </a:xfrm>
          <a:prstGeom prst="rect">
            <a:avLst/>
          </a:prstGeom>
          <a:noFill/>
          <a:ln/>
        </p:spPr>
        <p:txBody>
          <a:bodyPr wrap="square" lIns="0" tIns="0" rIns="0" bIns="0" rtlCol="0" anchor="ctr"/>
          <a:lstStyle/>
          <a:p>
            <a:pPr marL="0" indent="0">
              <a:lnSpc>
                <a:spcPts val="1150"/>
              </a:lnSpc>
              <a:buNone/>
            </a:pPr>
            <a:r>
              <a:rPr lang="en-US" sz="900" dirty="0">
                <a:solidFill>
                  <a:srgbClr val="5A5A60"/>
                </a:solidFill>
                <a:latin typeface="Arial" pitchFamily="34" charset="0"/>
                <a:ea typeface="Arial" pitchFamily="34" charset="-122"/>
                <a:cs typeface="Arial" pitchFamily="34" charset="-120"/>
              </a:rPr>
              <a:t>Median age 25, with most athletes aged 18 to 30.</a:t>
            </a:r>
            <a:endParaRPr lang="en-US" sz="900" dirty="0"/>
          </a:p>
        </p:txBody>
      </p:sp>
      <p:sp>
        <p:nvSpPr>
          <p:cNvPr id="17" name="Shape 15"/>
          <p:cNvSpPr/>
          <p:nvPr/>
        </p:nvSpPr>
        <p:spPr>
          <a:xfrm>
            <a:off x="4754880" y="2532888"/>
            <a:ext cx="365760" cy="365760"/>
          </a:xfrm>
          <a:prstGeom prst="ellipse">
            <a:avLst/>
          </a:prstGeom>
          <a:solidFill>
            <a:srgbClr val="0A0A0A"/>
          </a:solidFill>
          <a:ln w="12700">
            <a:solidFill>
              <a:srgbClr val="0A0A0A"/>
            </a:solidFill>
            <a:prstDash val="solid"/>
          </a:ln>
        </p:spPr>
      </p:sp>
      <p:sp>
        <p:nvSpPr>
          <p:cNvPr id="18" name="Text 16"/>
          <p:cNvSpPr txBox="1"/>
          <p:nvPr/>
        </p:nvSpPr>
        <p:spPr>
          <a:xfrm>
            <a:off x="4754880" y="2619756"/>
            <a:ext cx="365760"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04</a:t>
            </a:r>
            <a:endParaRPr lang="en-US" sz="900" dirty="0"/>
          </a:p>
        </p:txBody>
      </p:sp>
      <p:sp>
        <p:nvSpPr>
          <p:cNvPr id="19" name="Text 17"/>
          <p:cNvSpPr txBox="1"/>
          <p:nvPr/>
        </p:nvSpPr>
        <p:spPr>
          <a:xfrm>
            <a:off x="5285232" y="2487168"/>
            <a:ext cx="3447288" cy="237744"/>
          </a:xfrm>
          <a:prstGeom prst="rect">
            <a:avLst/>
          </a:prstGeom>
          <a:noFill/>
          <a:ln/>
        </p:spPr>
        <p:txBody>
          <a:bodyPr wrap="square" lIns="0" tIns="0" rIns="0" bIns="0" rtlCol="0" anchor="ctr"/>
          <a:lstStyle/>
          <a:p>
            <a:pPr marL="0" indent="0">
              <a:buNone/>
            </a:pPr>
            <a:r>
              <a:rPr lang="en-US" sz="1100" b="1" dirty="0">
                <a:solidFill>
                  <a:srgbClr val="0A0A0A"/>
                </a:solidFill>
                <a:latin typeface="Arial" pitchFamily="34" charset="0"/>
                <a:ea typeface="Arial" pitchFamily="34" charset="-122"/>
                <a:cs typeface="Arial" pitchFamily="34" charset="-120"/>
              </a:rPr>
              <a:t>Body type follows sport</a:t>
            </a:r>
            <a:endParaRPr lang="en-US" sz="1100" dirty="0"/>
          </a:p>
        </p:txBody>
      </p:sp>
      <p:sp>
        <p:nvSpPr>
          <p:cNvPr id="20" name="Text 18"/>
          <p:cNvSpPr txBox="1"/>
          <p:nvPr/>
        </p:nvSpPr>
        <p:spPr>
          <a:xfrm>
            <a:off x="5285232" y="2734056"/>
            <a:ext cx="3447288" cy="566928"/>
          </a:xfrm>
          <a:prstGeom prst="rect">
            <a:avLst/>
          </a:prstGeom>
          <a:noFill/>
          <a:ln/>
        </p:spPr>
        <p:txBody>
          <a:bodyPr wrap="square" lIns="0" tIns="0" rIns="0" bIns="0" rtlCol="0" anchor="ctr"/>
          <a:lstStyle/>
          <a:p>
            <a:pPr marL="0" indent="0">
              <a:lnSpc>
                <a:spcPts val="1150"/>
              </a:lnSpc>
              <a:buNone/>
            </a:pPr>
            <a:r>
              <a:rPr lang="en-US" sz="900" dirty="0">
                <a:solidFill>
                  <a:srgbClr val="5A5A60"/>
                </a:solidFill>
                <a:latin typeface="Arial" pitchFamily="34" charset="0"/>
                <a:ea typeface="Arial" pitchFamily="34" charset="-122"/>
                <a:cs typeface="Arial" pitchFamily="34" charset="-120"/>
              </a:rPr>
              <a:t>A 27 cm height gap separates the tallest and shortest disciplines.</a:t>
            </a:r>
            <a:endParaRPr lang="en-US" sz="900" dirty="0"/>
          </a:p>
        </p:txBody>
      </p:sp>
      <p:sp>
        <p:nvSpPr>
          <p:cNvPr id="21" name="Shape 19"/>
          <p:cNvSpPr/>
          <p:nvPr/>
        </p:nvSpPr>
        <p:spPr>
          <a:xfrm>
            <a:off x="502920" y="3374136"/>
            <a:ext cx="365760" cy="365760"/>
          </a:xfrm>
          <a:prstGeom prst="ellipse">
            <a:avLst/>
          </a:prstGeom>
          <a:solidFill>
            <a:srgbClr val="0A0A0A"/>
          </a:solidFill>
          <a:ln w="12700">
            <a:solidFill>
              <a:srgbClr val="0A0A0A"/>
            </a:solidFill>
            <a:prstDash val="solid"/>
          </a:ln>
        </p:spPr>
      </p:sp>
      <p:sp>
        <p:nvSpPr>
          <p:cNvPr id="22" name="Text 20"/>
          <p:cNvSpPr txBox="1"/>
          <p:nvPr/>
        </p:nvSpPr>
        <p:spPr>
          <a:xfrm>
            <a:off x="502920" y="3461004"/>
            <a:ext cx="365760"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05</a:t>
            </a:r>
            <a:endParaRPr lang="en-US" sz="900" dirty="0"/>
          </a:p>
        </p:txBody>
      </p:sp>
      <p:sp>
        <p:nvSpPr>
          <p:cNvPr id="23" name="Text 21"/>
          <p:cNvSpPr txBox="1"/>
          <p:nvPr/>
        </p:nvSpPr>
        <p:spPr>
          <a:xfrm>
            <a:off x="1033272" y="3328416"/>
            <a:ext cx="3447288" cy="237744"/>
          </a:xfrm>
          <a:prstGeom prst="rect">
            <a:avLst/>
          </a:prstGeom>
          <a:noFill/>
          <a:ln/>
        </p:spPr>
        <p:txBody>
          <a:bodyPr wrap="square" lIns="0" tIns="0" rIns="0" bIns="0" rtlCol="0" anchor="ctr"/>
          <a:lstStyle/>
          <a:p>
            <a:pPr marL="0" indent="0">
              <a:buNone/>
            </a:pPr>
            <a:r>
              <a:rPr lang="en-US" sz="1100" b="1" dirty="0">
                <a:solidFill>
                  <a:srgbClr val="0A0A0A"/>
                </a:solidFill>
                <a:latin typeface="Arial" pitchFamily="34" charset="0"/>
                <a:ea typeface="Arial" pitchFamily="34" charset="-122"/>
                <a:cs typeface="Arial" pitchFamily="34" charset="-120"/>
              </a:rPr>
              <a:t>Athletics dominates</a:t>
            </a:r>
            <a:endParaRPr lang="en-US" sz="1100" dirty="0"/>
          </a:p>
        </p:txBody>
      </p:sp>
      <p:sp>
        <p:nvSpPr>
          <p:cNvPr id="24" name="Text 22"/>
          <p:cNvSpPr txBox="1"/>
          <p:nvPr/>
        </p:nvSpPr>
        <p:spPr>
          <a:xfrm>
            <a:off x="1033272" y="3575304"/>
            <a:ext cx="3447288" cy="566928"/>
          </a:xfrm>
          <a:prstGeom prst="rect">
            <a:avLst/>
          </a:prstGeom>
          <a:noFill/>
          <a:ln/>
        </p:spPr>
        <p:txBody>
          <a:bodyPr wrap="square" lIns="0" tIns="0" rIns="0" bIns="0" rtlCol="0" anchor="ctr"/>
          <a:lstStyle/>
          <a:p>
            <a:pPr marL="0" indent="0">
              <a:lnSpc>
                <a:spcPts val="1150"/>
              </a:lnSpc>
              <a:buNone/>
            </a:pPr>
            <a:r>
              <a:rPr lang="en-US" sz="900" dirty="0">
                <a:solidFill>
                  <a:srgbClr val="5A5A60"/>
                </a:solidFill>
                <a:latin typeface="Arial" pitchFamily="34" charset="0"/>
                <a:ea typeface="Arial" pitchFamily="34" charset="-122"/>
                <a:cs typeface="Arial" pitchFamily="34" charset="-120"/>
              </a:rPr>
              <a:t>Athletics has held consistently high participation, pulling ahead of other sports since 1980.</a:t>
            </a:r>
            <a:endParaRPr lang="en-US" sz="900" dirty="0"/>
          </a:p>
        </p:txBody>
      </p:sp>
      <p:sp>
        <p:nvSpPr>
          <p:cNvPr id="25" name="Shape 23"/>
          <p:cNvSpPr/>
          <p:nvPr/>
        </p:nvSpPr>
        <p:spPr>
          <a:xfrm>
            <a:off x="4754880" y="3374136"/>
            <a:ext cx="365760" cy="365760"/>
          </a:xfrm>
          <a:prstGeom prst="ellipse">
            <a:avLst/>
          </a:prstGeom>
          <a:solidFill>
            <a:srgbClr val="0A0A0A"/>
          </a:solidFill>
          <a:ln w="12700">
            <a:solidFill>
              <a:srgbClr val="0A0A0A"/>
            </a:solidFill>
            <a:prstDash val="solid"/>
          </a:ln>
        </p:spPr>
      </p:sp>
      <p:sp>
        <p:nvSpPr>
          <p:cNvPr id="26" name="Text 24"/>
          <p:cNvSpPr txBox="1"/>
          <p:nvPr/>
        </p:nvSpPr>
        <p:spPr>
          <a:xfrm>
            <a:off x="4754880" y="3461004"/>
            <a:ext cx="365760"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06</a:t>
            </a:r>
            <a:endParaRPr lang="en-US" sz="900" dirty="0"/>
          </a:p>
        </p:txBody>
      </p:sp>
      <p:sp>
        <p:nvSpPr>
          <p:cNvPr id="27" name="Text 25"/>
          <p:cNvSpPr txBox="1"/>
          <p:nvPr/>
        </p:nvSpPr>
        <p:spPr>
          <a:xfrm>
            <a:off x="5285232" y="3328416"/>
            <a:ext cx="3447288" cy="237744"/>
          </a:xfrm>
          <a:prstGeom prst="rect">
            <a:avLst/>
          </a:prstGeom>
          <a:noFill/>
          <a:ln/>
        </p:spPr>
        <p:txBody>
          <a:bodyPr wrap="square" lIns="0" tIns="0" rIns="0" bIns="0" rtlCol="0" anchor="ctr"/>
          <a:lstStyle/>
          <a:p>
            <a:pPr marL="0" indent="0">
              <a:buNone/>
            </a:pPr>
            <a:r>
              <a:rPr lang="en-US" sz="1100" b="1" dirty="0">
                <a:solidFill>
                  <a:srgbClr val="0A0A0A"/>
                </a:solidFill>
                <a:latin typeface="Arial" pitchFamily="34" charset="0"/>
                <a:ea typeface="Arial" pitchFamily="34" charset="-122"/>
                <a:cs typeface="Arial" pitchFamily="34" charset="-120"/>
              </a:rPr>
              <a:t>Olympics went global</a:t>
            </a:r>
            <a:endParaRPr lang="en-US" sz="1100" dirty="0"/>
          </a:p>
        </p:txBody>
      </p:sp>
      <p:sp>
        <p:nvSpPr>
          <p:cNvPr id="28" name="Text 26"/>
          <p:cNvSpPr txBox="1"/>
          <p:nvPr/>
        </p:nvSpPr>
        <p:spPr>
          <a:xfrm>
            <a:off x="5285232" y="3575304"/>
            <a:ext cx="3447288" cy="566928"/>
          </a:xfrm>
          <a:prstGeom prst="rect">
            <a:avLst/>
          </a:prstGeom>
          <a:noFill/>
          <a:ln/>
        </p:spPr>
        <p:txBody>
          <a:bodyPr wrap="square" lIns="0" tIns="0" rIns="0" bIns="0" rtlCol="0" anchor="ctr"/>
          <a:lstStyle/>
          <a:p>
            <a:pPr marL="0" indent="0">
              <a:lnSpc>
                <a:spcPts val="1150"/>
              </a:lnSpc>
              <a:buNone/>
            </a:pPr>
            <a:r>
              <a:rPr lang="en-US" sz="900" dirty="0">
                <a:solidFill>
                  <a:srgbClr val="5A5A60"/>
                </a:solidFill>
                <a:latin typeface="Arial" pitchFamily="34" charset="0"/>
                <a:ea typeface="Arial" pitchFamily="34" charset="-122"/>
                <a:cs typeface="Arial" pitchFamily="34" charset="-120"/>
              </a:rPr>
              <a:t>Participating nations grew from 12 in 1896 to 207 in 2016.</a:t>
            </a:r>
            <a:endParaRPr lang="en-US" sz="900" dirty="0"/>
          </a:p>
        </p:txBody>
      </p:sp>
      <p:sp>
        <p:nvSpPr>
          <p:cNvPr id="29" name="Shape 27"/>
          <p:cNvSpPr/>
          <p:nvPr/>
        </p:nvSpPr>
        <p:spPr>
          <a:xfrm>
            <a:off x="502920" y="4215384"/>
            <a:ext cx="365760" cy="365760"/>
          </a:xfrm>
          <a:prstGeom prst="ellipse">
            <a:avLst/>
          </a:prstGeom>
          <a:solidFill>
            <a:srgbClr val="0A0A0A"/>
          </a:solidFill>
          <a:ln w="12700">
            <a:solidFill>
              <a:srgbClr val="0A0A0A"/>
            </a:solidFill>
            <a:prstDash val="solid"/>
          </a:ln>
        </p:spPr>
      </p:sp>
      <p:sp>
        <p:nvSpPr>
          <p:cNvPr id="30" name="Text 28"/>
          <p:cNvSpPr txBox="1"/>
          <p:nvPr/>
        </p:nvSpPr>
        <p:spPr>
          <a:xfrm>
            <a:off x="502920" y="4302252"/>
            <a:ext cx="365760"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07</a:t>
            </a:r>
            <a:endParaRPr lang="en-US" sz="900" dirty="0"/>
          </a:p>
        </p:txBody>
      </p:sp>
      <p:sp>
        <p:nvSpPr>
          <p:cNvPr id="31" name="Text 29"/>
          <p:cNvSpPr txBox="1"/>
          <p:nvPr/>
        </p:nvSpPr>
        <p:spPr>
          <a:xfrm>
            <a:off x="1033272" y="4169664"/>
            <a:ext cx="3447288" cy="237744"/>
          </a:xfrm>
          <a:prstGeom prst="rect">
            <a:avLst/>
          </a:prstGeom>
          <a:noFill/>
          <a:ln/>
        </p:spPr>
        <p:txBody>
          <a:bodyPr wrap="square" lIns="0" tIns="0" rIns="0" bIns="0" rtlCol="0" anchor="ctr"/>
          <a:lstStyle/>
          <a:p>
            <a:r>
              <a:rPr lang="en-IN" sz="1100" b="1" dirty="0">
                <a:latin typeface="Arial" panose="020B0604020202020204" pitchFamily="34" charset="0"/>
                <a:cs typeface="Arial" panose="020B0604020202020204" pitchFamily="34" charset="0"/>
              </a:rPr>
              <a:t>Age shows limited association with medal status</a:t>
            </a:r>
            <a:endParaRPr lang="en-US" sz="1100" dirty="0">
              <a:latin typeface="Arial" panose="020B0604020202020204" pitchFamily="34" charset="0"/>
              <a:cs typeface="Arial" panose="020B0604020202020204" pitchFamily="34" charset="0"/>
            </a:endParaRPr>
          </a:p>
        </p:txBody>
      </p:sp>
      <p:sp>
        <p:nvSpPr>
          <p:cNvPr id="32" name="Text 30"/>
          <p:cNvSpPr txBox="1"/>
          <p:nvPr/>
        </p:nvSpPr>
        <p:spPr>
          <a:xfrm>
            <a:off x="1033272" y="4416552"/>
            <a:ext cx="3447288" cy="566928"/>
          </a:xfrm>
          <a:prstGeom prst="rect">
            <a:avLst/>
          </a:prstGeom>
          <a:noFill/>
          <a:ln/>
        </p:spPr>
        <p:txBody>
          <a:bodyPr wrap="square" lIns="0" tIns="0" rIns="0" bIns="0" rtlCol="0" anchor="ctr"/>
          <a:lstStyle/>
          <a:p>
            <a:pPr marL="0" indent="0">
              <a:lnSpc>
                <a:spcPts val="1150"/>
              </a:lnSpc>
              <a:buNone/>
            </a:pPr>
            <a:r>
              <a:rPr lang="en-US" sz="900" dirty="0">
                <a:solidFill>
                  <a:srgbClr val="5A5A60"/>
                </a:solidFill>
                <a:latin typeface="Arial" pitchFamily="34" charset="0"/>
                <a:ea typeface="Arial" pitchFamily="34" charset="-122"/>
                <a:cs typeface="Arial" pitchFamily="34" charset="-120"/>
              </a:rPr>
              <a:t>Medalists and non medalists differ by only half a year.</a:t>
            </a:r>
            <a:endParaRPr lang="en-US" sz="900" dirty="0"/>
          </a:p>
        </p:txBody>
      </p:sp>
      <p:sp>
        <p:nvSpPr>
          <p:cNvPr id="33" name="Shape 31"/>
          <p:cNvSpPr/>
          <p:nvPr/>
        </p:nvSpPr>
        <p:spPr>
          <a:xfrm>
            <a:off x="4754880" y="4215384"/>
            <a:ext cx="365760" cy="365760"/>
          </a:xfrm>
          <a:prstGeom prst="ellipse">
            <a:avLst/>
          </a:prstGeom>
          <a:solidFill>
            <a:srgbClr val="0A0A0A"/>
          </a:solidFill>
          <a:ln w="12700">
            <a:solidFill>
              <a:srgbClr val="0A0A0A"/>
            </a:solidFill>
            <a:prstDash val="solid"/>
          </a:ln>
        </p:spPr>
      </p:sp>
      <p:sp>
        <p:nvSpPr>
          <p:cNvPr id="34" name="Text 32"/>
          <p:cNvSpPr txBox="1"/>
          <p:nvPr/>
        </p:nvSpPr>
        <p:spPr>
          <a:xfrm>
            <a:off x="4754880" y="4302252"/>
            <a:ext cx="365760"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08</a:t>
            </a:r>
            <a:endParaRPr lang="en-US" sz="900" dirty="0"/>
          </a:p>
        </p:txBody>
      </p:sp>
      <p:sp>
        <p:nvSpPr>
          <p:cNvPr id="35" name="Text 33"/>
          <p:cNvSpPr txBox="1"/>
          <p:nvPr/>
        </p:nvSpPr>
        <p:spPr>
          <a:xfrm>
            <a:off x="5285232" y="4169664"/>
            <a:ext cx="3447288" cy="237744"/>
          </a:xfrm>
          <a:prstGeom prst="rect">
            <a:avLst/>
          </a:prstGeom>
          <a:noFill/>
          <a:ln/>
        </p:spPr>
        <p:txBody>
          <a:bodyPr wrap="square" lIns="0" tIns="0" rIns="0" bIns="0" rtlCol="0" anchor="ctr"/>
          <a:lstStyle/>
          <a:p>
            <a:pPr marL="0" indent="0">
              <a:buNone/>
            </a:pPr>
            <a:r>
              <a:rPr lang="en-US" sz="1100" b="1" dirty="0">
                <a:solidFill>
                  <a:srgbClr val="0A0A0A"/>
                </a:solidFill>
                <a:latin typeface="Arial" pitchFamily="34" charset="0"/>
                <a:ea typeface="Arial" pitchFamily="34" charset="-122"/>
                <a:cs typeface="Arial" pitchFamily="34" charset="-120"/>
              </a:rPr>
              <a:t>Height and weight track</a:t>
            </a:r>
            <a:endParaRPr lang="en-US" sz="1100" dirty="0"/>
          </a:p>
        </p:txBody>
      </p:sp>
      <p:sp>
        <p:nvSpPr>
          <p:cNvPr id="36" name="Text 34"/>
          <p:cNvSpPr txBox="1"/>
          <p:nvPr/>
        </p:nvSpPr>
        <p:spPr>
          <a:xfrm>
            <a:off x="5285232" y="4416552"/>
            <a:ext cx="3447288" cy="566928"/>
          </a:xfrm>
          <a:prstGeom prst="rect">
            <a:avLst/>
          </a:prstGeom>
          <a:noFill/>
          <a:ln/>
        </p:spPr>
        <p:txBody>
          <a:bodyPr wrap="square" lIns="0" tIns="0" rIns="0" bIns="0" rtlCol="0" anchor="ctr"/>
          <a:lstStyle/>
          <a:p>
            <a:pPr marL="0" indent="0">
              <a:lnSpc>
                <a:spcPts val="1150"/>
              </a:lnSpc>
              <a:buNone/>
            </a:pPr>
            <a:r>
              <a:rPr lang="en-US" sz="900" dirty="0">
                <a:solidFill>
                  <a:srgbClr val="5A5A60"/>
                </a:solidFill>
                <a:latin typeface="Arial" pitchFamily="34" charset="0"/>
                <a:ea typeface="Arial" pitchFamily="34" charset="-122"/>
                <a:cs typeface="Arial" pitchFamily="34" charset="-120"/>
              </a:rPr>
              <a:t>A correlation of 0.80 links taller athletes to greater body weight.</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02920" y="237744"/>
            <a:ext cx="2926080" cy="274320"/>
          </a:xfrm>
          <a:prstGeom prst="rect">
            <a:avLst/>
          </a:prstGeom>
          <a:noFill/>
          <a:ln/>
        </p:spPr>
        <p:txBody>
          <a:bodyPr wrap="square" lIns="0" tIns="0" rIns="0" bIns="0" rtlCol="0" anchor="ctr"/>
          <a:lstStyle/>
          <a:p>
            <a:pPr marL="0" indent="0">
              <a:buNone/>
            </a:pPr>
            <a:r>
              <a:rPr lang="en-US" sz="1050" b="1" dirty="0">
                <a:solidFill>
                  <a:srgbClr val="0A0A0A"/>
                </a:solidFill>
                <a:latin typeface="Arial" pitchFamily="34" charset="0"/>
                <a:ea typeface="Arial" pitchFamily="34" charset="-122"/>
                <a:cs typeface="Arial" pitchFamily="34" charset="-120"/>
              </a:rPr>
              <a:t>Olympic Athlete Analysis</a:t>
            </a:r>
            <a:endParaRPr lang="en-US" sz="1050" dirty="0"/>
          </a:p>
        </p:txBody>
      </p:sp>
      <p:sp>
        <p:nvSpPr>
          <p:cNvPr id="3" name="Text 1"/>
          <p:cNvSpPr txBox="1"/>
          <p:nvPr/>
        </p:nvSpPr>
        <p:spPr>
          <a:xfrm>
            <a:off x="502920" y="822960"/>
            <a:ext cx="4023360" cy="1188720"/>
          </a:xfrm>
          <a:prstGeom prst="rect">
            <a:avLst/>
          </a:prstGeom>
          <a:noFill/>
          <a:ln/>
        </p:spPr>
        <p:txBody>
          <a:bodyPr wrap="square" lIns="0" tIns="0" rIns="0" bIns="0" rtlCol="0" anchor="t"/>
          <a:lstStyle/>
          <a:p>
            <a:pPr marL="0" indent="0">
              <a:lnSpc>
                <a:spcPts val="3200"/>
              </a:lnSpc>
              <a:buNone/>
            </a:pPr>
            <a:r>
              <a:rPr lang="en-US" sz="3200" kern="0" spc="-50" dirty="0">
                <a:solidFill>
                  <a:srgbClr val="0A0A0A"/>
                </a:solidFill>
                <a:latin typeface="Arial Black" pitchFamily="34" charset="0"/>
                <a:ea typeface="Arial Black" pitchFamily="34" charset="-122"/>
                <a:cs typeface="Arial Black" pitchFamily="34" charset="-120"/>
              </a:rPr>
              <a:t>CONCLUSION</a:t>
            </a:r>
            <a:endParaRPr lang="en-US" sz="3200" dirty="0"/>
          </a:p>
          <a:p>
            <a:pPr marL="0" indent="0">
              <a:lnSpc>
                <a:spcPts val="3200"/>
              </a:lnSpc>
              <a:buNone/>
            </a:pPr>
            <a:r>
              <a:rPr lang="en-US" sz="3200" kern="0" spc="-50" dirty="0">
                <a:solidFill>
                  <a:srgbClr val="0A0A0A"/>
                </a:solidFill>
                <a:latin typeface="Arial Black" pitchFamily="34" charset="0"/>
                <a:ea typeface="Arial Black" pitchFamily="34" charset="-122"/>
                <a:cs typeface="Arial Black" pitchFamily="34" charset="-120"/>
              </a:rPr>
              <a:t>AND OUTLOOK</a:t>
            </a:r>
            <a:endParaRPr lang="en-US" sz="3200" dirty="0"/>
          </a:p>
        </p:txBody>
      </p:sp>
      <p:sp>
        <p:nvSpPr>
          <p:cNvPr id="4" name="Text 2"/>
          <p:cNvSpPr txBox="1"/>
          <p:nvPr/>
        </p:nvSpPr>
        <p:spPr>
          <a:xfrm>
            <a:off x="502920" y="2194560"/>
            <a:ext cx="3200400" cy="1828800"/>
          </a:xfrm>
          <a:prstGeom prst="rect">
            <a:avLst/>
          </a:prstGeom>
          <a:noFill/>
          <a:ln/>
        </p:spPr>
        <p:txBody>
          <a:bodyPr wrap="square" lIns="0" tIns="0" rIns="0" bIns="0" rtlCol="0" anchor="ctr"/>
          <a:lstStyle/>
          <a:p>
            <a:r>
              <a:rPr lang="en-US" sz="1050" dirty="0">
                <a:solidFill>
                  <a:srgbClr val="5A5A60"/>
                </a:solidFill>
                <a:latin typeface="Arial" pitchFamily="34" charset="0"/>
                <a:ea typeface="Arial" pitchFamily="34" charset="-122"/>
                <a:cs typeface="Arial" pitchFamily="34" charset="-120"/>
              </a:rPr>
              <a:t>In 120 years the Games moved from a small all male contest between 12 nations to a global event with 207 participating NOCs and near equal gender representation. Physical attributes follow the demands of each sport, while the analysis shows that medals status is not strongly associated with age alone.</a:t>
            </a:r>
            <a:endParaRPr lang="en-US" sz="1050" dirty="0"/>
          </a:p>
        </p:txBody>
      </p:sp>
      <p:sp>
        <p:nvSpPr>
          <p:cNvPr id="5" name="Shape 3"/>
          <p:cNvSpPr/>
          <p:nvPr/>
        </p:nvSpPr>
        <p:spPr>
          <a:xfrm>
            <a:off x="3931920" y="960120"/>
            <a:ext cx="1463040" cy="2148840"/>
          </a:xfrm>
          <a:prstGeom prst="roundRect">
            <a:avLst>
              <a:gd name="adj" fmla="val 10000"/>
            </a:avLst>
          </a:prstGeom>
          <a:solidFill>
            <a:srgbClr val="0A0A0A"/>
          </a:solidFill>
          <a:ln w="12700">
            <a:solidFill>
              <a:srgbClr val="0A0A0A"/>
            </a:solidFill>
            <a:prstDash val="solid"/>
          </a:ln>
        </p:spPr>
      </p:sp>
      <p:sp>
        <p:nvSpPr>
          <p:cNvPr id="6" name="Text 4"/>
          <p:cNvSpPr txBox="1"/>
          <p:nvPr/>
        </p:nvSpPr>
        <p:spPr>
          <a:xfrm>
            <a:off x="4133088" y="1161288"/>
            <a:ext cx="1060704"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Method</a:t>
            </a:r>
            <a:endParaRPr lang="en-US" sz="1200" dirty="0"/>
          </a:p>
        </p:txBody>
      </p:sp>
      <p:sp>
        <p:nvSpPr>
          <p:cNvPr id="7" name="Text 5"/>
          <p:cNvSpPr txBox="1"/>
          <p:nvPr/>
        </p:nvSpPr>
        <p:spPr>
          <a:xfrm>
            <a:off x="4133088" y="1527048"/>
            <a:ext cx="1060704" cy="1380744"/>
          </a:xfrm>
          <a:prstGeom prst="rect">
            <a:avLst/>
          </a:prstGeom>
          <a:noFill/>
          <a:ln/>
        </p:spPr>
        <p:txBody>
          <a:bodyPr wrap="square" lIns="0" tIns="0" rIns="0" bIns="0" rtlCol="0" anchor="ctr"/>
          <a:lstStyle/>
          <a:p>
            <a:pPr marL="0" indent="0" algn="ctr">
              <a:lnSpc>
                <a:spcPts val="1400"/>
              </a:lnSpc>
              <a:buNone/>
            </a:pPr>
            <a:r>
              <a:rPr lang="en-US" sz="900" dirty="0">
                <a:solidFill>
                  <a:srgbClr val="DCDCE0"/>
                </a:solidFill>
                <a:latin typeface="Arial" pitchFamily="34" charset="0"/>
                <a:ea typeface="Arial" pitchFamily="34" charset="-122"/>
                <a:cs typeface="Arial" pitchFamily="34" charset="-120"/>
              </a:rPr>
              <a:t>Missing values, duplicates and outliers were investigated before being changed, so genuine history was preserved.</a:t>
            </a:r>
            <a:endParaRPr lang="en-US" sz="900" dirty="0"/>
          </a:p>
        </p:txBody>
      </p:sp>
      <p:sp>
        <p:nvSpPr>
          <p:cNvPr id="8" name="Shape 6"/>
          <p:cNvSpPr/>
          <p:nvPr/>
        </p:nvSpPr>
        <p:spPr>
          <a:xfrm>
            <a:off x="5532120" y="960120"/>
            <a:ext cx="1463040" cy="2148840"/>
          </a:xfrm>
          <a:prstGeom prst="roundRect">
            <a:avLst>
              <a:gd name="adj" fmla="val 10000"/>
            </a:avLst>
          </a:prstGeom>
          <a:solidFill>
            <a:srgbClr val="0A0A0A"/>
          </a:solidFill>
          <a:ln w="12700">
            <a:solidFill>
              <a:srgbClr val="0A0A0A"/>
            </a:solidFill>
            <a:prstDash val="solid"/>
          </a:ln>
        </p:spPr>
      </p:sp>
      <p:sp>
        <p:nvSpPr>
          <p:cNvPr id="9" name="Text 7"/>
          <p:cNvSpPr txBox="1"/>
          <p:nvPr/>
        </p:nvSpPr>
        <p:spPr>
          <a:xfrm>
            <a:off x="5733288" y="1161288"/>
            <a:ext cx="1060704"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Limitation</a:t>
            </a:r>
            <a:endParaRPr lang="en-US" sz="1200" dirty="0"/>
          </a:p>
        </p:txBody>
      </p:sp>
      <p:sp>
        <p:nvSpPr>
          <p:cNvPr id="10" name="Text 8"/>
          <p:cNvSpPr txBox="1"/>
          <p:nvPr/>
        </p:nvSpPr>
        <p:spPr>
          <a:xfrm>
            <a:off x="5733288" y="1527048"/>
            <a:ext cx="1060704" cy="1380744"/>
          </a:xfrm>
          <a:prstGeom prst="rect">
            <a:avLst/>
          </a:prstGeom>
          <a:noFill/>
          <a:ln/>
        </p:spPr>
        <p:txBody>
          <a:bodyPr wrap="square" lIns="0" tIns="0" rIns="0" bIns="0" rtlCol="0" anchor="ctr"/>
          <a:lstStyle/>
          <a:p>
            <a:pPr marL="0" indent="0" algn="ctr">
              <a:lnSpc>
                <a:spcPts val="1400"/>
              </a:lnSpc>
              <a:buNone/>
            </a:pPr>
            <a:r>
              <a:rPr lang="en-US" sz="900" dirty="0">
                <a:solidFill>
                  <a:srgbClr val="DCDCE0"/>
                </a:solidFill>
                <a:latin typeface="Arial" pitchFamily="34" charset="0"/>
                <a:ea typeface="Arial" pitchFamily="34" charset="-122"/>
                <a:cs typeface="Arial" pitchFamily="34" charset="-120"/>
              </a:rPr>
              <a:t>Imputed body measurements and athlete level medal counts should be read with care.</a:t>
            </a:r>
            <a:endParaRPr lang="en-US" sz="900" dirty="0"/>
          </a:p>
        </p:txBody>
      </p:sp>
      <p:sp>
        <p:nvSpPr>
          <p:cNvPr id="11" name="Shape 9"/>
          <p:cNvSpPr/>
          <p:nvPr/>
        </p:nvSpPr>
        <p:spPr>
          <a:xfrm>
            <a:off x="7132320" y="960120"/>
            <a:ext cx="1463040" cy="2148840"/>
          </a:xfrm>
          <a:prstGeom prst="roundRect">
            <a:avLst>
              <a:gd name="adj" fmla="val 10000"/>
            </a:avLst>
          </a:prstGeom>
          <a:solidFill>
            <a:srgbClr val="0A0A0A"/>
          </a:solidFill>
          <a:ln w="12700">
            <a:solidFill>
              <a:srgbClr val="0A0A0A"/>
            </a:solidFill>
            <a:prstDash val="solid"/>
          </a:ln>
        </p:spPr>
      </p:sp>
      <p:sp>
        <p:nvSpPr>
          <p:cNvPr id="12" name="Text 10"/>
          <p:cNvSpPr txBox="1"/>
          <p:nvPr/>
        </p:nvSpPr>
        <p:spPr>
          <a:xfrm>
            <a:off x="7333488" y="1161288"/>
            <a:ext cx="1060704"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Next steps</a:t>
            </a:r>
            <a:endParaRPr lang="en-US" sz="1200" dirty="0"/>
          </a:p>
        </p:txBody>
      </p:sp>
      <p:sp>
        <p:nvSpPr>
          <p:cNvPr id="13" name="Text 11"/>
          <p:cNvSpPr txBox="1"/>
          <p:nvPr/>
        </p:nvSpPr>
        <p:spPr>
          <a:xfrm>
            <a:off x="7333488" y="1527048"/>
            <a:ext cx="1060704" cy="1380744"/>
          </a:xfrm>
          <a:prstGeom prst="rect">
            <a:avLst/>
          </a:prstGeom>
          <a:noFill/>
          <a:ln/>
        </p:spPr>
        <p:txBody>
          <a:bodyPr wrap="square" lIns="0" tIns="0" rIns="0" bIns="0" rtlCol="0" anchor="ctr"/>
          <a:lstStyle/>
          <a:p>
            <a:pPr marL="0" indent="0" algn="ctr">
              <a:lnSpc>
                <a:spcPts val="1400"/>
              </a:lnSpc>
              <a:buNone/>
            </a:pPr>
            <a:r>
              <a:rPr lang="en-US" sz="900" dirty="0">
                <a:solidFill>
                  <a:srgbClr val="DCDCE0"/>
                </a:solidFill>
                <a:latin typeface="Arial" pitchFamily="34" charset="0"/>
                <a:ea typeface="Arial" pitchFamily="34" charset="-122"/>
                <a:cs typeface="Arial" pitchFamily="34" charset="-120"/>
              </a:rPr>
              <a:t>Model medal probability from sport, physique and host nation advantage.</a:t>
            </a:r>
            <a:endParaRPr lang="en-US" sz="900" dirty="0"/>
          </a:p>
        </p:txBody>
      </p:sp>
      <p:pic>
        <p:nvPicPr>
          <p:cNvPr id="14" name="Image 0" descr="photos/c1.png"/>
          <p:cNvPicPr>
            <a:picLocks noChangeAspect="1"/>
          </p:cNvPicPr>
          <p:nvPr/>
        </p:nvPicPr>
        <p:blipFill>
          <a:blip r:embed="rId3"/>
          <a:stretch>
            <a:fillRect/>
          </a:stretch>
        </p:blipFill>
        <p:spPr>
          <a:xfrm>
            <a:off x="3931920" y="3291840"/>
            <a:ext cx="1463040" cy="1216152"/>
          </a:xfrm>
          <a:prstGeom prst="rect">
            <a:avLst/>
          </a:prstGeom>
        </p:spPr>
      </p:pic>
      <p:pic>
        <p:nvPicPr>
          <p:cNvPr id="15" name="Image 1" descr="photos/c2.png"/>
          <p:cNvPicPr>
            <a:picLocks noChangeAspect="1"/>
          </p:cNvPicPr>
          <p:nvPr/>
        </p:nvPicPr>
        <p:blipFill>
          <a:blip r:embed="rId4"/>
          <a:stretch>
            <a:fillRect/>
          </a:stretch>
        </p:blipFill>
        <p:spPr>
          <a:xfrm>
            <a:off x="5532120" y="3291840"/>
            <a:ext cx="1463040" cy="1216152"/>
          </a:xfrm>
          <a:prstGeom prst="rect">
            <a:avLst/>
          </a:prstGeom>
        </p:spPr>
      </p:pic>
      <p:pic>
        <p:nvPicPr>
          <p:cNvPr id="16" name="Image 2" descr="photos/c3.png"/>
          <p:cNvPicPr>
            <a:picLocks noChangeAspect="1"/>
          </p:cNvPicPr>
          <p:nvPr/>
        </p:nvPicPr>
        <p:blipFill>
          <a:blip r:embed="rId5"/>
          <a:stretch>
            <a:fillRect/>
          </a:stretch>
        </p:blipFill>
        <p:spPr>
          <a:xfrm>
            <a:off x="7132320" y="3291840"/>
            <a:ext cx="1463040" cy="1216152"/>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02920" y="237744"/>
            <a:ext cx="2926080" cy="274320"/>
          </a:xfrm>
          <a:prstGeom prst="rect">
            <a:avLst/>
          </a:prstGeom>
          <a:noFill/>
          <a:ln/>
        </p:spPr>
        <p:txBody>
          <a:bodyPr wrap="square" lIns="0" tIns="0" rIns="0" bIns="0" rtlCol="0" anchor="ctr"/>
          <a:lstStyle/>
          <a:p>
            <a:pPr marL="0" indent="0">
              <a:buNone/>
            </a:pPr>
            <a:r>
              <a:rPr lang="en-US" sz="1050" b="1" dirty="0">
                <a:solidFill>
                  <a:srgbClr val="0A0A0A"/>
                </a:solidFill>
                <a:latin typeface="Arial" pitchFamily="34" charset="0"/>
                <a:ea typeface="Arial" pitchFamily="34" charset="-122"/>
                <a:cs typeface="Arial" pitchFamily="34" charset="-120"/>
              </a:rPr>
              <a:t>Olympic Athlete Analysis</a:t>
            </a:r>
            <a:endParaRPr lang="en-US" sz="1050" dirty="0"/>
          </a:p>
        </p:txBody>
      </p:sp>
      <p:pic>
        <p:nvPicPr>
          <p:cNvPr id="3" name="Image 0" descr="photos/ty1.png"/>
          <p:cNvPicPr>
            <a:picLocks noChangeAspect="1"/>
          </p:cNvPicPr>
          <p:nvPr/>
        </p:nvPicPr>
        <p:blipFill>
          <a:blip r:embed="rId3"/>
          <a:stretch>
            <a:fillRect/>
          </a:stretch>
        </p:blipFill>
        <p:spPr>
          <a:xfrm>
            <a:off x="502920" y="1005840"/>
            <a:ext cx="1600200" cy="2377440"/>
          </a:xfrm>
          <a:prstGeom prst="rect">
            <a:avLst/>
          </a:prstGeom>
        </p:spPr>
      </p:pic>
      <p:pic>
        <p:nvPicPr>
          <p:cNvPr id="4" name="Image 1" descr="photos/ty2.png"/>
          <p:cNvPicPr>
            <a:picLocks noChangeAspect="1"/>
          </p:cNvPicPr>
          <p:nvPr/>
        </p:nvPicPr>
        <p:blipFill>
          <a:blip r:embed="rId4"/>
          <a:stretch>
            <a:fillRect/>
          </a:stretch>
        </p:blipFill>
        <p:spPr>
          <a:xfrm>
            <a:off x="2240280" y="1005840"/>
            <a:ext cx="1600200" cy="2377440"/>
          </a:xfrm>
          <a:prstGeom prst="rect">
            <a:avLst/>
          </a:prstGeom>
        </p:spPr>
      </p:pic>
      <p:sp>
        <p:nvSpPr>
          <p:cNvPr id="5" name="Text 1"/>
          <p:cNvSpPr txBox="1"/>
          <p:nvPr/>
        </p:nvSpPr>
        <p:spPr>
          <a:xfrm>
            <a:off x="4206240" y="1920240"/>
            <a:ext cx="4434840" cy="1463040"/>
          </a:xfrm>
          <a:prstGeom prst="rect">
            <a:avLst/>
          </a:prstGeom>
          <a:noFill/>
          <a:ln/>
        </p:spPr>
        <p:txBody>
          <a:bodyPr wrap="square" lIns="0" tIns="0" rIns="0" bIns="0" rtlCol="0" anchor="ctr"/>
          <a:lstStyle/>
          <a:p>
            <a:pPr marL="0" indent="0">
              <a:lnSpc>
                <a:spcPts val="4600"/>
              </a:lnSpc>
              <a:buNone/>
            </a:pPr>
            <a:r>
              <a:rPr lang="en-US" sz="4600" kern="0" spc="-100" dirty="0">
                <a:solidFill>
                  <a:srgbClr val="0A0A0A"/>
                </a:solidFill>
                <a:latin typeface="Arial Black" pitchFamily="34" charset="0"/>
                <a:ea typeface="Arial Black" pitchFamily="34" charset="-122"/>
                <a:cs typeface="Arial Black" pitchFamily="34" charset="-120"/>
              </a:rPr>
              <a:t>THANK</a:t>
            </a:r>
            <a:r>
              <a:rPr lang="en-US" sz="4600" dirty="0"/>
              <a:t> </a:t>
            </a:r>
            <a:r>
              <a:rPr lang="en-US" sz="4600" kern="0" spc="-100" dirty="0">
                <a:solidFill>
                  <a:srgbClr val="0A0A0A"/>
                </a:solidFill>
                <a:latin typeface="Arial Black" pitchFamily="34" charset="0"/>
                <a:ea typeface="Arial Black" pitchFamily="34" charset="-122"/>
                <a:cs typeface="Arial Black" pitchFamily="34" charset="-120"/>
              </a:rPr>
              <a:t>YOU</a:t>
            </a:r>
            <a:endParaRPr lang="en-US" sz="4600" dirty="0"/>
          </a:p>
        </p:txBody>
      </p:sp>
      <p:sp>
        <p:nvSpPr>
          <p:cNvPr id="9" name="Text 5"/>
          <p:cNvSpPr txBox="1"/>
          <p:nvPr/>
        </p:nvSpPr>
        <p:spPr>
          <a:xfrm>
            <a:off x="4325816" y="2827607"/>
            <a:ext cx="4434840" cy="274320"/>
          </a:xfrm>
          <a:prstGeom prst="rect">
            <a:avLst/>
          </a:prstGeom>
          <a:noFill/>
          <a:ln/>
        </p:spPr>
        <p:txBody>
          <a:bodyPr wrap="square" lIns="0" tIns="0" rIns="0" bIns="0" rtlCol="0" anchor="ctr"/>
          <a:lstStyle/>
          <a:p>
            <a:pPr marL="0" indent="0">
              <a:buNone/>
            </a:pP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746</TotalTime>
  <Words>4038</Words>
  <Application>Microsoft Office PowerPoint</Application>
  <PresentationFormat>On-screen Show (16:9)</PresentationFormat>
  <Paragraphs>545</Paragraphs>
  <Slides>28</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Arial Black</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Astha Jadhao</cp:lastModifiedBy>
  <cp:revision>11</cp:revision>
  <dcterms:created xsi:type="dcterms:W3CDTF">2026-09-20T16:41:41Z</dcterms:created>
  <dcterms:modified xsi:type="dcterms:W3CDTF">2026-10-08T16:17:53Z</dcterms:modified>
</cp:coreProperties>
</file>